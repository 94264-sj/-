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7" r:id="rId4"/>
    <p:sldId id="285" r:id="rId6"/>
    <p:sldId id="283" r:id="rId7"/>
    <p:sldId id="259" r:id="rId8"/>
    <p:sldId id="258" r:id="rId9"/>
    <p:sldId id="260" r:id="rId10"/>
    <p:sldId id="279" r:id="rId11"/>
    <p:sldId id="280" r:id="rId12"/>
    <p:sldId id="282" r:id="rId13"/>
    <p:sldId id="261" r:id="rId14"/>
    <p:sldId id="284" r:id="rId15"/>
    <p:sldId id="268" r:id="rId16"/>
    <p:sldId id="290" r:id="rId17"/>
    <p:sldId id="265" r:id="rId18"/>
    <p:sldId id="286" r:id="rId19"/>
    <p:sldId id="291" r:id="rId20"/>
    <p:sldId id="262" r:id="rId21"/>
    <p:sldId id="269" r:id="rId22"/>
    <p:sldId id="288" r:id="rId23"/>
    <p:sldId id="292" r:id="rId24"/>
    <p:sldId id="271" r:id="rId25"/>
    <p:sldId id="293" r:id="rId26"/>
    <p:sldId id="270" r:id="rId27"/>
    <p:sldId id="289" r:id="rId28"/>
    <p:sldId id="281" r:id="rId29"/>
    <p:sldId id="276"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79" autoAdjust="0"/>
    <p:restoredTop sz="82369" autoAdjust="0"/>
  </p:normalViewPr>
  <p:slideViewPr>
    <p:cSldViewPr snapToGrid="0">
      <p:cViewPr varScale="1">
        <p:scale>
          <a:sx n="64" d="100"/>
          <a:sy n="6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36D40-5C83-47C9-A22B-10664D629AF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D17BAF-26F8-4F69-A2D2-A01A8C6C253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solidFill>
                  <a:srgbClr val="8FA7D0"/>
                </a:solidFill>
                <a:latin typeface="微软雅黑" panose="020B0503020204020204" pitchFamily="34" charset="-122"/>
                <a:ea typeface="微软雅黑" panose="020B0503020204020204" pitchFamily="34" charset="-122"/>
                <a:cs typeface="Noto Sans SC" panose="020B0200000000000000" pitchFamily="34" charset="-120"/>
                <a:sym typeface="+mn-ea"/>
              </a:rPr>
              <a:t>它展示了第七次人口普查各省人口数量。这张图是 “教育规模的底色”：人口基数大的省份，教育覆盖的绝对值压力也更大，比如广东、河南的柱形高度，直观反映了这些省份教育资源承载的体量。</a:t>
            </a:r>
            <a:endParaRPr lang="zh-CN" altLang="en-US" b="1" dirty="0">
              <a:solidFill>
                <a:srgbClr val="8FA7D0"/>
              </a:solidFill>
              <a:latin typeface="微软雅黑" panose="020B0503020204020204" pitchFamily="34" charset="-122"/>
              <a:ea typeface="微软雅黑" panose="020B0503020204020204" pitchFamily="34" charset="-122"/>
              <a:cs typeface="Noto Sans SC" panose="020B0200000000000000" pitchFamily="34" charset="-12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solidFill>
                  <a:srgbClr val="8FA7D0"/>
                </a:solidFill>
                <a:latin typeface="微软雅黑" panose="020B0503020204020204" pitchFamily="34" charset="-122"/>
                <a:ea typeface="微软雅黑" panose="020B0503020204020204" pitchFamily="34" charset="-122"/>
                <a:cs typeface="Noto Sans SC" panose="020B0200000000000000" pitchFamily="34" charset="-120"/>
                <a:sym typeface="+mn-ea"/>
              </a:rPr>
              <a:t>第六次与第七次普查各教育阶段人数对比。 “未上过学” 的线大幅下降，本科、研究生的线明显上升，这是 “教育升级的加速度”</a:t>
            </a:r>
            <a:r>
              <a:rPr lang="en-US" altLang="zh-CN" b="1" dirty="0">
                <a:solidFill>
                  <a:srgbClr val="8FA7D0"/>
                </a:solidFill>
                <a:latin typeface="微软雅黑" panose="020B0503020204020204" pitchFamily="34" charset="-122"/>
                <a:ea typeface="微软雅黑" panose="020B0503020204020204" pitchFamily="34" charset="-122"/>
                <a:cs typeface="Noto Sans SC" panose="020B0200000000000000" pitchFamily="34" charset="-120"/>
                <a:sym typeface="+mn-ea"/>
              </a:rPr>
              <a:t>—— </a:t>
            </a:r>
            <a:r>
              <a:rPr lang="zh-CN" altLang="en-US" b="1" dirty="0">
                <a:solidFill>
                  <a:srgbClr val="8FA7D0"/>
                </a:solidFill>
                <a:latin typeface="微软雅黑" panose="020B0503020204020204" pitchFamily="34" charset="-122"/>
                <a:ea typeface="微软雅黑" panose="020B0503020204020204" pitchFamily="34" charset="-122"/>
                <a:cs typeface="Noto Sans SC" panose="020B0200000000000000" pitchFamily="34" charset="-120"/>
                <a:sym typeface="+mn-ea"/>
              </a:rPr>
              <a:t>短短十年，高学历群体的规模实现了跨越式增长，进入“大众化”。</a:t>
            </a:r>
            <a:endParaRPr lang="en-US" b="1" dirty="0">
              <a:latin typeface="微软雅黑" panose="020B0503020204020204" pitchFamily="34" charset="-122"/>
              <a:ea typeface="微软雅黑"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1" dirty="0">
                <a:solidFill>
                  <a:srgbClr val="8FA7D0"/>
                </a:solidFill>
                <a:latin typeface="微软雅黑" panose="020B0503020204020204" pitchFamily="34" charset="-122"/>
                <a:ea typeface="微软雅黑" panose="020B0503020204020204" pitchFamily="34" charset="-122"/>
                <a:sym typeface="+mn-ea"/>
              </a:rPr>
              <a:t>从学前到硕士阶段，女生的红色条形基本追平甚至超过男生的蓝色条形，说明性别维度的教育机会正在走向平等。</a:t>
            </a:r>
            <a:endParaRPr lang="zh-CN" altLang="en-US" b="1" dirty="0">
              <a:solidFill>
                <a:srgbClr val="8FA7D0"/>
              </a:solidFill>
              <a:latin typeface="微软雅黑" panose="020B0503020204020204" pitchFamily="34" charset="-122"/>
              <a:ea typeface="微软雅黑" panose="020B0503020204020204" pitchFamily="34" charset="-122"/>
              <a:sym typeface="+mn-ea"/>
            </a:endParaRPr>
          </a:p>
          <a:p>
            <a:r>
              <a:rPr lang="zh-CN" altLang="en-US" b="1" dirty="0">
                <a:solidFill>
                  <a:srgbClr val="8FA7D0"/>
                </a:solidFill>
                <a:latin typeface="微软雅黑" panose="020B0503020204020204" pitchFamily="34" charset="-122"/>
                <a:ea typeface="微软雅黑" panose="020B0503020204020204" pitchFamily="34" charset="-122"/>
                <a:sym typeface="+mn-ea"/>
              </a:rPr>
              <a:t>但</a:t>
            </a:r>
            <a:r>
              <a:rPr lang="en-US" altLang="zh-CN" b="1" dirty="0" err="1">
                <a:solidFill>
                  <a:srgbClr val="8FA7D0"/>
                </a:solidFill>
                <a:latin typeface="微软雅黑" panose="020B0503020204020204" pitchFamily="34" charset="-122"/>
                <a:ea typeface="微软雅黑" panose="020B0503020204020204" pitchFamily="34" charset="-122"/>
                <a:sym typeface="+mn-ea"/>
              </a:rPr>
              <a:t>在高中和大专阶段，男性占比仍显著高于女性，职业教育通道与产业用工需求对男性形成拉力</a:t>
            </a:r>
            <a:endParaRPr lang="zh-CN" altLang="en-US" b="1" dirty="0">
              <a:solidFill>
                <a:srgbClr val="8FA7D0"/>
              </a:solidFill>
              <a:latin typeface="微软雅黑" panose="020B0503020204020204" pitchFamily="34" charset="-122"/>
              <a:ea typeface="微软雅黑"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30000"/>
              </a:lnSpc>
            </a:pPr>
            <a:r>
              <a:rPr lang="zh-CN" altLang="en-US" b="1" dirty="0">
                <a:solidFill>
                  <a:srgbClr val="8FA7D0"/>
                </a:solidFill>
                <a:latin typeface="微软雅黑" panose="020B0503020204020204" pitchFamily="34" charset="-122"/>
                <a:ea typeface="微软雅黑" panose="020B0503020204020204" pitchFamily="34" charset="-122"/>
                <a:sym typeface="+mn-ea"/>
              </a:rPr>
              <a:t>农村的文盲率（尤其是 </a:t>
            </a:r>
            <a:r>
              <a:rPr lang="en-US" altLang="zh-CN" b="1" dirty="0">
                <a:solidFill>
                  <a:srgbClr val="8FA7D0"/>
                </a:solidFill>
                <a:latin typeface="微软雅黑" panose="020B0503020204020204" pitchFamily="34" charset="-122"/>
                <a:ea typeface="微软雅黑" panose="020B0503020204020204" pitchFamily="34" charset="-122"/>
                <a:sym typeface="+mn-ea"/>
              </a:rPr>
              <a:t>50 </a:t>
            </a:r>
            <a:r>
              <a:rPr lang="zh-CN" altLang="en-US" b="1" dirty="0">
                <a:solidFill>
                  <a:srgbClr val="8FA7D0"/>
                </a:solidFill>
                <a:latin typeface="微软雅黑" panose="020B0503020204020204" pitchFamily="34" charset="-122"/>
                <a:ea typeface="微软雅黑" panose="020B0503020204020204" pitchFamily="34" charset="-122"/>
                <a:sym typeface="+mn-ea"/>
              </a:rPr>
              <a:t>岁以上群体）远高于乡镇、城市 </a:t>
            </a:r>
            <a:r>
              <a:rPr lang="en-US" altLang="zh-CN" b="1" dirty="0">
                <a:solidFill>
                  <a:srgbClr val="8FA7D0"/>
                </a:solidFill>
                <a:latin typeface="微软雅黑" panose="020B0503020204020204" pitchFamily="34" charset="-122"/>
                <a:ea typeface="微软雅黑" panose="020B0503020204020204" pitchFamily="34" charset="-122"/>
                <a:sym typeface="+mn-ea"/>
              </a:rPr>
              <a:t>—— </a:t>
            </a:r>
            <a:r>
              <a:rPr lang="zh-CN" altLang="en-US" b="1" dirty="0">
                <a:solidFill>
                  <a:srgbClr val="8FA7D0"/>
                </a:solidFill>
                <a:latin typeface="微软雅黑" panose="020B0503020204020204" pitchFamily="34" charset="-122"/>
                <a:ea typeface="微软雅黑" panose="020B0503020204020204" pitchFamily="34" charset="-122"/>
                <a:sym typeface="+mn-ea"/>
              </a:rPr>
              <a:t>这是过去城乡教育资源分配不均的 “历史遗留问题”；而年轻群体的城乡文盲率差距缩小，也说明近年乡村教育投入（如农村学校建设、教师补贴）正在逐步缩小区域教育差距。</a:t>
            </a:r>
            <a:endParaRPr lang="en-US" altLang="zh-CN" b="1" dirty="0">
              <a:solidFill>
                <a:srgbClr val="8FA7D0"/>
              </a:solidFill>
              <a:latin typeface="微软雅黑" panose="020B0503020204020204" pitchFamily="34" charset="-122"/>
              <a:ea typeface="微软雅黑" panose="020B0503020204020204" pitchFamily="34" charset="-122"/>
            </a:endParaRPr>
          </a:p>
          <a:p>
            <a:pPr>
              <a:lnSpc>
                <a:spcPct val="130000"/>
              </a:lnSpc>
            </a:pPr>
            <a:endParaRPr lang="en-US" altLang="zh-CN" b="1" dirty="0">
              <a:solidFill>
                <a:srgbClr val="8FA7D0"/>
              </a:solidFill>
              <a:latin typeface="微软雅黑" panose="020B0503020204020204" pitchFamily="34" charset="-122"/>
              <a:ea typeface="微软雅黑" panose="020B0503020204020204" pitchFamily="34" charset="-122"/>
            </a:endParaRPr>
          </a:p>
          <a:p>
            <a:pPr>
              <a:lnSpc>
                <a:spcPct val="130000"/>
              </a:lnSpc>
            </a:pPr>
            <a:r>
              <a:rPr lang="en-US" altLang="zh-CN" b="1" dirty="0">
                <a:solidFill>
                  <a:srgbClr val="8FA7D0"/>
                </a:solidFill>
                <a:latin typeface="微软雅黑" panose="020B0503020204020204" pitchFamily="34" charset="-122"/>
                <a:ea typeface="微软雅黑" panose="020B0503020204020204" pitchFamily="34" charset="-122"/>
                <a:sym typeface="+mn-ea"/>
              </a:rPr>
              <a:t>80 </a:t>
            </a:r>
            <a:r>
              <a:rPr lang="zh-CN" altLang="en-US" b="1" dirty="0">
                <a:solidFill>
                  <a:srgbClr val="8FA7D0"/>
                </a:solidFill>
                <a:latin typeface="微软雅黑" panose="020B0503020204020204" pitchFamily="34" charset="-122"/>
                <a:ea typeface="微软雅黑" panose="020B0503020204020204" pitchFamily="34" charset="-122"/>
                <a:sym typeface="+mn-ea"/>
              </a:rPr>
              <a:t>岁以上高龄老年的文盲率（尤其是农村）处于高位，而年轻群体几乎无文盲，这反映出中国教育发展是 “阶梯式跃升” 的：随着教育体系完善、政策推进，每一代的受教育水平都比上一代显著提升。</a:t>
            </a:r>
            <a:endParaRPr lang="en-US" b="1" dirty="0">
              <a:solidFill>
                <a:srgbClr val="8FA7D0"/>
              </a:solidFill>
              <a:latin typeface="微软雅黑" panose="020B0503020204020204" pitchFamily="34" charset="-122"/>
              <a:ea typeface="微软雅黑" panose="020B0503020204020204" pitchFamily="34" charset="-122"/>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37D3E59-1912-4531-8FE9-DBB28F7A7CC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D0A2DFE-B7A4-4F52-9C1C-A6A5A9DF582B}"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7D3E59-1912-4531-8FE9-DBB28F7A7CC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0A2DFE-B7A4-4F52-9C1C-A6A5A9DF582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7D3E59-1912-4531-8FE9-DBB28F7A7CC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0A2DFE-B7A4-4F52-9C1C-A6A5A9DF582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6.png"/><Relationship Id="rId2" Type="http://schemas.openxmlformats.org/officeDocument/2006/relationships/image" Target="../media/image4.png"/><Relationship Id="rId14" Type="http://schemas.openxmlformats.org/officeDocument/2006/relationships/notesSlide" Target="../notesSlides/notesSlide2.xml"/><Relationship Id="rId13" Type="http://schemas.openxmlformats.org/officeDocument/2006/relationships/slideLayout" Target="../slideLayouts/slideLayout12.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image" Target="../media/image6.png"/><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4.xml"/><Relationship Id="rId2" Type="http://schemas.openxmlformats.org/officeDocument/2006/relationships/image" Target="../media/image11.pn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hyperlink" Target="&#21487;&#35270;&#21270;&#39033;&#30446;/index.html" TargetMode="Externa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image" Target="../media/image15.png"/><Relationship Id="rId2" Type="http://schemas.openxmlformats.org/officeDocument/2006/relationships/hyperlink" Target="&#21487;&#35270;&#21270;&#39033;&#30446;/index.html" TargetMode="External"/><Relationship Id="rId11" Type="http://schemas.openxmlformats.org/officeDocument/2006/relationships/notesSlide" Target="../notesSlides/notesSlide13.xml"/><Relationship Id="rId10" Type="http://schemas.openxmlformats.org/officeDocument/2006/relationships/slideLayout" Target="../slideLayouts/slideLayout1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3" Type="http://schemas.openxmlformats.org/officeDocument/2006/relationships/notesSlide" Target="../notesSlides/notesSlide14.xml"/><Relationship Id="rId12" Type="http://schemas.openxmlformats.org/officeDocument/2006/relationships/slideLayout" Target="../slideLayouts/slideLayout12.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16.jpeg"/><Relationship Id="rId3" Type="http://schemas.openxmlformats.org/officeDocument/2006/relationships/image" Target="../media/image15.png"/><Relationship Id="rId2" Type="http://schemas.openxmlformats.org/officeDocument/2006/relationships/hyperlink" Target="&#21487;&#35270;&#21270;&#39033;&#30446;/index.html" TargetMode="Externa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hyperlink" Target="&#21487;&#35270;&#21270;&#39033;&#30446;/index.html" TargetMode="Externa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7" Type="http://schemas.openxmlformats.org/officeDocument/2006/relationships/notesSlide" Target="../notesSlides/notesSlide18.xml"/><Relationship Id="rId16" Type="http://schemas.openxmlformats.org/officeDocument/2006/relationships/slideLayout" Target="../slideLayouts/slideLayout12.xml"/><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tags" Target="../tags/tag37.xml"/><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9-d2sggte1bb2p4onbon70.jpg"/>
          <p:cNvPicPr>
            <a:picLocks noChangeAspect="1"/>
          </p:cNvPicPr>
          <p:nvPr/>
        </p:nvPicPr>
        <p:blipFill>
          <a:blip r:embed="rId1"/>
          <a:stretch>
            <a:fillRect/>
          </a:stretch>
        </p:blipFill>
        <p:spPr>
          <a:xfrm>
            <a:off x="1905000" y="0"/>
            <a:ext cx="10287000" cy="6858000"/>
          </a:xfrm>
          <a:prstGeom prst="rect">
            <a:avLst/>
          </a:prstGeom>
        </p:spPr>
      </p:pic>
      <p:sp>
        <p:nvSpPr>
          <p:cNvPr id="3" name="Shape 0"/>
          <p:cNvSpPr/>
          <p:nvPr/>
        </p:nvSpPr>
        <p:spPr>
          <a:xfrm>
            <a:off x="-72390" y="-84455"/>
            <a:ext cx="13742035" cy="7143115"/>
          </a:xfrm>
          <a:prstGeom prst="rect">
            <a:avLst/>
          </a:prstGeom>
          <a:gradFill flip="none" rotWithShape="1">
            <a:gsLst>
              <a:gs pos="0">
                <a:srgbClr val="EAEEF4"/>
              </a:gs>
              <a:gs pos="14000">
                <a:srgbClr val="EFF3F7"/>
              </a:gs>
              <a:gs pos="68000">
                <a:srgbClr val="F3F7FA">
                  <a:alpha val="0"/>
                </a:srgbClr>
              </a:gs>
              <a:gs pos="100000">
                <a:srgbClr val="F3F7FA">
                  <a:alpha val="0"/>
                </a:srgbClr>
              </a:gs>
            </a:gsLst>
            <a:lin ang="0" scaled="1"/>
          </a:gradFill>
        </p:spPr>
        <p:txBody>
          <a:bodyPr/>
          <a:lstStyle/>
          <a:p>
            <a:endParaRPr lang="zh-CN" altLang="en-US"/>
          </a:p>
        </p:txBody>
      </p:sp>
      <p:sp>
        <p:nvSpPr>
          <p:cNvPr id="4" name="Text 1"/>
          <p:cNvSpPr/>
          <p:nvPr/>
        </p:nvSpPr>
        <p:spPr>
          <a:xfrm>
            <a:off x="-72390" y="-84455"/>
            <a:ext cx="13742035" cy="7143115"/>
          </a:xfrm>
          <a:prstGeom prst="rect">
            <a:avLst/>
          </a:prstGeom>
          <a:noFill/>
        </p:spPr>
        <p:txBody>
          <a:bodyPr wrap="square" lIns="45720" tIns="91440" rIns="91440" bIns="45720" rtlCol="0" anchor="ctr"/>
          <a:lstStyle/>
          <a:p>
            <a:pPr>
              <a:lnSpc>
                <a:spcPct val="100000"/>
              </a:lnSpc>
            </a:pPr>
            <a:endParaRPr lang="en-US" sz="1600" dirty="0"/>
          </a:p>
        </p:txBody>
      </p:sp>
      <p:sp>
        <p:nvSpPr>
          <p:cNvPr id="5" name="Shape 2"/>
          <p:cNvSpPr/>
          <p:nvPr/>
        </p:nvSpPr>
        <p:spPr>
          <a:xfrm>
            <a:off x="459740" y="6151880"/>
            <a:ext cx="4345305" cy="331470"/>
          </a:xfrm>
          <a:prstGeom prst="rect">
            <a:avLst/>
          </a:prstGeom>
          <a:solidFill>
            <a:srgbClr val="000000">
              <a:alpha val="0"/>
            </a:srgbClr>
          </a:solidFill>
        </p:spPr>
        <p:txBody>
          <a:bodyPr/>
          <a:lstStyle/>
          <a:p>
            <a:endParaRPr lang="zh-CN" altLang="en-US"/>
          </a:p>
        </p:txBody>
      </p:sp>
      <p:sp>
        <p:nvSpPr>
          <p:cNvPr id="8" name="Shape 5"/>
          <p:cNvSpPr/>
          <p:nvPr/>
        </p:nvSpPr>
        <p:spPr>
          <a:xfrm>
            <a:off x="11450859" y="428881"/>
            <a:ext cx="209306" cy="42231"/>
          </a:xfrm>
          <a:prstGeom prst="rect">
            <a:avLst/>
          </a:prstGeom>
          <a:solidFill>
            <a:srgbClr val="000000"/>
          </a:solidFill>
          <a:ln w="19050">
            <a:solidFill>
              <a:srgbClr val="000000"/>
            </a:solidFill>
            <a:prstDash val="solid"/>
          </a:ln>
        </p:spPr>
        <p:txBody>
          <a:bodyPr/>
          <a:lstStyle/>
          <a:p>
            <a:endParaRPr lang="zh-CN" altLang="en-US"/>
          </a:p>
        </p:txBody>
      </p:sp>
      <p:sp>
        <p:nvSpPr>
          <p:cNvPr id="9" name="Text 6"/>
          <p:cNvSpPr/>
          <p:nvPr/>
        </p:nvSpPr>
        <p:spPr>
          <a:xfrm>
            <a:off x="11450859" y="42888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0" name="Shape 7"/>
          <p:cNvSpPr/>
          <p:nvPr/>
        </p:nvSpPr>
        <p:spPr>
          <a:xfrm>
            <a:off x="11450859" y="525855"/>
            <a:ext cx="209306" cy="42231"/>
          </a:xfrm>
          <a:prstGeom prst="rect">
            <a:avLst/>
          </a:prstGeom>
          <a:solidFill>
            <a:srgbClr val="000000"/>
          </a:solidFill>
          <a:ln w="19050">
            <a:solidFill>
              <a:srgbClr val="000000"/>
            </a:solidFill>
            <a:prstDash val="solid"/>
          </a:ln>
        </p:spPr>
        <p:txBody>
          <a:bodyPr/>
          <a:lstStyle/>
          <a:p>
            <a:endParaRPr lang="zh-CN" altLang="en-US"/>
          </a:p>
        </p:txBody>
      </p:sp>
      <p:sp>
        <p:nvSpPr>
          <p:cNvPr id="11" name="Text 8"/>
          <p:cNvSpPr/>
          <p:nvPr/>
        </p:nvSpPr>
        <p:spPr>
          <a:xfrm>
            <a:off x="11450859" y="52585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9"/>
          <p:cNvSpPr/>
          <p:nvPr/>
        </p:nvSpPr>
        <p:spPr>
          <a:xfrm>
            <a:off x="11450859" y="622829"/>
            <a:ext cx="209306" cy="42231"/>
          </a:xfrm>
          <a:prstGeom prst="rect">
            <a:avLst/>
          </a:prstGeom>
          <a:solidFill>
            <a:srgbClr val="000000"/>
          </a:solidFill>
          <a:ln w="19050">
            <a:solidFill>
              <a:srgbClr val="000000"/>
            </a:solidFill>
            <a:prstDash val="solid"/>
          </a:ln>
        </p:spPr>
        <p:txBody>
          <a:bodyPr/>
          <a:lstStyle/>
          <a:p>
            <a:endParaRPr lang="zh-CN" altLang="en-US"/>
          </a:p>
        </p:txBody>
      </p:sp>
      <p:sp>
        <p:nvSpPr>
          <p:cNvPr id="13" name="Text 10"/>
          <p:cNvSpPr/>
          <p:nvPr/>
        </p:nvSpPr>
        <p:spPr>
          <a:xfrm>
            <a:off x="11450859" y="622829"/>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11"/>
          <p:cNvSpPr/>
          <p:nvPr/>
        </p:nvSpPr>
        <p:spPr>
          <a:xfrm>
            <a:off x="5099607" y="629319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pic>
        <p:nvPicPr>
          <p:cNvPr id="15" name="Image 1" descr="https://kimi-img.moonshot.cn/pub/slides/slides_tmpl/image/25-09-04-11:33:04-d2sggs61bb2p4onbomu0.png"/>
          <p:cNvPicPr>
            <a:picLocks noChangeAspect="1"/>
          </p:cNvPicPr>
          <p:nvPr/>
        </p:nvPicPr>
        <p:blipFill>
          <a:blip r:embed="rId2">
            <a:alphaModFix amt="40000"/>
          </a:blip>
          <a:stretch>
            <a:fillRect/>
          </a:stretch>
        </p:blipFill>
        <p:spPr>
          <a:xfrm rot="16200000">
            <a:off x="1080135" y="44450"/>
            <a:ext cx="262890" cy="1170305"/>
          </a:xfrm>
          <a:prstGeom prst="rect">
            <a:avLst/>
          </a:prstGeom>
        </p:spPr>
      </p:pic>
      <p:sp>
        <p:nvSpPr>
          <p:cNvPr id="16" name="Text 12"/>
          <p:cNvSpPr/>
          <p:nvPr/>
        </p:nvSpPr>
        <p:spPr>
          <a:xfrm>
            <a:off x="220980" y="2816860"/>
            <a:ext cx="6101080" cy="768350"/>
          </a:xfrm>
          <a:prstGeom prst="rect">
            <a:avLst/>
          </a:prstGeom>
          <a:noFill/>
        </p:spPr>
        <p:txBody>
          <a:bodyPr wrap="square" lIns="91440" tIns="45720" rIns="91440" bIns="45720" rtlCol="0" anchor="t">
            <a:spAutoFit/>
          </a:bodyPr>
          <a:lstStyle/>
          <a:p>
            <a:pPr algn="ctr">
              <a:lnSpc>
                <a:spcPct val="100000"/>
              </a:lnSpc>
            </a:pPr>
            <a:r>
              <a:rPr lang="zh-CN" altLang="en-US" sz="4400" b="1" dirty="0">
                <a:solidFill>
                  <a:srgbClr val="000000"/>
                </a:solidFill>
                <a:latin typeface="MiSans" pitchFamily="34" charset="0"/>
                <a:ea typeface="MiSans" pitchFamily="34" charset="-122"/>
                <a:cs typeface="MiSans" pitchFamily="34" charset="-120"/>
              </a:rPr>
              <a:t>中国受教育情况可视化</a:t>
            </a:r>
            <a:endParaRPr lang="zh-CN" altLang="en-US" sz="4400" b="1" dirty="0">
              <a:solidFill>
                <a:srgbClr val="000000"/>
              </a:solidFill>
              <a:latin typeface="MiSans" pitchFamily="34" charset="0"/>
              <a:ea typeface="MiSans" pitchFamily="34" charset="-122"/>
              <a:cs typeface="MiSans" pitchFamily="34" charset="-120"/>
            </a:endParaRPr>
          </a:p>
        </p:txBody>
      </p:sp>
      <p:sp>
        <p:nvSpPr>
          <p:cNvPr id="6" name="Text 3"/>
          <p:cNvSpPr/>
          <p:nvPr/>
        </p:nvSpPr>
        <p:spPr>
          <a:xfrm>
            <a:off x="1098550" y="5184140"/>
            <a:ext cx="4345305" cy="789940"/>
          </a:xfrm>
          <a:prstGeom prst="rect">
            <a:avLst/>
          </a:prstGeom>
          <a:noFill/>
        </p:spPr>
        <p:txBody>
          <a:bodyPr wrap="square" lIns="45720" tIns="91440" rIns="91440" bIns="45720" rtlCol="0" anchor="t"/>
          <a:lstStyle/>
          <a:p>
            <a:pPr algn="l">
              <a:lnSpc>
                <a:spcPct val="90000"/>
              </a:lnSpc>
              <a:buClrTx/>
              <a:buSzTx/>
              <a:buFontTx/>
            </a:pPr>
            <a:r>
              <a:rPr lang="en-US" altLang="zh-CN" sz="1600" dirty="0">
                <a:solidFill>
                  <a:srgbClr val="000000"/>
                </a:solidFill>
                <a:latin typeface="MiSans" pitchFamily="34" charset="0"/>
                <a:ea typeface="MiSans" pitchFamily="34" charset="-122"/>
                <a:cs typeface="MiSans" pitchFamily="34" charset="-120"/>
              </a:rPr>
              <a:t>汇报人：杨琳浩</a:t>
            </a:r>
            <a:endParaRPr lang="en-US" altLang="zh-CN" sz="1600" dirty="0">
              <a:solidFill>
                <a:srgbClr val="000000"/>
              </a:solidFill>
              <a:latin typeface="MiSans" pitchFamily="34" charset="0"/>
              <a:ea typeface="MiSans" pitchFamily="34" charset="-122"/>
              <a:cs typeface="MiSans" pitchFamily="34" charset="-120"/>
            </a:endParaRPr>
          </a:p>
          <a:p>
            <a:pPr algn="l">
              <a:lnSpc>
                <a:spcPct val="90000"/>
              </a:lnSpc>
              <a:buClrTx/>
              <a:buSzTx/>
              <a:buFontTx/>
            </a:pPr>
            <a:endParaRPr lang="en-US" altLang="zh-CN" sz="1600" dirty="0">
              <a:solidFill>
                <a:srgbClr val="000000"/>
              </a:solidFill>
              <a:latin typeface="MiSans" pitchFamily="34" charset="0"/>
              <a:ea typeface="MiSans" pitchFamily="34" charset="-122"/>
              <a:cs typeface="MiSans" pitchFamily="34" charset="-120"/>
            </a:endParaRPr>
          </a:p>
          <a:p>
            <a:pPr algn="l">
              <a:lnSpc>
                <a:spcPct val="90000"/>
              </a:lnSpc>
              <a:buClrTx/>
              <a:buSzTx/>
              <a:buFontTx/>
            </a:pPr>
            <a:r>
              <a:rPr lang="en-US" altLang="zh-CN" sz="1600" dirty="0">
                <a:solidFill>
                  <a:srgbClr val="000000"/>
                </a:solidFill>
                <a:latin typeface="MiSans" pitchFamily="34" charset="0"/>
                <a:ea typeface="MiSans" pitchFamily="34" charset="-122"/>
                <a:cs typeface="MiSans" pitchFamily="34" charset="-120"/>
              </a:rPr>
              <a:t>汇报时间：2025/12/26</a:t>
            </a:r>
            <a:endParaRPr lang="en-US" altLang="zh-CN" sz="1600" dirty="0">
              <a:solidFill>
                <a:srgbClr val="000000"/>
              </a:solidFill>
              <a:latin typeface="MiSans" pitchFamily="34" charset="0"/>
              <a:ea typeface="MiSans" pitchFamily="34" charset="-122"/>
              <a:cs typeface="MiSans" pitchFamily="34" charset="-12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p:cNvSpPr>
            <a:spLocks noGrp="1" noRot="1" noChangeAspect="1" noMove="1" noResize="1" noEditPoints="1" noAdjustHandles="1" noChangeArrowheads="1" noChangeShapeType="1" noTextEdit="1"/>
          </p:cNvSpPr>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矩形 4"/>
          <p:cNvSpPr/>
          <p:nvPr/>
        </p:nvSpPr>
        <p:spPr>
          <a:xfrm>
            <a:off x="630936" y="4562856"/>
            <a:ext cx="3419856" cy="1600200"/>
          </a:xfrm>
          <a:prstGeom prst="rect">
            <a:avLst/>
          </a:prstGeom>
        </p:spPr>
        <p:style>
          <a:lnRef idx="0">
            <a:scrgbClr r="0" g="0" b="0"/>
          </a:lnRef>
          <a:fillRef idx="0">
            <a:scrgbClr r="0" g="0" b="0"/>
          </a:fillRef>
          <a:effectRef idx="0">
            <a:scrgbClr r="0" g="0" b="0"/>
          </a:effectRef>
          <a:fontRef idx="minor">
            <a:schemeClr val="dk1"/>
          </a:fontRef>
        </p:style>
        <p:txBody>
          <a:bodyPr vert="horz" lIns="91440" tIns="45720" rIns="91440" bIns="45720" rtlCol="0" anchor="ctr">
            <a:normAutofit/>
          </a:bodyPr>
          <a:lstStyle/>
          <a:p>
            <a:pPr>
              <a:lnSpc>
                <a:spcPct val="90000"/>
              </a:lnSpc>
              <a:spcBef>
                <a:spcPct val="0"/>
              </a:spcBef>
              <a:spcAft>
                <a:spcPts val="600"/>
              </a:spcAft>
            </a:pPr>
            <a:r>
              <a:rPr lang="zh-CN" altLang="en-US" sz="4800" b="1" kern="1200">
                <a:solidFill>
                  <a:schemeClr val="tx1"/>
                </a:solidFill>
                <a:latin typeface="+mj-lt"/>
                <a:ea typeface="+mj-ea"/>
                <a:cs typeface="+mj-cs"/>
              </a:rPr>
              <a:t>开发环境：</a:t>
            </a:r>
            <a:endParaRPr lang="zh-CN" altLang="en-US" sz="4800" b="1" kern="1200">
              <a:solidFill>
                <a:schemeClr val="tx1"/>
              </a:solidFill>
              <a:latin typeface="+mj-lt"/>
              <a:ea typeface="+mj-ea"/>
              <a:cs typeface="+mj-cs"/>
            </a:endParaRPr>
          </a:p>
        </p:txBody>
      </p:sp>
      <p:pic>
        <p:nvPicPr>
          <p:cNvPr id="2" name="Image 0" descr="https://kimi-img.moonshot.cn/pub/slides/slides_tmpl/image/25-09-04-11:33:16-d2sggv61bb2p4onbonk0.jpg"/>
          <p:cNvPicPr>
            <a:picLocks noChangeAspect="1"/>
          </p:cNvPicPr>
          <p:nvPr/>
        </p:nvPicPr>
        <p:blipFill>
          <a:blip r:embed="rId1"/>
          <a:srcRect r="18284" b="-1"/>
          <a:stretch>
            <a:fillRect/>
          </a:stretch>
        </p:blipFill>
        <p:spPr>
          <a:xfrm>
            <a:off x="5" y="10"/>
            <a:ext cx="6095995" cy="4196271"/>
          </a:xfrm>
          <a:custGeom>
            <a:avLst/>
            <a:gdLst/>
            <a:ahLst/>
            <a:cxnLst/>
            <a:rect l="l" t="t" r="r" b="b"/>
            <a:pathLst>
              <a:path w="6005375" h="4196281">
                <a:moveTo>
                  <a:pt x="0" y="0"/>
                </a:moveTo>
                <a:lnTo>
                  <a:pt x="6000672" y="0"/>
                </a:lnTo>
                <a:lnTo>
                  <a:pt x="5998730" y="19709"/>
                </a:lnTo>
                <a:cubicBezTo>
                  <a:pt x="6001245" y="280059"/>
                  <a:pt x="5986415" y="540409"/>
                  <a:pt x="5999656" y="800631"/>
                </a:cubicBezTo>
                <a:cubicBezTo>
                  <a:pt x="6009855" y="1001996"/>
                  <a:pt x="6003364" y="1203233"/>
                  <a:pt x="5999656" y="1404471"/>
                </a:cubicBezTo>
                <a:cubicBezTo>
                  <a:pt x="5992506" y="1790420"/>
                  <a:pt x="6003364" y="2175860"/>
                  <a:pt x="5998730" y="2561300"/>
                </a:cubicBezTo>
                <a:cubicBezTo>
                  <a:pt x="5996744" y="2732154"/>
                  <a:pt x="5998994" y="2902754"/>
                  <a:pt x="6003364" y="3073609"/>
                </a:cubicBezTo>
                <a:cubicBezTo>
                  <a:pt x="6009720" y="3317560"/>
                  <a:pt x="5999923" y="3561638"/>
                  <a:pt x="5989197" y="3805463"/>
                </a:cubicBezTo>
                <a:cubicBezTo>
                  <a:pt x="5985594" y="3872508"/>
                  <a:pt x="5984647" y="3939633"/>
                  <a:pt x="5986348" y="4006695"/>
                </a:cubicBezTo>
                <a:lnTo>
                  <a:pt x="5997254" y="4174633"/>
                </a:lnTo>
                <a:lnTo>
                  <a:pt x="5951601" y="4176620"/>
                </a:lnTo>
                <a:cubicBezTo>
                  <a:pt x="5886702" y="4176651"/>
                  <a:pt x="5821788" y="4174749"/>
                  <a:pt x="5756905" y="4173480"/>
                </a:cubicBezTo>
                <a:cubicBezTo>
                  <a:pt x="5518559" y="4169040"/>
                  <a:pt x="5280086" y="4173480"/>
                  <a:pt x="5042247" y="4150774"/>
                </a:cubicBezTo>
                <a:cubicBezTo>
                  <a:pt x="4977618" y="4144622"/>
                  <a:pt x="4912546" y="4140690"/>
                  <a:pt x="4847600" y="4141467"/>
                </a:cubicBezTo>
                <a:cubicBezTo>
                  <a:pt x="4782655" y="4142244"/>
                  <a:pt x="4717835" y="4147730"/>
                  <a:pt x="4653713" y="4160414"/>
                </a:cubicBezTo>
                <a:cubicBezTo>
                  <a:pt x="4446571" y="4200625"/>
                  <a:pt x="4238796" y="4203162"/>
                  <a:pt x="4029497" y="4186925"/>
                </a:cubicBezTo>
                <a:cubicBezTo>
                  <a:pt x="3943621" y="4180203"/>
                  <a:pt x="3857746" y="4169040"/>
                  <a:pt x="3771489" y="4171196"/>
                </a:cubicBezTo>
                <a:cubicBezTo>
                  <a:pt x="3623585" y="4175129"/>
                  <a:pt x="3475554" y="4167137"/>
                  <a:pt x="3327523" y="4169167"/>
                </a:cubicBezTo>
                <a:cubicBezTo>
                  <a:pt x="3323528" y="4169738"/>
                  <a:pt x="3319443" y="4169205"/>
                  <a:pt x="3315727" y="4167645"/>
                </a:cubicBezTo>
                <a:cubicBezTo>
                  <a:pt x="3278941" y="4142402"/>
                  <a:pt x="3238603" y="4152169"/>
                  <a:pt x="3200549" y="4158765"/>
                </a:cubicBezTo>
                <a:cubicBezTo>
                  <a:pt x="3074082" y="4180710"/>
                  <a:pt x="2947742" y="4191492"/>
                  <a:pt x="2819246" y="4174494"/>
                </a:cubicBezTo>
                <a:cubicBezTo>
                  <a:pt x="2696546" y="4156698"/>
                  <a:pt x="2572096" y="4154478"/>
                  <a:pt x="2448851" y="4167898"/>
                </a:cubicBezTo>
                <a:cubicBezTo>
                  <a:pt x="2279383" y="4187687"/>
                  <a:pt x="2110549" y="4183501"/>
                  <a:pt x="1941462" y="4167898"/>
                </a:cubicBezTo>
                <a:cubicBezTo>
                  <a:pt x="1872837" y="4161556"/>
                  <a:pt x="1803198" y="4150774"/>
                  <a:pt x="1735208" y="4166630"/>
                </a:cubicBezTo>
                <a:cubicBezTo>
                  <a:pt x="1651489" y="4186038"/>
                  <a:pt x="1568023" y="4179695"/>
                  <a:pt x="1484050" y="4175382"/>
                </a:cubicBezTo>
                <a:cubicBezTo>
                  <a:pt x="1377752" y="4169801"/>
                  <a:pt x="1271708" y="4153692"/>
                  <a:pt x="1165029" y="4166376"/>
                </a:cubicBezTo>
                <a:cubicBezTo>
                  <a:pt x="1115685" y="4172211"/>
                  <a:pt x="1066722" y="4181471"/>
                  <a:pt x="1016744" y="4179061"/>
                </a:cubicBezTo>
                <a:cubicBezTo>
                  <a:pt x="878481" y="4172719"/>
                  <a:pt x="740344" y="4165235"/>
                  <a:pt x="601826" y="4166376"/>
                </a:cubicBezTo>
                <a:cubicBezTo>
                  <a:pt x="543857" y="4166757"/>
                  <a:pt x="486268" y="4168659"/>
                  <a:pt x="428553" y="4172845"/>
                </a:cubicBezTo>
                <a:cubicBezTo>
                  <a:pt x="320859" y="4180710"/>
                  <a:pt x="213546" y="4170055"/>
                  <a:pt x="106234" y="4166249"/>
                </a:cubicBezTo>
                <a:lnTo>
                  <a:pt x="0" y="4171008"/>
                </a:lnTo>
                <a:close/>
              </a:path>
            </a:pathLst>
          </a:custGeom>
        </p:spPr>
      </p:pic>
      <p:pic>
        <p:nvPicPr>
          <p:cNvPr id="7" name="Image 2" descr="https://kimi-img.moonshot.cn/pub/slides/slides_tmpl/image/25-09-04-11:33:06-d2sggsm1bb2p4onbon20.png"/>
          <p:cNvPicPr>
            <a:picLocks noChangeAspect="1"/>
          </p:cNvPicPr>
          <p:nvPr/>
        </p:nvPicPr>
        <p:blipFill>
          <a:blip r:embed="rId2"/>
          <a:srcRect t="26501" r="-3" b="13530"/>
          <a:stretch>
            <a:fillRect/>
          </a:stretch>
        </p:blipFill>
        <p:spPr>
          <a:xfrm>
            <a:off x="6019800" y="10"/>
            <a:ext cx="6172195" cy="4187662"/>
          </a:xfrm>
          <a:custGeom>
            <a:avLst/>
            <a:gdLst/>
            <a:ahLst/>
            <a:cxnLst/>
            <a:rect l="l" t="t" r="r" b="b"/>
            <a:pathLst>
              <a:path w="6006950" h="4187672">
                <a:moveTo>
                  <a:pt x="9223" y="0"/>
                </a:moveTo>
                <a:lnTo>
                  <a:pt x="6006950" y="0"/>
                </a:lnTo>
                <a:lnTo>
                  <a:pt x="6006950" y="4169490"/>
                </a:lnTo>
                <a:lnTo>
                  <a:pt x="5787907" y="4174448"/>
                </a:lnTo>
                <a:cubicBezTo>
                  <a:pt x="5713866" y="4173475"/>
                  <a:pt x="5639861" y="4169853"/>
                  <a:pt x="5566029" y="4163587"/>
                </a:cubicBezTo>
                <a:cubicBezTo>
                  <a:pt x="5458843" y="4155595"/>
                  <a:pt x="5350768" y="4144559"/>
                  <a:pt x="5244343" y="4164855"/>
                </a:cubicBezTo>
                <a:cubicBezTo>
                  <a:pt x="5127517" y="4187307"/>
                  <a:pt x="5010817" y="4187434"/>
                  <a:pt x="4892977" y="4181726"/>
                </a:cubicBezTo>
                <a:cubicBezTo>
                  <a:pt x="4792260" y="4176906"/>
                  <a:pt x="4691923" y="4151536"/>
                  <a:pt x="4590445" y="4178301"/>
                </a:cubicBezTo>
                <a:cubicBezTo>
                  <a:pt x="4580348" y="4179772"/>
                  <a:pt x="4570061" y="4179341"/>
                  <a:pt x="4560128" y="4177032"/>
                </a:cubicBezTo>
                <a:cubicBezTo>
                  <a:pt x="4449137" y="4161684"/>
                  <a:pt x="4337384" y="4174242"/>
                  <a:pt x="4226013" y="4169929"/>
                </a:cubicBezTo>
                <a:cubicBezTo>
                  <a:pt x="4174640" y="4167899"/>
                  <a:pt x="4122252" y="4169041"/>
                  <a:pt x="4071513" y="4163587"/>
                </a:cubicBezTo>
                <a:cubicBezTo>
                  <a:pt x="3955067" y="4151156"/>
                  <a:pt x="3838874" y="4144559"/>
                  <a:pt x="3723697" y="4173861"/>
                </a:cubicBezTo>
                <a:cubicBezTo>
                  <a:pt x="3690082" y="4181764"/>
                  <a:pt x="3655732" y="4186013"/>
                  <a:pt x="3621204" y="4186546"/>
                </a:cubicBezTo>
                <a:cubicBezTo>
                  <a:pt x="3508437" y="4190605"/>
                  <a:pt x="3396050" y="4182867"/>
                  <a:pt x="3283664" y="4176525"/>
                </a:cubicBezTo>
                <a:cubicBezTo>
                  <a:pt x="3205652" y="4172085"/>
                  <a:pt x="3127768" y="4162445"/>
                  <a:pt x="3049630" y="4170563"/>
                </a:cubicBezTo>
                <a:cubicBezTo>
                  <a:pt x="3004218" y="4175257"/>
                  <a:pt x="2958427" y="4175257"/>
                  <a:pt x="2913015" y="4170563"/>
                </a:cubicBezTo>
                <a:cubicBezTo>
                  <a:pt x="2829321" y="4160758"/>
                  <a:pt x="2744879" y="4158931"/>
                  <a:pt x="2660842" y="4165109"/>
                </a:cubicBezTo>
                <a:cubicBezTo>
                  <a:pt x="2535390" y="4175891"/>
                  <a:pt x="2410065" y="4184897"/>
                  <a:pt x="2284232" y="4167773"/>
                </a:cubicBezTo>
                <a:cubicBezTo>
                  <a:pt x="2212868" y="4156559"/>
                  <a:pt x="2140312" y="4155240"/>
                  <a:pt x="2068592" y="4163840"/>
                </a:cubicBezTo>
                <a:cubicBezTo>
                  <a:pt x="1897729" y="4187814"/>
                  <a:pt x="1726485" y="4180077"/>
                  <a:pt x="1555241" y="4170183"/>
                </a:cubicBezTo>
                <a:cubicBezTo>
                  <a:pt x="1440824" y="4163460"/>
                  <a:pt x="1325901" y="4151156"/>
                  <a:pt x="1211738" y="4167392"/>
                </a:cubicBezTo>
                <a:cubicBezTo>
                  <a:pt x="1066118" y="4187688"/>
                  <a:pt x="920370" y="4180965"/>
                  <a:pt x="774368" y="4175003"/>
                </a:cubicBezTo>
                <a:cubicBezTo>
                  <a:pt x="667182" y="4170563"/>
                  <a:pt x="559869" y="4157117"/>
                  <a:pt x="452430" y="4173734"/>
                </a:cubicBezTo>
                <a:cubicBezTo>
                  <a:pt x="441369" y="4175244"/>
                  <a:pt x="430117" y="4174115"/>
                  <a:pt x="419576" y="4170436"/>
                </a:cubicBezTo>
                <a:cubicBezTo>
                  <a:pt x="378807" y="4157016"/>
                  <a:pt x="335096" y="4155215"/>
                  <a:pt x="293363" y="4165236"/>
                </a:cubicBezTo>
                <a:cubicBezTo>
                  <a:pt x="216367" y="4182106"/>
                  <a:pt x="139497" y="4189463"/>
                  <a:pt x="61105" y="4174115"/>
                </a:cubicBezTo>
                <a:lnTo>
                  <a:pt x="13323" y="4171265"/>
                </a:lnTo>
                <a:lnTo>
                  <a:pt x="28554" y="3843045"/>
                </a:lnTo>
                <a:cubicBezTo>
                  <a:pt x="30457" y="3722610"/>
                  <a:pt x="27412" y="3602256"/>
                  <a:pt x="15626" y="3482187"/>
                </a:cubicBezTo>
                <a:cubicBezTo>
                  <a:pt x="-847" y="3335690"/>
                  <a:pt x="-4304" y="3188124"/>
                  <a:pt x="5296" y="3041068"/>
                </a:cubicBezTo>
                <a:cubicBezTo>
                  <a:pt x="11786" y="2956911"/>
                  <a:pt x="18539" y="2872754"/>
                  <a:pt x="22776" y="2788472"/>
                </a:cubicBezTo>
                <a:cubicBezTo>
                  <a:pt x="28180" y="2668580"/>
                  <a:pt x="25173" y="2548474"/>
                  <a:pt x="13771" y="2428964"/>
                </a:cubicBezTo>
                <a:cubicBezTo>
                  <a:pt x="4237" y="2337829"/>
                  <a:pt x="3177" y="2246070"/>
                  <a:pt x="10593" y="2154757"/>
                </a:cubicBezTo>
                <a:cubicBezTo>
                  <a:pt x="25690" y="1999286"/>
                  <a:pt x="9931" y="1843813"/>
                  <a:pt x="5032" y="1688466"/>
                </a:cubicBezTo>
                <a:cubicBezTo>
                  <a:pt x="-3577" y="1402691"/>
                  <a:pt x="20393" y="1117045"/>
                  <a:pt x="9666" y="831270"/>
                </a:cubicBezTo>
                <a:cubicBezTo>
                  <a:pt x="3841" y="689908"/>
                  <a:pt x="16420" y="548673"/>
                  <a:pt x="9666" y="407311"/>
                </a:cubicBezTo>
                <a:cubicBezTo>
                  <a:pt x="4105" y="306755"/>
                  <a:pt x="397" y="206200"/>
                  <a:pt x="4105" y="105518"/>
                </a:cubicBezTo>
                <a:cubicBezTo>
                  <a:pt x="5164" y="78059"/>
                  <a:pt x="5826" y="50473"/>
                  <a:pt x="9534" y="23396"/>
                </a:cubicBezTo>
                <a:close/>
              </a:path>
            </a:pathLst>
          </a:custGeom>
        </p:spPr>
      </p:pic>
      <p:sp>
        <p:nvSpPr>
          <p:cNvPr id="14" name="sketch line"/>
          <p:cNvSpPr>
            <a:spLocks noGrp="1" noRot="1" noChangeAspect="1" noMove="1" noResize="1" noEditPoints="1" noAdjustHandles="1" noChangeArrowheads="1" noChangeShapeType="1" noTextEdit="1"/>
          </p:cNvSpPr>
          <p:nvPr/>
        </p:nvSpPr>
        <p:spPr>
          <a:xfrm rot="5400000">
            <a:off x="3589020" y="540453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矩形: 圆角 5"/>
          <p:cNvSpPr/>
          <p:nvPr/>
        </p:nvSpPr>
        <p:spPr>
          <a:xfrm>
            <a:off x="4654294" y="4562856"/>
            <a:ext cx="6903721" cy="1600200"/>
          </a:xfrm>
          <a:prstGeom prst="roundRect">
            <a:avLst/>
          </a:prstGeom>
        </p:spPr>
        <p:style>
          <a:lnRef idx="0">
            <a:scrgbClr r="0" g="0" b="0"/>
          </a:lnRef>
          <a:fillRef idx="0">
            <a:scrgbClr r="0" g="0" b="0"/>
          </a:fillRef>
          <a:effectRef idx="0">
            <a:scrgbClr r="0" g="0" b="0"/>
          </a:effectRef>
          <a:fontRef idx="minor">
            <a:schemeClr val="dk1"/>
          </a:fontRef>
        </p:style>
        <p:txBody>
          <a:bodyPr vert="horz" lIns="91440" tIns="45720" rIns="91440" bIns="45720" rtlCol="0" anchor="ctr">
            <a:normAutofit/>
          </a:bodyPr>
          <a:lstStyle/>
          <a:p>
            <a:pPr>
              <a:lnSpc>
                <a:spcPct val="90000"/>
              </a:lnSpc>
              <a:spcAft>
                <a:spcPts val="600"/>
              </a:spcAft>
            </a:pPr>
            <a:r>
              <a:rPr lang="zh-CN" altLang="en-US" sz="2200" dirty="0">
                <a:solidFill>
                  <a:schemeClr val="tx1"/>
                </a:solidFill>
              </a:rPr>
              <a:t>工具：</a:t>
            </a:r>
            <a:endParaRPr lang="zh-CN" altLang="en-US" sz="2200" dirty="0">
              <a:solidFill>
                <a:schemeClr val="tx1"/>
              </a:solidFill>
            </a:endParaRPr>
          </a:p>
          <a:p>
            <a:pPr>
              <a:lnSpc>
                <a:spcPct val="90000"/>
              </a:lnSpc>
              <a:spcAft>
                <a:spcPts val="600"/>
              </a:spcAft>
            </a:pPr>
            <a:r>
              <a:rPr lang="en-US" altLang="zh-CN" sz="2200" dirty="0">
                <a:solidFill>
                  <a:schemeClr val="tx1"/>
                </a:solidFill>
              </a:rPr>
              <a:t>    </a:t>
            </a:r>
            <a:r>
              <a:rPr lang="en-US" altLang="zh-CN" sz="2200" dirty="0" err="1">
                <a:solidFill>
                  <a:schemeClr val="tx1"/>
                </a:solidFill>
              </a:rPr>
              <a:t>Vscode</a:t>
            </a:r>
            <a:r>
              <a:rPr lang="en-US" altLang="zh-CN" sz="2200" dirty="0">
                <a:solidFill>
                  <a:schemeClr val="tx1"/>
                </a:solidFill>
              </a:rPr>
              <a:t> 1.91.0 </a:t>
            </a:r>
            <a:r>
              <a:rPr lang="zh-CN" altLang="en-US" sz="2200" dirty="0">
                <a:solidFill>
                  <a:schemeClr val="tx1"/>
                </a:solidFill>
              </a:rPr>
              <a:t>及以上版本，</a:t>
            </a:r>
            <a:r>
              <a:rPr lang="en-US" altLang="zh-CN" sz="2200" dirty="0">
                <a:solidFill>
                  <a:schemeClr val="tx1"/>
                </a:solidFill>
              </a:rPr>
              <a:t>echarts.js 5.0</a:t>
            </a:r>
            <a:r>
              <a:rPr lang="zh-CN" altLang="en-US" sz="2200" dirty="0">
                <a:solidFill>
                  <a:schemeClr val="tx1"/>
                </a:solidFill>
              </a:rPr>
              <a:t>以上版本，</a:t>
            </a:r>
            <a:r>
              <a:rPr lang="en-US" altLang="zh-CN" sz="2200" dirty="0" err="1">
                <a:solidFill>
                  <a:schemeClr val="tx1"/>
                </a:solidFill>
              </a:rPr>
              <a:t>html+css+js</a:t>
            </a:r>
            <a:endParaRPr lang="en-US" altLang="zh-CN" sz="2200" dirty="0">
              <a:solidFill>
                <a:schemeClr val="tx1"/>
              </a:solidFill>
            </a:endParaRPr>
          </a:p>
          <a:p>
            <a:pPr indent="-228600">
              <a:lnSpc>
                <a:spcPct val="90000"/>
              </a:lnSpc>
              <a:spcAft>
                <a:spcPts val="600"/>
              </a:spcAft>
              <a:buFont typeface="Arial" panose="020B0604020202020204" pitchFamily="34" charset="0"/>
              <a:buChar char="•"/>
            </a:pPr>
            <a:endParaRPr lang="en-US" altLang="zh-CN" sz="2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https://kimi-img.moonshot.cn/pub/slides/slides_tmpl/image/25-09-04-11:33:05-d2sggse1bb2p4onbon00.png"/>
          <p:cNvPicPr>
            <a:picLocks noChangeAspect="1"/>
          </p:cNvPicPr>
          <p:nvPr/>
        </p:nvPicPr>
        <p:blipFill>
          <a:blip r:embed="rId1">
            <a:alphaModFix amt="80000"/>
          </a:blip>
          <a:stretch>
            <a:fillRect/>
          </a:stretch>
        </p:blipFill>
        <p:spPr>
          <a:xfrm>
            <a:off x="9631680" y="1380490"/>
            <a:ext cx="1750695" cy="1423035"/>
          </a:xfrm>
          <a:prstGeom prst="rect">
            <a:avLst/>
          </a:prstGeom>
        </p:spPr>
      </p:pic>
      <p:pic>
        <p:nvPicPr>
          <p:cNvPr id="4" name="Image 2" descr="https://kimi-img.moonshot.cn/pub/slides/slides_tmpl/image/25-09-04-11:33:06-d2sggsm1bb2p4onbon20.png"/>
          <p:cNvPicPr>
            <a:picLocks noChangeAspect="1"/>
          </p:cNvPicPr>
          <p:nvPr/>
        </p:nvPicPr>
        <p:blipFill>
          <a:blip r:embed="rId2">
            <a:alphaModFix amt="60000"/>
          </a:blip>
          <a:stretch>
            <a:fillRect/>
          </a:stretch>
        </p:blipFill>
        <p:spPr>
          <a:xfrm>
            <a:off x="671830" y="2187575"/>
            <a:ext cx="3957955" cy="4481195"/>
          </a:xfrm>
          <a:prstGeom prst="rect">
            <a:avLst/>
          </a:prstGeom>
        </p:spPr>
      </p:pic>
      <p:sp>
        <p:nvSpPr>
          <p:cNvPr id="5" name="Shape 0"/>
          <p:cNvSpPr/>
          <p:nvPr/>
        </p:nvSpPr>
        <p:spPr>
          <a:xfrm>
            <a:off x="844550" y="1749425"/>
            <a:ext cx="1408430" cy="976630"/>
          </a:xfrm>
          <a:prstGeom prst="rect">
            <a:avLst/>
          </a:prstGeom>
          <a:solidFill>
            <a:srgbClr val="000000">
              <a:alpha val="0"/>
            </a:srgbClr>
          </a:solidFill>
        </p:spPr>
        <p:txBody>
          <a:bodyPr/>
          <a:lstStyle/>
          <a:p>
            <a:endParaRPr lang="zh-CN" altLang="en-US"/>
          </a:p>
        </p:txBody>
      </p:sp>
      <p:sp>
        <p:nvSpPr>
          <p:cNvPr id="6" name="Text 1"/>
          <p:cNvSpPr/>
          <p:nvPr/>
        </p:nvSpPr>
        <p:spPr>
          <a:xfrm>
            <a:off x="844550" y="1749425"/>
            <a:ext cx="1408430" cy="976630"/>
          </a:xfrm>
          <a:prstGeom prst="rect">
            <a:avLst/>
          </a:prstGeom>
          <a:noFill/>
        </p:spPr>
        <p:txBody>
          <a:bodyPr wrap="square" lIns="45720" tIns="91440" rIns="91440" bIns="45720" rtlCol="0" anchor="b"/>
          <a:lstStyle/>
          <a:p>
            <a:pPr>
              <a:lnSpc>
                <a:spcPct val="130000"/>
              </a:lnSpc>
            </a:pPr>
            <a:r>
              <a:rPr lang="en-US" sz="4000" dirty="0">
                <a:solidFill>
                  <a:srgbClr val="000000"/>
                </a:solidFill>
                <a:latin typeface="MiSans" pitchFamily="34" charset="0"/>
                <a:ea typeface="MiSans" pitchFamily="34" charset="-122"/>
                <a:cs typeface="MiSans" pitchFamily="34" charset="-120"/>
              </a:rPr>
              <a:t>目录</a:t>
            </a:r>
            <a:endParaRPr lang="en-US" sz="1600" dirty="0"/>
          </a:p>
        </p:txBody>
      </p:sp>
      <p:sp>
        <p:nvSpPr>
          <p:cNvPr id="7" name="Text 2"/>
          <p:cNvSpPr/>
          <p:nvPr/>
        </p:nvSpPr>
        <p:spPr>
          <a:xfrm>
            <a:off x="844550" y="2692400"/>
            <a:ext cx="2663190" cy="432991"/>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CONTENTS</a:t>
            </a:r>
            <a:endParaRPr lang="en-US" sz="1600" dirty="0"/>
          </a:p>
        </p:txBody>
      </p:sp>
      <p:sp>
        <p:nvSpPr>
          <p:cNvPr id="8" name="Shape 3"/>
          <p:cNvSpPr/>
          <p:nvPr/>
        </p:nvSpPr>
        <p:spPr>
          <a:xfrm>
            <a:off x="924560" y="2670810"/>
            <a:ext cx="1664970" cy="0"/>
          </a:xfrm>
          <a:prstGeom prst="line">
            <a:avLst/>
          </a:prstGeom>
          <a:noFill/>
          <a:ln w="12700">
            <a:solidFill>
              <a:srgbClr val="000000"/>
            </a:solidFill>
            <a:prstDash val="solid"/>
            <a:headEnd type="none"/>
            <a:tailEnd type="none"/>
          </a:ln>
        </p:spPr>
        <p:txBody>
          <a:bodyPr/>
          <a:lstStyle/>
          <a:p>
            <a:endParaRPr lang="zh-CN" altLang="en-US"/>
          </a:p>
        </p:txBody>
      </p:sp>
      <p:pic>
        <p:nvPicPr>
          <p:cNvPr id="9" name="Image 3" descr="https://kimi-img.moonshot.cn/pub/slides/slides_tmpl/image/25-09-04-11:33:04-d2sggs61bb2p4onbomug.png"/>
          <p:cNvPicPr>
            <a:picLocks noChangeAspect="1"/>
          </p:cNvPicPr>
          <p:nvPr/>
        </p:nvPicPr>
        <p:blipFill>
          <a:blip r:embed="rId3">
            <a:alphaModFix amt="40000"/>
          </a:blip>
          <a:stretch>
            <a:fillRect/>
          </a:stretch>
        </p:blipFill>
        <p:spPr>
          <a:xfrm flipV="1">
            <a:off x="10751820" y="428625"/>
            <a:ext cx="762000" cy="76200"/>
          </a:xfrm>
          <a:prstGeom prst="rect">
            <a:avLst/>
          </a:prstGeom>
        </p:spPr>
      </p:pic>
      <p:pic>
        <p:nvPicPr>
          <p:cNvPr id="10" name="Image 4" descr="https://kimi-img.moonshot.cn/pub/slides/slides_tmpl/image/25-09-04-11:33:04-d2sggs61bb2p4onbomug.png"/>
          <p:cNvPicPr>
            <a:picLocks noChangeAspect="1"/>
          </p:cNvPicPr>
          <p:nvPr/>
        </p:nvPicPr>
        <p:blipFill>
          <a:blip r:embed="rId3">
            <a:alphaModFix amt="40000"/>
          </a:blip>
          <a:stretch>
            <a:fillRect/>
          </a:stretch>
        </p:blipFill>
        <p:spPr>
          <a:xfrm flipV="1">
            <a:off x="10751820" y="559435"/>
            <a:ext cx="762000" cy="76200"/>
          </a:xfrm>
          <a:prstGeom prst="rect">
            <a:avLst/>
          </a:prstGeom>
        </p:spPr>
      </p:pic>
      <p:sp>
        <p:nvSpPr>
          <p:cNvPr id="11" name="Shape 4"/>
          <p:cNvSpPr/>
          <p:nvPr>
            <p:custDataLst>
              <p:tags r:id="rId4"/>
            </p:custDataLst>
          </p:nvPr>
        </p:nvSpPr>
        <p:spPr>
          <a:xfrm flipH="1">
            <a:off x="4748530" y="1702435"/>
            <a:ext cx="127000" cy="342900"/>
          </a:xfrm>
          <a:prstGeom prst="line">
            <a:avLst/>
          </a:prstGeom>
          <a:noFill/>
          <a:ln w="28575">
            <a:solidFill>
              <a:srgbClr val="577FD2"/>
            </a:solidFill>
            <a:prstDash val="solid"/>
            <a:headEnd type="none"/>
            <a:tailEnd type="none"/>
          </a:ln>
        </p:spPr>
        <p:txBody>
          <a:bodyPr/>
          <a:lstStyle/>
          <a:p>
            <a:endParaRPr lang="zh-CN" altLang="en-US"/>
          </a:p>
        </p:txBody>
      </p:sp>
      <p:sp>
        <p:nvSpPr>
          <p:cNvPr id="12" name="Shape 5"/>
          <p:cNvSpPr/>
          <p:nvPr>
            <p:custDataLst>
              <p:tags r:id="rId5"/>
            </p:custDataLst>
          </p:nvPr>
        </p:nvSpPr>
        <p:spPr>
          <a:xfrm flipH="1">
            <a:off x="4748530" y="2816691"/>
            <a:ext cx="127000" cy="342900"/>
          </a:xfrm>
          <a:prstGeom prst="line">
            <a:avLst/>
          </a:prstGeom>
          <a:noFill/>
          <a:ln w="28575">
            <a:solidFill>
              <a:srgbClr val="577FD2"/>
            </a:solidFill>
            <a:prstDash val="solid"/>
            <a:headEnd type="none"/>
            <a:tailEnd type="none"/>
          </a:ln>
        </p:spPr>
        <p:txBody>
          <a:bodyPr/>
          <a:lstStyle/>
          <a:p>
            <a:endParaRPr lang="zh-CN" altLang="en-US"/>
          </a:p>
        </p:txBody>
      </p:sp>
      <p:sp>
        <p:nvSpPr>
          <p:cNvPr id="13" name="Shape 6"/>
          <p:cNvSpPr/>
          <p:nvPr>
            <p:custDataLst>
              <p:tags r:id="rId6"/>
            </p:custDataLst>
          </p:nvPr>
        </p:nvSpPr>
        <p:spPr>
          <a:xfrm flipH="1">
            <a:off x="4748530" y="3838271"/>
            <a:ext cx="127000" cy="342900"/>
          </a:xfrm>
          <a:prstGeom prst="line">
            <a:avLst/>
          </a:prstGeom>
          <a:noFill/>
          <a:ln w="28575">
            <a:solidFill>
              <a:srgbClr val="577FD2"/>
            </a:solidFill>
            <a:prstDash val="solid"/>
            <a:headEnd type="none"/>
            <a:tailEnd type="none"/>
          </a:ln>
        </p:spPr>
        <p:txBody>
          <a:bodyPr/>
          <a:lstStyle/>
          <a:p>
            <a:endParaRPr lang="zh-CN" altLang="en-US"/>
          </a:p>
        </p:txBody>
      </p:sp>
      <p:sp>
        <p:nvSpPr>
          <p:cNvPr id="17" name="Shape 10"/>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8" name="Shape 11"/>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9" name="Text 12"/>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21" name="Text 14"/>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15"/>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23" name="Text 16"/>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17"/>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5" name="Text 18"/>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6" name="Shape 19"/>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7" name="Text 20"/>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8" name="Shape 21"/>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9" name="Text 22"/>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30" name="Text 23"/>
          <p:cNvSpPr/>
          <p:nvPr>
            <p:custDataLst>
              <p:tags r:id="rId7"/>
            </p:custDataLst>
          </p:nvPr>
        </p:nvSpPr>
        <p:spPr>
          <a:xfrm>
            <a:off x="4636770" y="1515745"/>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01.</a:t>
            </a:r>
            <a:endParaRPr lang="en-US" sz="1600" dirty="0"/>
          </a:p>
        </p:txBody>
      </p:sp>
      <p:sp>
        <p:nvSpPr>
          <p:cNvPr id="32" name="Text 25"/>
          <p:cNvSpPr/>
          <p:nvPr>
            <p:custDataLst>
              <p:tags r:id="rId8"/>
            </p:custDataLst>
          </p:nvPr>
        </p:nvSpPr>
        <p:spPr>
          <a:xfrm>
            <a:off x="4636770" y="2599521"/>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02.</a:t>
            </a:r>
            <a:endParaRPr lang="en-US" sz="1600" dirty="0"/>
          </a:p>
        </p:txBody>
      </p:sp>
      <p:sp>
        <p:nvSpPr>
          <p:cNvPr id="34" name="Text 27"/>
          <p:cNvSpPr/>
          <p:nvPr>
            <p:custDataLst>
              <p:tags r:id="rId9"/>
            </p:custDataLst>
          </p:nvPr>
        </p:nvSpPr>
        <p:spPr>
          <a:xfrm>
            <a:off x="4636770" y="3638246"/>
            <a:ext cx="1619250" cy="706755"/>
          </a:xfrm>
          <a:prstGeom prst="rect">
            <a:avLst/>
          </a:prstGeom>
          <a:noFill/>
        </p:spPr>
        <p:txBody>
          <a:bodyPr wrap="square" lIns="91440" tIns="45720" rIns="91440" bIns="45720" rtlCol="0" anchor="t">
            <a:spAutoFit/>
          </a:bodyPr>
          <a:lstStyle/>
          <a:p>
            <a:pPr algn="ctr">
              <a:lnSpc>
                <a:spcPct val="100000"/>
              </a:lnSpc>
            </a:pPr>
            <a:r>
              <a:rPr lang="en-US" sz="40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0"/>
              </a:rPr>
              <a:t>03.</a:t>
            </a:r>
            <a:endParaRPr lang="en-US" sz="1600" dirty="0"/>
          </a:p>
        </p:txBody>
      </p:sp>
      <p:sp>
        <p:nvSpPr>
          <p:cNvPr id="41" name="Text 34"/>
          <p:cNvSpPr/>
          <p:nvPr/>
        </p:nvSpPr>
        <p:spPr>
          <a:xfrm>
            <a:off x="5642610" y="5266055"/>
            <a:ext cx="6268085" cy="521970"/>
          </a:xfrm>
          <a:prstGeom prst="rect">
            <a:avLst/>
          </a:prstGeom>
          <a:noFill/>
        </p:spPr>
        <p:txBody>
          <a:bodyPr wrap="square" lIns="91440" tIns="45720" rIns="91440" bIns="45720" rtlCol="0" anchor="t"/>
          <a:lstStyle/>
          <a:p>
            <a:pPr>
              <a:lnSpc>
                <a:spcPct val="100000"/>
              </a:lnSpc>
            </a:pPr>
            <a:endParaRPr lang="en-US" sz="1600" dirty="0"/>
          </a:p>
        </p:txBody>
      </p:sp>
      <p:sp>
        <p:nvSpPr>
          <p:cNvPr id="42" name="矩形 41"/>
          <p:cNvSpPr/>
          <p:nvPr>
            <p:custDataLst>
              <p:tags r:id="rId10"/>
            </p:custDataLst>
          </p:nvPr>
        </p:nvSpPr>
        <p:spPr>
          <a:xfrm>
            <a:off x="5260757" y="1515745"/>
            <a:ext cx="3693695" cy="68254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sz="2800" dirty="0"/>
              <a:t>数据与布局</a:t>
            </a:r>
            <a:endParaRPr lang="zh-CN" altLang="en-US" sz="2800" dirty="0"/>
          </a:p>
        </p:txBody>
      </p:sp>
      <p:sp>
        <p:nvSpPr>
          <p:cNvPr id="43" name="矩形 42"/>
          <p:cNvSpPr/>
          <p:nvPr>
            <p:custDataLst>
              <p:tags r:id="rId11"/>
            </p:custDataLst>
          </p:nvPr>
        </p:nvSpPr>
        <p:spPr>
          <a:xfrm>
            <a:off x="5099418" y="2569693"/>
            <a:ext cx="3693695" cy="68254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2800" dirty="0"/>
              <a:t>        </a:t>
            </a:r>
            <a:r>
              <a:rPr lang="zh-CN" altLang="en-US" sz="2800" dirty="0"/>
              <a:t>教育</a:t>
            </a:r>
            <a:r>
              <a:rPr lang="zh-CN" altLang="en-US" sz="2800" dirty="0"/>
              <a:t>情况分析</a:t>
            </a:r>
            <a:endParaRPr lang="zh-CN" altLang="en-US" sz="2800" dirty="0"/>
          </a:p>
        </p:txBody>
      </p:sp>
      <p:sp>
        <p:nvSpPr>
          <p:cNvPr id="45" name="矩形 44"/>
          <p:cNvSpPr/>
          <p:nvPr>
            <p:custDataLst>
              <p:tags r:id="rId12"/>
            </p:custDataLst>
          </p:nvPr>
        </p:nvSpPr>
        <p:spPr>
          <a:xfrm>
            <a:off x="5461685" y="3648713"/>
            <a:ext cx="3693695" cy="68254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sz="2800" dirty="0"/>
              <a:t>十年变化总结</a:t>
            </a:r>
            <a:endParaRPr lang="zh-CN" altLang="en-US" sz="28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2"/>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nvPicPr>
        <p:blipFill>
          <a:blip r:embed="rId3"/>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nvPicPr>
        <p:blipFill>
          <a:blip r:embed="rId4"/>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nvPicPr>
        <p:blipFill>
          <a:blip r:embed="rId5">
            <a:alphaModFix amt="40000"/>
          </a:blip>
          <a:stretch>
            <a:fillRect/>
          </a:stretch>
        </p:blipFill>
        <p:spPr>
          <a:xfrm rot="16200000">
            <a:off x="10665460" y="-8255"/>
            <a:ext cx="262890" cy="1170305"/>
          </a:xfrm>
          <a:prstGeom prst="rect">
            <a:avLst/>
          </a:prstGeom>
        </p:spPr>
      </p:pic>
      <p:sp>
        <p:nvSpPr>
          <p:cNvPr id="7" name="Text 0"/>
          <p:cNvSpPr/>
          <p:nvPr/>
        </p:nvSpPr>
        <p:spPr>
          <a:xfrm>
            <a:off x="8197052" y="2654618"/>
            <a:ext cx="1618942" cy="1429544"/>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01</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itchFamily="34" charset="0"/>
                <a:ea typeface="MiSans" pitchFamily="34" charset="-122"/>
              </a:rPr>
              <a:t>数据与布局</a:t>
            </a:r>
            <a:endParaRPr lang="en-US" sz="1600" dirty="0"/>
          </a:p>
        </p:txBody>
      </p:sp>
      <p:sp>
        <p:nvSpPr>
          <p:cNvPr id="9"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0" name="Shape 3"/>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1" name="Text 4"/>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5"/>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3" name="Text 6"/>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7"/>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5" name="Text 8"/>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9"/>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7" name="Text 10"/>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1"/>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9" name="Text 12"/>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1" name="Text 14"/>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n00.png"/>
          <p:cNvPicPr>
            <a:picLocks noChangeAspect="1"/>
          </p:cNvPicPr>
          <p:nvPr/>
        </p:nvPicPr>
        <p:blipFill>
          <a:blip r:embed="rId2">
            <a:alphaModFix amt="80000"/>
          </a:blip>
          <a:stretch>
            <a:fillRect/>
          </a:stretch>
        </p:blipFill>
        <p:spPr>
          <a:xfrm>
            <a:off x="9631680" y="1380490"/>
            <a:ext cx="1750695" cy="1423035"/>
          </a:xfrm>
          <a:prstGeom prst="rect">
            <a:avLst/>
          </a:prstGeom>
        </p:spPr>
      </p:pic>
      <p:pic>
        <p:nvPicPr>
          <p:cNvPr id="4" name="Image 2" descr="https://kimi-img.moonshot.cn/pub/slides/slides_tmpl/image/25-09-04-11:33:06-d2sggsm1bb2p4onbon20.png"/>
          <p:cNvPicPr>
            <a:picLocks noChangeAspect="1"/>
          </p:cNvPicPr>
          <p:nvPr/>
        </p:nvPicPr>
        <p:blipFill>
          <a:blip r:embed="rId3">
            <a:alphaModFix amt="60000"/>
          </a:blip>
          <a:stretch>
            <a:fillRect/>
          </a:stretch>
        </p:blipFill>
        <p:spPr>
          <a:xfrm>
            <a:off x="998855" y="2680970"/>
            <a:ext cx="3957955" cy="4481195"/>
          </a:xfrm>
          <a:prstGeom prst="rect">
            <a:avLst/>
          </a:prstGeom>
        </p:spPr>
      </p:pic>
      <p:sp>
        <p:nvSpPr>
          <p:cNvPr id="5" name="Shape 0"/>
          <p:cNvSpPr/>
          <p:nvPr/>
        </p:nvSpPr>
        <p:spPr>
          <a:xfrm>
            <a:off x="844550" y="1749425"/>
            <a:ext cx="1408430" cy="976630"/>
          </a:xfrm>
          <a:prstGeom prst="rect">
            <a:avLst/>
          </a:prstGeom>
          <a:solidFill>
            <a:srgbClr val="000000">
              <a:alpha val="0"/>
            </a:srgbClr>
          </a:solidFill>
        </p:spPr>
        <p:txBody>
          <a:bodyPr/>
          <a:lstStyle/>
          <a:p>
            <a:endParaRPr lang="zh-CN" altLang="en-US"/>
          </a:p>
        </p:txBody>
      </p:sp>
      <p:sp>
        <p:nvSpPr>
          <p:cNvPr id="6" name="Text 1"/>
          <p:cNvSpPr/>
          <p:nvPr/>
        </p:nvSpPr>
        <p:spPr>
          <a:xfrm>
            <a:off x="844550" y="1749425"/>
            <a:ext cx="3255502" cy="976630"/>
          </a:xfrm>
          <a:prstGeom prst="rect">
            <a:avLst/>
          </a:prstGeom>
          <a:noFill/>
        </p:spPr>
        <p:txBody>
          <a:bodyPr wrap="square" lIns="45720" tIns="91440" rIns="91440" bIns="45720" rtlCol="0" anchor="b"/>
          <a:lstStyle/>
          <a:p>
            <a:pPr>
              <a:lnSpc>
                <a:spcPct val="130000"/>
              </a:lnSpc>
            </a:pPr>
            <a:r>
              <a:rPr lang="zh-CN" altLang="en-US" sz="4000" dirty="0">
                <a:solidFill>
                  <a:srgbClr val="000000"/>
                </a:solidFill>
                <a:latin typeface="MiSans" pitchFamily="34" charset="0"/>
                <a:ea typeface="MiSans" pitchFamily="34" charset="-122"/>
              </a:rPr>
              <a:t>数据来源规模</a:t>
            </a:r>
            <a:endParaRPr lang="en-US" sz="1600" dirty="0"/>
          </a:p>
        </p:txBody>
      </p:sp>
      <p:sp>
        <p:nvSpPr>
          <p:cNvPr id="7" name="Text 2"/>
          <p:cNvSpPr/>
          <p:nvPr/>
        </p:nvSpPr>
        <p:spPr>
          <a:xfrm>
            <a:off x="844550" y="2692400"/>
            <a:ext cx="3032124" cy="523220"/>
          </a:xfrm>
          <a:prstGeom prst="rect">
            <a:avLst/>
          </a:prstGeom>
          <a:noFill/>
        </p:spPr>
        <p:txBody>
          <a:bodyPr wrap="square" lIns="91440" tIns="45720" rIns="91440" bIns="45720" rtlCol="0" anchor="t">
            <a:spAutoFit/>
          </a:bodyPr>
          <a:lstStyle/>
          <a:p>
            <a:pPr>
              <a:lnSpc>
                <a:spcPct val="100000"/>
              </a:lnSpc>
            </a:pPr>
            <a:r>
              <a:rPr lang="en-US" sz="2800" b="1" dirty="0">
                <a:solidFill>
                  <a:srgbClr val="000000"/>
                </a:solidFill>
                <a:latin typeface="MiSans" pitchFamily="34" charset="0"/>
                <a:ea typeface="MiSans" pitchFamily="34" charset="-122"/>
                <a:cs typeface="MiSans" pitchFamily="34" charset="-120"/>
              </a:rPr>
              <a:t>CONTENTS</a:t>
            </a:r>
            <a:endParaRPr lang="en-US" sz="1600" dirty="0"/>
          </a:p>
        </p:txBody>
      </p:sp>
      <p:sp>
        <p:nvSpPr>
          <p:cNvPr id="8" name="Shape 3"/>
          <p:cNvSpPr/>
          <p:nvPr/>
        </p:nvSpPr>
        <p:spPr>
          <a:xfrm>
            <a:off x="924559" y="2670810"/>
            <a:ext cx="2952115" cy="21590"/>
          </a:xfrm>
          <a:prstGeom prst="line">
            <a:avLst/>
          </a:prstGeom>
          <a:noFill/>
          <a:ln w="12700">
            <a:solidFill>
              <a:srgbClr val="000000"/>
            </a:solidFill>
            <a:prstDash val="solid"/>
            <a:headEnd type="none"/>
            <a:tailEnd type="none"/>
          </a:ln>
        </p:spPr>
        <p:txBody>
          <a:bodyPr/>
          <a:lstStyle/>
          <a:p>
            <a:endParaRPr lang="zh-CN" altLang="en-US"/>
          </a:p>
        </p:txBody>
      </p:sp>
      <p:pic>
        <p:nvPicPr>
          <p:cNvPr id="9" name="Image 3" descr="https://kimi-img.moonshot.cn/pub/slides/slides_tmpl/image/25-09-04-11:33:04-d2sggs61bb2p4onbomug.png"/>
          <p:cNvPicPr>
            <a:picLocks noChangeAspect="1"/>
          </p:cNvPicPr>
          <p:nvPr/>
        </p:nvPicPr>
        <p:blipFill>
          <a:blip r:embed="rId4">
            <a:alphaModFix amt="40000"/>
          </a:blip>
          <a:stretch>
            <a:fillRect/>
          </a:stretch>
        </p:blipFill>
        <p:spPr>
          <a:xfrm flipV="1">
            <a:off x="10751820" y="428625"/>
            <a:ext cx="762000" cy="76200"/>
          </a:xfrm>
          <a:prstGeom prst="rect">
            <a:avLst/>
          </a:prstGeom>
        </p:spPr>
      </p:pic>
      <p:pic>
        <p:nvPicPr>
          <p:cNvPr id="10" name="Image 4" descr="https://kimi-img.moonshot.cn/pub/slides/slides_tmpl/image/25-09-04-11:33:04-d2sggs61bb2p4onbomug.png"/>
          <p:cNvPicPr>
            <a:picLocks noChangeAspect="1"/>
          </p:cNvPicPr>
          <p:nvPr/>
        </p:nvPicPr>
        <p:blipFill>
          <a:blip r:embed="rId4">
            <a:alphaModFix amt="40000"/>
          </a:blip>
          <a:stretch>
            <a:fillRect/>
          </a:stretch>
        </p:blipFill>
        <p:spPr>
          <a:xfrm flipV="1">
            <a:off x="10751820" y="559435"/>
            <a:ext cx="762000" cy="76200"/>
          </a:xfrm>
          <a:prstGeom prst="rect">
            <a:avLst/>
          </a:prstGeom>
        </p:spPr>
      </p:pic>
      <p:sp>
        <p:nvSpPr>
          <p:cNvPr id="11" name="Shape 4"/>
          <p:cNvSpPr/>
          <p:nvPr/>
        </p:nvSpPr>
        <p:spPr>
          <a:xfrm flipH="1">
            <a:off x="4515874" y="1749425"/>
            <a:ext cx="127000" cy="342900"/>
          </a:xfrm>
          <a:prstGeom prst="line">
            <a:avLst/>
          </a:prstGeom>
          <a:noFill/>
          <a:ln w="28575">
            <a:solidFill>
              <a:srgbClr val="577FD2"/>
            </a:solidFill>
            <a:prstDash val="solid"/>
            <a:headEnd type="none"/>
            <a:tailEnd type="none"/>
          </a:ln>
        </p:spPr>
        <p:txBody>
          <a:bodyPr/>
          <a:lstStyle/>
          <a:p>
            <a:endParaRPr lang="zh-CN" altLang="en-US"/>
          </a:p>
        </p:txBody>
      </p:sp>
      <p:sp>
        <p:nvSpPr>
          <p:cNvPr id="12" name="Shape 5"/>
          <p:cNvSpPr/>
          <p:nvPr/>
        </p:nvSpPr>
        <p:spPr>
          <a:xfrm flipH="1">
            <a:off x="4388874" y="4397653"/>
            <a:ext cx="127000" cy="342900"/>
          </a:xfrm>
          <a:prstGeom prst="line">
            <a:avLst/>
          </a:prstGeom>
          <a:noFill/>
          <a:ln w="28575">
            <a:solidFill>
              <a:srgbClr val="577FD2"/>
            </a:solidFill>
            <a:prstDash val="solid"/>
            <a:headEnd type="none"/>
            <a:tailEnd type="none"/>
          </a:ln>
        </p:spPr>
        <p:txBody>
          <a:bodyPr/>
          <a:lstStyle/>
          <a:p>
            <a:endParaRPr lang="zh-CN" altLang="en-US"/>
          </a:p>
        </p:txBody>
      </p:sp>
      <p:sp>
        <p:nvSpPr>
          <p:cNvPr id="17" name="Shape 10"/>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8" name="Shape 11"/>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9" name="Text 12"/>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21" name="Text 14"/>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2" name="Shape 15"/>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23" name="Text 16"/>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4" name="Shape 17"/>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5" name="Text 18"/>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6" name="Shape 19"/>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7" name="Text 20"/>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8" name="Shape 21"/>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9" name="Text 22"/>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43" name="文本框 42"/>
          <p:cNvSpPr txBox="1"/>
          <p:nvPr/>
        </p:nvSpPr>
        <p:spPr>
          <a:xfrm>
            <a:off x="4801870" y="1649363"/>
            <a:ext cx="5372632" cy="2308324"/>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数据来源：</a:t>
            </a:r>
            <a:endParaRPr lang="en-US" altLang="zh-CN" sz="2400" dirty="0">
              <a:latin typeface="微软雅黑" panose="020B0503020204020204" pitchFamily="34" charset="-122"/>
              <a:ea typeface="微软雅黑" panose="020B0503020204020204" pitchFamily="34" charset="-122"/>
            </a:endParaRPr>
          </a:p>
          <a:p>
            <a:r>
              <a:rPr lang="zh-CN" altLang="en-US" sz="2400" dirty="0">
                <a:latin typeface="微软雅黑" panose="020B0503020204020204" pitchFamily="34" charset="-122"/>
                <a:ea typeface="微软雅黑" panose="020B0503020204020204" pitchFamily="34" charset="-122"/>
              </a:rPr>
              <a:t>全国第六次人口普查与第七次人口普查官方发布的人口受教育相关统计数据，涵盖全国各省（市）、不同区域（城市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乡镇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农村）、不同性别、各年龄段、各教育阶段的人口统计信息</a:t>
            </a:r>
            <a:endParaRPr lang="zh-CN" altLang="en-US" sz="2400" dirty="0">
              <a:latin typeface="微软雅黑" panose="020B0503020204020204" pitchFamily="34" charset="-122"/>
              <a:ea typeface="微软雅黑" panose="020B0503020204020204" pitchFamily="34" charset="-122"/>
            </a:endParaRPr>
          </a:p>
        </p:txBody>
      </p:sp>
      <p:sp>
        <p:nvSpPr>
          <p:cNvPr id="45" name="文本框 44"/>
          <p:cNvSpPr txBox="1"/>
          <p:nvPr/>
        </p:nvSpPr>
        <p:spPr>
          <a:xfrm>
            <a:off x="4851717" y="4398709"/>
            <a:ext cx="5322785" cy="830997"/>
          </a:xfrm>
          <a:prstGeom prst="rect">
            <a:avLst/>
          </a:prstGeom>
          <a:noFill/>
        </p:spPr>
        <p:txBody>
          <a:bodyPr wrap="square">
            <a:spAutoFit/>
          </a:bodyPr>
          <a:lstStyle/>
          <a:p>
            <a:r>
              <a:rPr lang="zh-CN" altLang="en-US" sz="2400" dirty="0">
                <a:latin typeface="微软雅黑" panose="020B0503020204020204" pitchFamily="34" charset="-122"/>
                <a:ea typeface="微软雅黑" panose="020B0503020204020204" pitchFamily="34" charset="-122"/>
              </a:rPr>
              <a:t>数据规模：</a:t>
            </a:r>
            <a:r>
              <a:rPr lang="en-US" altLang="zh-CN" sz="2400" dirty="0">
                <a:latin typeface="微软雅黑" panose="020B0503020204020204" pitchFamily="34" charset="-122"/>
                <a:ea typeface="微软雅黑" panose="020B0503020204020204" pitchFamily="34" charset="-122"/>
              </a:rPr>
              <a:t>6 </a:t>
            </a:r>
            <a:r>
              <a:rPr lang="zh-CN" altLang="en-US" sz="2400" dirty="0">
                <a:latin typeface="微软雅黑" panose="020B0503020204020204" pitchFamily="34" charset="-122"/>
                <a:ea typeface="微软雅黑" panose="020B0503020204020204" pitchFamily="34" charset="-122"/>
              </a:rPr>
              <a:t>个文件总大小约 </a:t>
            </a:r>
            <a:r>
              <a:rPr lang="en-US" altLang="zh-CN" sz="2400" dirty="0">
                <a:latin typeface="微软雅黑" panose="020B0503020204020204" pitchFamily="34" charset="-122"/>
                <a:ea typeface="微软雅黑" panose="020B0503020204020204" pitchFamily="34" charset="-122"/>
              </a:rPr>
              <a:t>180kb</a:t>
            </a:r>
            <a:r>
              <a:rPr lang="zh-CN" altLang="en-US" sz="2400" dirty="0">
                <a:latin typeface="微软雅黑" panose="020B0503020204020204" pitchFamily="34" charset="-122"/>
                <a:ea typeface="微软雅黑" panose="020B0503020204020204" pitchFamily="34" charset="-122"/>
              </a:rPr>
              <a:t>，累计数据行 </a:t>
            </a:r>
            <a:r>
              <a:rPr lang="en-US" altLang="zh-CN" sz="2400" dirty="0">
                <a:latin typeface="微软雅黑" panose="020B0503020204020204" pitchFamily="34" charset="-122"/>
                <a:ea typeface="微软雅黑" panose="020B0503020204020204" pitchFamily="34" charset="-122"/>
              </a:rPr>
              <a:t>274 </a:t>
            </a:r>
            <a:r>
              <a:rPr lang="zh-CN" altLang="en-US" sz="2400" dirty="0">
                <a:latin typeface="微软雅黑" panose="020B0503020204020204" pitchFamily="34" charset="-122"/>
                <a:ea typeface="微软雅黑" panose="020B0503020204020204" pitchFamily="34" charset="-122"/>
              </a:rPr>
              <a:t>条数据（不含表头）</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12" name="Shape 9"/>
          <p:cNvSpPr/>
          <p:nvPr/>
        </p:nvSpPr>
        <p:spPr>
          <a:xfrm>
            <a:off x="7903528" y="3759041"/>
            <a:ext cx="12700" cy="812800"/>
          </a:xfrm>
          <a:custGeom>
            <a:avLst/>
            <a:gdLst/>
            <a:ahLst/>
            <a:cxnLst/>
            <a:rect l="l" t="t" r="r" b="b"/>
            <a:pathLst>
              <a:path w="12700" h="812800">
                <a:moveTo>
                  <a:pt x="0" y="0"/>
                </a:moveTo>
                <a:lnTo>
                  <a:pt x="12700" y="0"/>
                </a:lnTo>
                <a:lnTo>
                  <a:pt x="12700" y="812800"/>
                </a:lnTo>
                <a:lnTo>
                  <a:pt x="0" y="812800"/>
                </a:lnTo>
                <a:lnTo>
                  <a:pt x="0" y="0"/>
                </a:lnTo>
                <a:close/>
              </a:path>
            </a:pathLst>
          </a:custGeom>
          <a:solidFill>
            <a:srgbClr val="8FA7D0"/>
          </a:solidFill>
        </p:spPr>
        <p:txBody>
          <a:bodyPr/>
          <a:lstStyle/>
          <a:p>
            <a:endParaRPr lang="zh-CN" altLang="en-US"/>
          </a:p>
        </p:txBody>
      </p:sp>
      <p:sp>
        <p:nvSpPr>
          <p:cNvPr id="16" name="标题 15"/>
          <p:cNvSpPr>
            <a:spLocks noGrp="1"/>
          </p:cNvSpPr>
          <p:nvPr>
            <p:ph type="title"/>
          </p:nvPr>
        </p:nvSpPr>
        <p:spPr>
          <a:xfrm>
            <a:off x="868957" y="1"/>
            <a:ext cx="10515600" cy="812800"/>
          </a:xfrm>
        </p:spPr>
        <p:txBody>
          <a:bodyPr>
            <a:normAutofit fontScale="90000"/>
          </a:bodyPr>
          <a:lstStyle/>
          <a:p>
            <a:pPr algn="ctr"/>
            <a:r>
              <a:rPr lang="zh-CN" altLang="en-US" sz="28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网页展示</a:t>
            </a:r>
            <a:br>
              <a:rPr lang="en-US" altLang="zh-CN" sz="1200" dirty="0"/>
            </a:br>
            <a:endParaRPr lang="zh-CN" altLang="en-US" sz="2800" dirty="0"/>
          </a:p>
        </p:txBody>
      </p:sp>
      <p:pic>
        <p:nvPicPr>
          <p:cNvPr id="3" name="图片 2"/>
          <p:cNvPicPr>
            <a:picLocks noChangeAspect="1"/>
          </p:cNvPicPr>
          <p:nvPr/>
        </p:nvPicPr>
        <p:blipFill>
          <a:blip r:embed="rId2"/>
          <a:stretch>
            <a:fillRect/>
          </a:stretch>
        </p:blipFill>
        <p:spPr>
          <a:xfrm>
            <a:off x="0" y="381000"/>
            <a:ext cx="12192000" cy="6477000"/>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17" name="文本框 16"/>
          <p:cNvSpPr txBox="1"/>
          <p:nvPr/>
        </p:nvSpPr>
        <p:spPr>
          <a:xfrm>
            <a:off x="5211095" y="727587"/>
            <a:ext cx="6037007" cy="5262979"/>
          </a:xfrm>
          <a:prstGeom prst="rect">
            <a:avLst/>
          </a:prstGeom>
          <a:noFill/>
        </p:spPr>
        <p:txBody>
          <a:bodyPr wrap="square" rtlCol="0">
            <a:spAutoFit/>
          </a:bodyPr>
          <a:lstStyle/>
          <a:p>
            <a:pPr lvl="1" fontAlgn="base"/>
            <a:r>
              <a:rPr lang="zh-CN" altLang="en-US" sz="2800" dirty="0">
                <a:latin typeface="微软雅黑" panose="020B0503020204020204" pitchFamily="34" charset="-122"/>
                <a:ea typeface="微软雅黑" panose="020B0503020204020204" pitchFamily="34" charset="-122"/>
              </a:rPr>
              <a:t>柱状图：</a:t>
            </a:r>
            <a:endParaRPr lang="en-US" altLang="zh-CN"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显示第七次人口普查各省市人口数量对比</a:t>
            </a:r>
            <a:endParaRPr lang="en-US" altLang="zh-CN" sz="2800" dirty="0">
              <a:latin typeface="微软雅黑" panose="020B0503020204020204" pitchFamily="34" charset="-122"/>
              <a:ea typeface="微软雅黑" panose="020B0503020204020204" pitchFamily="34" charset="-122"/>
            </a:endParaRPr>
          </a:p>
          <a:p>
            <a:pPr lvl="1" fontAlgn="base"/>
            <a:endParaRPr lang="en-US" altLang="zh-CN" sz="2800" dirty="0">
              <a:latin typeface="微软雅黑" panose="020B0503020204020204" pitchFamily="34" charset="-122"/>
              <a:ea typeface="微软雅黑" panose="020B0503020204020204" pitchFamily="34" charset="-122"/>
            </a:endParaRPr>
          </a:p>
          <a:p>
            <a:pPr lvl="1" fontAlgn="base"/>
            <a:endParaRPr lang="zh-CN" altLang="en-US"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环形图：</a:t>
            </a:r>
            <a:endParaRPr lang="en-US" altLang="zh-CN"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展示南海诸岛受教育程度比重分布</a:t>
            </a:r>
            <a:endParaRPr lang="en-US" altLang="zh-CN" sz="2800" dirty="0">
              <a:latin typeface="微软雅黑" panose="020B0503020204020204" pitchFamily="34" charset="-122"/>
              <a:ea typeface="微软雅黑" panose="020B0503020204020204" pitchFamily="34" charset="-122"/>
            </a:endParaRPr>
          </a:p>
          <a:p>
            <a:pPr lvl="1" fontAlgn="base"/>
            <a:endParaRPr lang="en-US" altLang="zh-CN" sz="2800" dirty="0">
              <a:latin typeface="微软雅黑" panose="020B0503020204020204" pitchFamily="34" charset="-122"/>
              <a:ea typeface="微软雅黑" panose="020B0503020204020204" pitchFamily="34" charset="-122"/>
            </a:endParaRPr>
          </a:p>
          <a:p>
            <a:pPr lvl="1" fontAlgn="base"/>
            <a:endParaRPr lang="zh-CN" altLang="en-US"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折线图：</a:t>
            </a:r>
            <a:endParaRPr lang="en-US" altLang="zh-CN"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对比第六次和第七次普查不同教育阶段人口数量变化</a:t>
            </a:r>
            <a:endParaRPr lang="zh-CN" altLang="en-US" sz="2800"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0" y="0"/>
            <a:ext cx="5210810" cy="6894195"/>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17" name="文本框 16"/>
          <p:cNvSpPr txBox="1"/>
          <p:nvPr/>
        </p:nvSpPr>
        <p:spPr>
          <a:xfrm>
            <a:off x="619434" y="678426"/>
            <a:ext cx="5663380" cy="5693866"/>
          </a:xfrm>
          <a:prstGeom prst="rect">
            <a:avLst/>
          </a:prstGeom>
          <a:noFill/>
        </p:spPr>
        <p:txBody>
          <a:bodyPr wrap="square" rtlCol="0">
            <a:spAutoFit/>
          </a:bodyPr>
          <a:lstStyle/>
          <a:p>
            <a:pPr lvl="1" fontAlgn="base"/>
            <a:r>
              <a:rPr lang="zh-CN" altLang="en-US" sz="2800" dirty="0">
                <a:latin typeface="微软雅黑" panose="020B0503020204020204" pitchFamily="34" charset="-122"/>
                <a:ea typeface="微软雅黑" panose="020B0503020204020204" pitchFamily="34" charset="-122"/>
              </a:rPr>
              <a:t>堆叠条形图：展示各教育阶段性别分布对比（研究生、大学专科、初中、学前教育）</a:t>
            </a:r>
            <a:endParaRPr lang="en-US" altLang="zh-CN" sz="2800" dirty="0">
              <a:latin typeface="微软雅黑" panose="020B0503020204020204" pitchFamily="34" charset="-122"/>
              <a:ea typeface="微软雅黑" panose="020B0503020204020204" pitchFamily="34" charset="-122"/>
            </a:endParaRPr>
          </a:p>
          <a:p>
            <a:pPr lvl="1" fontAlgn="base"/>
            <a:endParaRPr lang="en-US" altLang="zh-CN" sz="2800" dirty="0">
              <a:latin typeface="微软雅黑" panose="020B0503020204020204" pitchFamily="34" charset="-122"/>
              <a:ea typeface="微软雅黑" panose="020B0503020204020204" pitchFamily="34" charset="-122"/>
            </a:endParaRPr>
          </a:p>
          <a:p>
            <a:pPr lvl="1" fontAlgn="base"/>
            <a:endParaRPr lang="zh-CN" altLang="en-US"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热力图：各省市受教育程度占比详情</a:t>
            </a:r>
            <a:endParaRPr lang="en-US" altLang="zh-CN" sz="2800" dirty="0">
              <a:latin typeface="微软雅黑" panose="020B0503020204020204" pitchFamily="34" charset="-122"/>
              <a:ea typeface="微软雅黑" panose="020B0503020204020204" pitchFamily="34" charset="-122"/>
            </a:endParaRPr>
          </a:p>
          <a:p>
            <a:pPr lvl="1" fontAlgn="base"/>
            <a:endParaRPr lang="en-US" altLang="zh-CN" sz="2800" dirty="0">
              <a:latin typeface="微软雅黑" panose="020B0503020204020204" pitchFamily="34" charset="-122"/>
              <a:ea typeface="微软雅黑" panose="020B0503020204020204" pitchFamily="34" charset="-122"/>
            </a:endParaRPr>
          </a:p>
          <a:p>
            <a:pPr lvl="1" fontAlgn="base"/>
            <a:endParaRPr lang="zh-CN" altLang="en-US" sz="2800" dirty="0">
              <a:latin typeface="微软雅黑" panose="020B0503020204020204" pitchFamily="34" charset="-122"/>
              <a:ea typeface="微软雅黑" panose="020B0503020204020204" pitchFamily="34" charset="-122"/>
            </a:endParaRPr>
          </a:p>
          <a:p>
            <a:pPr lvl="1" fontAlgn="base"/>
            <a:r>
              <a:rPr lang="zh-CN" altLang="en-US" sz="2800" dirty="0">
                <a:latin typeface="微软雅黑" panose="020B0503020204020204" pitchFamily="34" charset="-122"/>
                <a:ea typeface="微软雅黑" panose="020B0503020204020204" pitchFamily="34" charset="-122"/>
              </a:rPr>
              <a:t>雷达图：城市乡镇农村各年龄段文盲率对比（</a:t>
            </a:r>
            <a:r>
              <a:rPr lang="en-US" altLang="zh-CN" sz="2800" dirty="0">
                <a:latin typeface="微软雅黑" panose="020B0503020204020204" pitchFamily="34" charset="-122"/>
                <a:ea typeface="微软雅黑" panose="020B0503020204020204" pitchFamily="34" charset="-122"/>
              </a:rPr>
              <a:t>15-29</a:t>
            </a:r>
            <a:r>
              <a:rPr lang="zh-CN" altLang="en-US" sz="2800" dirty="0">
                <a:latin typeface="微软雅黑" panose="020B0503020204020204" pitchFamily="34" charset="-122"/>
                <a:ea typeface="微软雅黑" panose="020B0503020204020204" pitchFamily="34" charset="-122"/>
              </a:rPr>
              <a:t>岁、</a:t>
            </a:r>
            <a:r>
              <a:rPr lang="en-US" altLang="zh-CN" sz="2800" dirty="0">
                <a:latin typeface="微软雅黑" panose="020B0503020204020204" pitchFamily="34" charset="-122"/>
                <a:ea typeface="微软雅黑" panose="020B0503020204020204" pitchFamily="34" charset="-122"/>
              </a:rPr>
              <a:t>30-49</a:t>
            </a:r>
            <a:r>
              <a:rPr lang="zh-CN" altLang="en-US" sz="2800" dirty="0">
                <a:latin typeface="微软雅黑" panose="020B0503020204020204" pitchFamily="34" charset="-122"/>
                <a:ea typeface="微软雅黑" panose="020B0503020204020204" pitchFamily="34" charset="-122"/>
              </a:rPr>
              <a:t>岁、</a:t>
            </a:r>
            <a:r>
              <a:rPr lang="en-US" altLang="zh-CN" sz="2800" dirty="0">
                <a:latin typeface="微软雅黑" panose="020B0503020204020204" pitchFamily="34" charset="-122"/>
                <a:ea typeface="微软雅黑" panose="020B0503020204020204" pitchFamily="34" charset="-122"/>
              </a:rPr>
              <a:t>50-64</a:t>
            </a:r>
            <a:r>
              <a:rPr lang="zh-CN" altLang="en-US" sz="2800" dirty="0">
                <a:latin typeface="微软雅黑" panose="020B0503020204020204" pitchFamily="34" charset="-122"/>
                <a:ea typeface="微软雅黑" panose="020B0503020204020204" pitchFamily="34" charset="-122"/>
              </a:rPr>
              <a:t>岁、</a:t>
            </a:r>
            <a:r>
              <a:rPr lang="en-US" altLang="zh-CN" sz="2800" dirty="0">
                <a:latin typeface="微软雅黑" panose="020B0503020204020204" pitchFamily="34" charset="-122"/>
                <a:ea typeface="微软雅黑" panose="020B0503020204020204" pitchFamily="34" charset="-122"/>
              </a:rPr>
              <a:t>65-79</a:t>
            </a:r>
            <a:r>
              <a:rPr lang="zh-CN" altLang="en-US" sz="2800" dirty="0">
                <a:latin typeface="微软雅黑" panose="020B0503020204020204" pitchFamily="34" charset="-122"/>
                <a:ea typeface="微软雅黑" panose="020B0503020204020204" pitchFamily="34" charset="-122"/>
              </a:rPr>
              <a:t>岁、</a:t>
            </a:r>
            <a:r>
              <a:rPr lang="en-US" altLang="zh-CN" sz="2800" dirty="0">
                <a:latin typeface="微软雅黑" panose="020B0503020204020204" pitchFamily="34" charset="-122"/>
                <a:ea typeface="微软雅黑" panose="020B0503020204020204" pitchFamily="34" charset="-122"/>
              </a:rPr>
              <a:t>80</a:t>
            </a:r>
            <a:r>
              <a:rPr lang="zh-CN" altLang="en-US" sz="2800" dirty="0">
                <a:latin typeface="微软雅黑" panose="020B0503020204020204" pitchFamily="34" charset="-122"/>
                <a:ea typeface="微软雅黑" panose="020B0503020204020204" pitchFamily="34" charset="-122"/>
              </a:rPr>
              <a:t>岁以上）</a:t>
            </a:r>
            <a:endParaRPr lang="zh-CN" altLang="en-US" sz="2800"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7112635" y="0"/>
            <a:ext cx="5079365" cy="6872605"/>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12" name="Shape 9"/>
          <p:cNvSpPr/>
          <p:nvPr/>
        </p:nvSpPr>
        <p:spPr>
          <a:xfrm>
            <a:off x="7903528" y="3759041"/>
            <a:ext cx="12700" cy="812800"/>
          </a:xfrm>
          <a:custGeom>
            <a:avLst/>
            <a:gdLst/>
            <a:ahLst/>
            <a:cxnLst/>
            <a:rect l="l" t="t" r="r" b="b"/>
            <a:pathLst>
              <a:path w="12700" h="812800">
                <a:moveTo>
                  <a:pt x="0" y="0"/>
                </a:moveTo>
                <a:lnTo>
                  <a:pt x="12700" y="0"/>
                </a:lnTo>
                <a:lnTo>
                  <a:pt x="12700" y="812800"/>
                </a:lnTo>
                <a:lnTo>
                  <a:pt x="0" y="812800"/>
                </a:lnTo>
                <a:lnTo>
                  <a:pt x="0" y="0"/>
                </a:lnTo>
                <a:close/>
              </a:path>
            </a:pathLst>
          </a:custGeom>
          <a:solidFill>
            <a:srgbClr val="8FA7D0"/>
          </a:solidFill>
        </p:spPr>
        <p:txBody>
          <a:bodyPr/>
          <a:lstStyle/>
          <a:p>
            <a:endParaRPr lang="zh-CN" altLang="en-US"/>
          </a:p>
        </p:txBody>
      </p:sp>
      <p:sp>
        <p:nvSpPr>
          <p:cNvPr id="16" name="标题 15"/>
          <p:cNvSpPr>
            <a:spLocks noGrp="1"/>
          </p:cNvSpPr>
          <p:nvPr>
            <p:ph type="title"/>
          </p:nvPr>
        </p:nvSpPr>
        <p:spPr>
          <a:xfrm>
            <a:off x="868957" y="1"/>
            <a:ext cx="10515600" cy="812800"/>
          </a:xfrm>
        </p:spPr>
        <p:txBody>
          <a:bodyPr>
            <a:normAutofit fontScale="90000"/>
          </a:bodyPr>
          <a:lstStyle/>
          <a:p>
            <a:pPr algn="ctr"/>
            <a:r>
              <a:rPr lang="zh-CN" altLang="en-US" sz="28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网页展示</a:t>
            </a:r>
            <a:br>
              <a:rPr lang="en-US" altLang="zh-CN" sz="1200" dirty="0"/>
            </a:br>
            <a:endParaRPr lang="zh-CN" altLang="en-US" sz="2800" dirty="0"/>
          </a:p>
        </p:txBody>
      </p:sp>
      <p:pic>
        <p:nvPicPr>
          <p:cNvPr id="3" name="图片 2"/>
          <p:cNvPicPr>
            <a:picLocks noChangeAspect="1"/>
          </p:cNvPicPr>
          <p:nvPr/>
        </p:nvPicPr>
        <p:blipFill>
          <a:blip r:embed="rId2"/>
          <a:stretch>
            <a:fillRect/>
          </a:stretch>
        </p:blipFill>
        <p:spPr>
          <a:xfrm>
            <a:off x="0" y="381000"/>
            <a:ext cx="12192000" cy="6477000"/>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2"/>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nvPicPr>
        <p:blipFill>
          <a:blip r:embed="rId3"/>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nvPicPr>
        <p:blipFill>
          <a:blip r:embed="rId4"/>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nvPicPr>
        <p:blipFill>
          <a:blip r:embed="rId5">
            <a:alphaModFix amt="40000"/>
          </a:blip>
          <a:stretch>
            <a:fillRect/>
          </a:stretch>
        </p:blipFill>
        <p:spPr>
          <a:xfrm rot="16200000">
            <a:off x="10665460" y="-8255"/>
            <a:ext cx="262890" cy="1170305"/>
          </a:xfrm>
          <a:prstGeom prst="rect">
            <a:avLst/>
          </a:prstGeom>
        </p:spPr>
      </p:pic>
      <p:sp>
        <p:nvSpPr>
          <p:cNvPr id="7" name="Text 0"/>
          <p:cNvSpPr/>
          <p:nvPr/>
        </p:nvSpPr>
        <p:spPr>
          <a:xfrm>
            <a:off x="8197052" y="2654618"/>
            <a:ext cx="1618942" cy="1429544"/>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02</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itchFamily="34" charset="0"/>
                <a:ea typeface="MiSans" pitchFamily="34" charset="-122"/>
                <a:cs typeface="MiSans" pitchFamily="34" charset="-120"/>
              </a:rPr>
              <a:t>教育</a:t>
            </a:r>
            <a:r>
              <a:rPr lang="zh-CN" altLang="en-US" sz="3400" dirty="0">
                <a:solidFill>
                  <a:srgbClr val="0D0D0D"/>
                </a:solidFill>
                <a:latin typeface="MiSans" pitchFamily="34" charset="0"/>
                <a:ea typeface="MiSans" pitchFamily="34" charset="-122"/>
                <a:cs typeface="MiSans" pitchFamily="34" charset="-120"/>
              </a:rPr>
              <a:t>情况分析</a:t>
            </a:r>
            <a:endParaRPr lang="zh-CN" altLang="en-US" sz="3400" dirty="0">
              <a:solidFill>
                <a:srgbClr val="0D0D0D"/>
              </a:solidFill>
              <a:latin typeface="MiSans" pitchFamily="34" charset="0"/>
              <a:ea typeface="MiSans" pitchFamily="34" charset="-122"/>
              <a:cs typeface="MiSans" pitchFamily="34" charset="-120"/>
            </a:endParaRPr>
          </a:p>
          <a:p>
            <a:pPr>
              <a:lnSpc>
                <a:spcPct val="100000"/>
              </a:lnSpc>
            </a:pPr>
            <a:endParaRPr lang="en-US" sz="1600" dirty="0"/>
          </a:p>
        </p:txBody>
      </p:sp>
      <p:sp>
        <p:nvSpPr>
          <p:cNvPr id="9"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0" name="Shape 3"/>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1" name="Text 4"/>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5"/>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3" name="Text 6"/>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7"/>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5" name="Text 8"/>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9"/>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7" name="Text 10"/>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1"/>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9" name="Text 12"/>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1" name="Text 14"/>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2" name="Text 0"/>
          <p:cNvSpPr/>
          <p:nvPr/>
        </p:nvSpPr>
        <p:spPr>
          <a:xfrm>
            <a:off x="1287145" y="3846830"/>
            <a:ext cx="57277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——大众化</a:t>
            </a:r>
            <a:endParaRPr lang="en-US" sz="1600" dirty="0"/>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650875" y="879475"/>
            <a:ext cx="48641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人口基数决定教育体量</a:t>
            </a:r>
            <a:endParaRPr lang="en-US" sz="1600" dirty="0"/>
          </a:p>
        </p:txBody>
      </p:sp>
      <p:sp>
        <p:nvSpPr>
          <p:cNvPr id="4" name="Text 1"/>
          <p:cNvSpPr/>
          <p:nvPr/>
        </p:nvSpPr>
        <p:spPr>
          <a:xfrm>
            <a:off x="940435" y="2438400"/>
            <a:ext cx="3390265" cy="609600"/>
          </a:xfrm>
          <a:prstGeom prst="rect">
            <a:avLst/>
          </a:prstGeom>
          <a:noFill/>
        </p:spPr>
        <p:txBody>
          <a:bodyPr wrap="square" lIns="0" tIns="0" rIns="0" bIns="0" rtlCol="0" anchor="ctr"/>
          <a:lstStyle/>
          <a:p>
            <a:pPr>
              <a:lnSpc>
                <a:spcPct val="130000"/>
              </a:lnSpc>
            </a:pPr>
            <a:r>
              <a:rPr lang="en-US" sz="16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大省承载大压力，小省拥有小杠杆，</a:t>
            </a:r>
            <a:endParaRPr lang="en-US" sz="16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30000"/>
              </a:lnSpc>
            </a:pPr>
            <a:r>
              <a:rPr lang="en-US" sz="16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人口是教育资源配置的底色。</a:t>
            </a:r>
            <a:endParaRPr lang="en-US" sz="1600" dirty="0"/>
          </a:p>
        </p:txBody>
      </p:sp>
      <p:sp>
        <p:nvSpPr>
          <p:cNvPr id="5" name="Shape 2"/>
          <p:cNvSpPr/>
          <p:nvPr/>
        </p:nvSpPr>
        <p:spPr>
          <a:xfrm>
            <a:off x="254000" y="35560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7097E5">
              <a:alpha val="20000"/>
            </a:srgbClr>
          </a:solidFill>
        </p:spPr>
        <p:txBody>
          <a:bodyPr/>
          <a:lstStyle/>
          <a:p>
            <a:endParaRPr lang="zh-CN" altLang="en-US"/>
          </a:p>
        </p:txBody>
      </p:sp>
      <p:sp>
        <p:nvSpPr>
          <p:cNvPr id="6" name="Shape 3"/>
          <p:cNvSpPr/>
          <p:nvPr/>
        </p:nvSpPr>
        <p:spPr>
          <a:xfrm>
            <a:off x="349250" y="3683000"/>
            <a:ext cx="317500" cy="254000"/>
          </a:xfrm>
          <a:custGeom>
            <a:avLst/>
            <a:gdLst/>
            <a:ahLst/>
            <a:cxnLst/>
            <a:rect l="l" t="t" r="r" b="b"/>
            <a:pathLst>
              <a:path w="317500" h="254000">
                <a:moveTo>
                  <a:pt x="158750" y="7938"/>
                </a:moveTo>
                <a:cubicBezTo>
                  <a:pt x="187225" y="7938"/>
                  <a:pt x="210344" y="31056"/>
                  <a:pt x="210344" y="59531"/>
                </a:cubicBezTo>
                <a:cubicBezTo>
                  <a:pt x="210344" y="88007"/>
                  <a:pt x="187225" y="111125"/>
                  <a:pt x="158750" y="111125"/>
                </a:cubicBezTo>
                <a:cubicBezTo>
                  <a:pt x="130275" y="111125"/>
                  <a:pt x="107156" y="88007"/>
                  <a:pt x="107156" y="59531"/>
                </a:cubicBezTo>
                <a:cubicBezTo>
                  <a:pt x="107156" y="31056"/>
                  <a:pt x="130275" y="7938"/>
                  <a:pt x="158750" y="7938"/>
                </a:cubicBezTo>
                <a:close/>
                <a:moveTo>
                  <a:pt x="47625" y="43656"/>
                </a:moveTo>
                <a:cubicBezTo>
                  <a:pt x="67339" y="43656"/>
                  <a:pt x="83344" y="59661"/>
                  <a:pt x="83344" y="79375"/>
                </a:cubicBezTo>
                <a:cubicBezTo>
                  <a:pt x="83344" y="99089"/>
                  <a:pt x="67339" y="115094"/>
                  <a:pt x="47625" y="115094"/>
                </a:cubicBezTo>
                <a:cubicBezTo>
                  <a:pt x="27911" y="115094"/>
                  <a:pt x="11906" y="99089"/>
                  <a:pt x="11906" y="79375"/>
                </a:cubicBezTo>
                <a:cubicBezTo>
                  <a:pt x="11906" y="59661"/>
                  <a:pt x="27911" y="43656"/>
                  <a:pt x="47625" y="43656"/>
                </a:cubicBezTo>
                <a:close/>
                <a:moveTo>
                  <a:pt x="0" y="206375"/>
                </a:moveTo>
                <a:cubicBezTo>
                  <a:pt x="0" y="171301"/>
                  <a:pt x="28426" y="142875"/>
                  <a:pt x="63500" y="142875"/>
                </a:cubicBezTo>
                <a:cubicBezTo>
                  <a:pt x="69850" y="142875"/>
                  <a:pt x="76002" y="143818"/>
                  <a:pt x="81806" y="145554"/>
                </a:cubicBezTo>
                <a:cubicBezTo>
                  <a:pt x="65484" y="163810"/>
                  <a:pt x="55563" y="187920"/>
                  <a:pt x="55563" y="214313"/>
                </a:cubicBezTo>
                <a:lnTo>
                  <a:pt x="55563" y="222250"/>
                </a:lnTo>
                <a:cubicBezTo>
                  <a:pt x="55563" y="227905"/>
                  <a:pt x="56753" y="233263"/>
                  <a:pt x="58886" y="238125"/>
                </a:cubicBezTo>
                <a:lnTo>
                  <a:pt x="15875" y="238125"/>
                </a:lnTo>
                <a:cubicBezTo>
                  <a:pt x="7094" y="238125"/>
                  <a:pt x="0" y="231031"/>
                  <a:pt x="0" y="222250"/>
                </a:cubicBezTo>
                <a:lnTo>
                  <a:pt x="0" y="206375"/>
                </a:lnTo>
                <a:close/>
                <a:moveTo>
                  <a:pt x="258614" y="238125"/>
                </a:moveTo>
                <a:cubicBezTo>
                  <a:pt x="260747" y="233263"/>
                  <a:pt x="261937" y="227905"/>
                  <a:pt x="261937" y="222250"/>
                </a:cubicBezTo>
                <a:lnTo>
                  <a:pt x="261937" y="214313"/>
                </a:lnTo>
                <a:cubicBezTo>
                  <a:pt x="261937" y="187920"/>
                  <a:pt x="252016" y="163810"/>
                  <a:pt x="235694" y="145554"/>
                </a:cubicBezTo>
                <a:cubicBezTo>
                  <a:pt x="241498" y="143818"/>
                  <a:pt x="247650" y="142875"/>
                  <a:pt x="254000" y="142875"/>
                </a:cubicBezTo>
                <a:cubicBezTo>
                  <a:pt x="289074" y="142875"/>
                  <a:pt x="317500" y="171301"/>
                  <a:pt x="317500" y="206375"/>
                </a:cubicBezTo>
                <a:lnTo>
                  <a:pt x="317500" y="222250"/>
                </a:lnTo>
                <a:cubicBezTo>
                  <a:pt x="317500" y="231031"/>
                  <a:pt x="310406" y="238125"/>
                  <a:pt x="301625" y="238125"/>
                </a:cubicBezTo>
                <a:lnTo>
                  <a:pt x="258614" y="238125"/>
                </a:lnTo>
                <a:close/>
                <a:moveTo>
                  <a:pt x="234156" y="79375"/>
                </a:moveTo>
                <a:cubicBezTo>
                  <a:pt x="234156" y="59661"/>
                  <a:pt x="250161" y="43656"/>
                  <a:pt x="269875" y="43656"/>
                </a:cubicBezTo>
                <a:cubicBezTo>
                  <a:pt x="289589" y="43656"/>
                  <a:pt x="305594" y="59661"/>
                  <a:pt x="305594" y="79375"/>
                </a:cubicBezTo>
                <a:cubicBezTo>
                  <a:pt x="305594" y="99089"/>
                  <a:pt x="289589" y="115094"/>
                  <a:pt x="269875" y="115094"/>
                </a:cubicBezTo>
                <a:cubicBezTo>
                  <a:pt x="250161" y="115094"/>
                  <a:pt x="234156" y="99089"/>
                  <a:pt x="234156" y="79375"/>
                </a:cubicBezTo>
                <a:close/>
                <a:moveTo>
                  <a:pt x="79375" y="214313"/>
                </a:moveTo>
                <a:cubicBezTo>
                  <a:pt x="79375" y="170458"/>
                  <a:pt x="114895" y="134938"/>
                  <a:pt x="158750" y="134938"/>
                </a:cubicBezTo>
                <a:cubicBezTo>
                  <a:pt x="202605" y="134938"/>
                  <a:pt x="238125" y="170458"/>
                  <a:pt x="238125" y="214313"/>
                </a:cubicBezTo>
                <a:lnTo>
                  <a:pt x="238125" y="222250"/>
                </a:lnTo>
                <a:cubicBezTo>
                  <a:pt x="238125" y="231031"/>
                  <a:pt x="231031" y="238125"/>
                  <a:pt x="222250" y="238125"/>
                </a:cubicBezTo>
                <a:lnTo>
                  <a:pt x="95250" y="238125"/>
                </a:lnTo>
                <a:cubicBezTo>
                  <a:pt x="86469" y="238125"/>
                  <a:pt x="79375" y="231031"/>
                  <a:pt x="79375" y="222250"/>
                </a:cubicBezTo>
                <a:lnTo>
                  <a:pt x="79375" y="214313"/>
                </a:lnTo>
                <a:close/>
              </a:path>
            </a:pathLst>
          </a:custGeom>
          <a:solidFill>
            <a:srgbClr val="7097E5"/>
          </a:solidFill>
        </p:spPr>
        <p:txBody>
          <a:bodyPr/>
          <a:lstStyle/>
          <a:p>
            <a:endParaRPr lang="zh-CN" altLang="en-US"/>
          </a:p>
        </p:txBody>
      </p:sp>
      <p:sp>
        <p:nvSpPr>
          <p:cNvPr id="7" name="Text 4"/>
          <p:cNvSpPr/>
          <p:nvPr/>
        </p:nvSpPr>
        <p:spPr>
          <a:xfrm>
            <a:off x="914400" y="3505200"/>
            <a:ext cx="3416300" cy="355600"/>
          </a:xfrm>
          <a:prstGeom prst="rect">
            <a:avLst/>
          </a:prstGeom>
          <a:noFill/>
        </p:spPr>
        <p:txBody>
          <a:bodyPr wrap="square" lIns="0" tIns="0" rIns="0" bIns="0" rtlCol="0" anchor="ctr"/>
          <a:lstStyle/>
          <a:p>
            <a:pPr>
              <a:lnSpc>
                <a:spcPct val="130000"/>
              </a:lnSpc>
            </a:pPr>
            <a:r>
              <a:rPr lang="en-US" sz="18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广东、山东、河南</a:t>
            </a:r>
            <a:endParaRPr lang="en-US" sz="1600" dirty="0"/>
          </a:p>
        </p:txBody>
      </p:sp>
      <p:sp>
        <p:nvSpPr>
          <p:cNvPr id="8" name="Text 5"/>
          <p:cNvSpPr/>
          <p:nvPr/>
        </p:nvSpPr>
        <p:spPr>
          <a:xfrm>
            <a:off x="914400" y="3860800"/>
            <a:ext cx="3390900" cy="254000"/>
          </a:xfrm>
          <a:prstGeom prst="rect">
            <a:avLst/>
          </a:prstGeom>
          <a:noFill/>
        </p:spPr>
        <p:txBody>
          <a:bodyPr wrap="square" lIns="0" tIns="0" rIns="0" bIns="0" rtlCol="0" anchor="ctr"/>
          <a:lstStyle/>
          <a:p>
            <a:pP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人口均超 </a:t>
            </a:r>
            <a:r>
              <a:rPr lang="en-US" sz="14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9000万</a:t>
            </a: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，教育资源承载压力巨大</a:t>
            </a:r>
            <a:endParaRPr lang="en-US" sz="1600" dirty="0"/>
          </a:p>
        </p:txBody>
      </p:sp>
      <p:sp>
        <p:nvSpPr>
          <p:cNvPr id="9" name="Shape 6"/>
          <p:cNvSpPr/>
          <p:nvPr/>
        </p:nvSpPr>
        <p:spPr>
          <a:xfrm>
            <a:off x="254000" y="4368800"/>
            <a:ext cx="508000" cy="508000"/>
          </a:xfrm>
          <a:custGeom>
            <a:avLst/>
            <a:gdLst/>
            <a:ahLst/>
            <a:cxnLst/>
            <a:rect l="l" t="t" r="r" b="b"/>
            <a:pathLst>
              <a:path w="508000" h="508000">
                <a:moveTo>
                  <a:pt x="254000" y="0"/>
                </a:moveTo>
                <a:lnTo>
                  <a:pt x="254000" y="0"/>
                </a:lnTo>
                <a:cubicBezTo>
                  <a:pt x="394186" y="0"/>
                  <a:pt x="508000" y="113814"/>
                  <a:pt x="508000" y="254000"/>
                </a:cubicBezTo>
                <a:lnTo>
                  <a:pt x="508000" y="254000"/>
                </a:lnTo>
                <a:cubicBezTo>
                  <a:pt x="508000" y="394186"/>
                  <a:pt x="394186" y="508000"/>
                  <a:pt x="254000" y="508000"/>
                </a:cubicBezTo>
                <a:lnTo>
                  <a:pt x="254000" y="508000"/>
                </a:lnTo>
                <a:cubicBezTo>
                  <a:pt x="113814" y="508000"/>
                  <a:pt x="0" y="394186"/>
                  <a:pt x="0" y="254000"/>
                </a:cubicBezTo>
                <a:lnTo>
                  <a:pt x="0" y="254000"/>
                </a:lnTo>
                <a:cubicBezTo>
                  <a:pt x="0" y="113814"/>
                  <a:pt x="113814" y="0"/>
                  <a:pt x="254000" y="0"/>
                </a:cubicBezTo>
                <a:close/>
              </a:path>
            </a:pathLst>
          </a:custGeom>
          <a:solidFill>
            <a:srgbClr val="8FA7D0">
              <a:alpha val="20000"/>
            </a:srgbClr>
          </a:solidFill>
        </p:spPr>
        <p:txBody>
          <a:bodyPr/>
          <a:lstStyle/>
          <a:p>
            <a:endParaRPr lang="zh-CN" altLang="en-US"/>
          </a:p>
        </p:txBody>
      </p:sp>
      <p:sp>
        <p:nvSpPr>
          <p:cNvPr id="10" name="Shape 7"/>
          <p:cNvSpPr/>
          <p:nvPr/>
        </p:nvSpPr>
        <p:spPr>
          <a:xfrm>
            <a:off x="365125" y="4495800"/>
            <a:ext cx="285750" cy="254000"/>
          </a:xfrm>
          <a:custGeom>
            <a:avLst/>
            <a:gdLst/>
            <a:ahLst/>
            <a:cxnLst/>
            <a:rect l="l" t="t" r="r" b="b"/>
            <a:pathLst>
              <a:path w="285750" h="254000">
                <a:moveTo>
                  <a:pt x="127248" y="0"/>
                </a:moveTo>
                <a:cubicBezTo>
                  <a:pt x="134541" y="0"/>
                  <a:pt x="141238" y="4018"/>
                  <a:pt x="144711" y="10418"/>
                </a:cubicBezTo>
                <a:lnTo>
                  <a:pt x="251867" y="208855"/>
                </a:lnTo>
                <a:cubicBezTo>
                  <a:pt x="255191" y="215007"/>
                  <a:pt x="255042" y="222448"/>
                  <a:pt x="251470" y="228451"/>
                </a:cubicBezTo>
                <a:cubicBezTo>
                  <a:pt x="247898" y="234454"/>
                  <a:pt x="241399" y="238125"/>
                  <a:pt x="234454" y="238125"/>
                </a:cubicBezTo>
                <a:lnTo>
                  <a:pt x="20141" y="238125"/>
                </a:lnTo>
                <a:cubicBezTo>
                  <a:pt x="13146" y="238125"/>
                  <a:pt x="6697" y="234454"/>
                  <a:pt x="3125" y="228451"/>
                </a:cubicBezTo>
                <a:cubicBezTo>
                  <a:pt x="-446" y="222448"/>
                  <a:pt x="-595" y="215007"/>
                  <a:pt x="2729" y="208855"/>
                </a:cubicBezTo>
                <a:lnTo>
                  <a:pt x="109885" y="10418"/>
                </a:lnTo>
                <a:lnTo>
                  <a:pt x="111323" y="8136"/>
                </a:lnTo>
                <a:cubicBezTo>
                  <a:pt x="114945" y="3076"/>
                  <a:pt x="120848" y="0"/>
                  <a:pt x="127248" y="0"/>
                </a:cubicBezTo>
                <a:close/>
                <a:moveTo>
                  <a:pt x="84534" y="123974"/>
                </a:moveTo>
                <a:lnTo>
                  <a:pt x="97830" y="137269"/>
                </a:lnTo>
                <a:cubicBezTo>
                  <a:pt x="100905" y="140345"/>
                  <a:pt x="105966" y="140345"/>
                  <a:pt x="109041" y="137269"/>
                </a:cubicBezTo>
                <a:lnTo>
                  <a:pt x="130522" y="115788"/>
                </a:lnTo>
                <a:cubicBezTo>
                  <a:pt x="133499" y="112812"/>
                  <a:pt x="137517" y="111125"/>
                  <a:pt x="141734" y="111125"/>
                </a:cubicBezTo>
                <a:lnTo>
                  <a:pt x="162967" y="111125"/>
                </a:lnTo>
                <a:lnTo>
                  <a:pt x="127198" y="44896"/>
                </a:lnTo>
                <a:lnTo>
                  <a:pt x="84485" y="123974"/>
                </a:lnTo>
                <a:close/>
                <a:moveTo>
                  <a:pt x="246311" y="79375"/>
                </a:moveTo>
                <a:cubicBezTo>
                  <a:pt x="224406" y="79375"/>
                  <a:pt x="206623" y="61592"/>
                  <a:pt x="206623" y="39688"/>
                </a:cubicBezTo>
                <a:cubicBezTo>
                  <a:pt x="206623" y="17783"/>
                  <a:pt x="224406" y="0"/>
                  <a:pt x="246311" y="0"/>
                </a:cubicBezTo>
                <a:cubicBezTo>
                  <a:pt x="268215" y="0"/>
                  <a:pt x="285998" y="17783"/>
                  <a:pt x="285998" y="39688"/>
                </a:cubicBezTo>
                <a:cubicBezTo>
                  <a:pt x="285998" y="61592"/>
                  <a:pt x="268215" y="79375"/>
                  <a:pt x="246311" y="79375"/>
                </a:cubicBezTo>
                <a:close/>
              </a:path>
            </a:pathLst>
          </a:custGeom>
          <a:solidFill>
            <a:srgbClr val="8FA7D0"/>
          </a:solidFill>
        </p:spPr>
        <p:txBody>
          <a:bodyPr/>
          <a:lstStyle/>
          <a:p>
            <a:endParaRPr lang="zh-CN" altLang="en-US"/>
          </a:p>
        </p:txBody>
      </p:sp>
      <p:sp>
        <p:nvSpPr>
          <p:cNvPr id="11" name="Text 8"/>
          <p:cNvSpPr/>
          <p:nvPr/>
        </p:nvSpPr>
        <p:spPr>
          <a:xfrm>
            <a:off x="914400" y="4318000"/>
            <a:ext cx="3238500" cy="355600"/>
          </a:xfrm>
          <a:prstGeom prst="rect">
            <a:avLst/>
          </a:prstGeom>
          <a:noFill/>
        </p:spPr>
        <p:txBody>
          <a:bodyPr wrap="square" lIns="0" tIns="0" rIns="0" bIns="0" rtlCol="0" anchor="ctr"/>
          <a:lstStyle/>
          <a:p>
            <a:pPr>
              <a:lnSpc>
                <a:spcPct val="130000"/>
              </a:lnSpc>
            </a:pPr>
            <a:r>
              <a:rPr lang="en-US" sz="18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西藏、青海</a:t>
            </a:r>
            <a:endParaRPr lang="en-US" sz="1600" dirty="0"/>
          </a:p>
        </p:txBody>
      </p:sp>
      <p:sp>
        <p:nvSpPr>
          <p:cNvPr id="12" name="Text 9"/>
          <p:cNvSpPr/>
          <p:nvPr/>
        </p:nvSpPr>
        <p:spPr>
          <a:xfrm>
            <a:off x="914400" y="4673600"/>
            <a:ext cx="3213100" cy="254000"/>
          </a:xfrm>
          <a:prstGeom prst="rect">
            <a:avLst/>
          </a:prstGeom>
          <a:noFill/>
        </p:spPr>
        <p:txBody>
          <a:bodyPr wrap="square" lIns="0" tIns="0" rIns="0" bIns="0" rtlCol="0" anchor="ctr"/>
          <a:lstStyle/>
          <a:p>
            <a:pP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人口不足 </a:t>
            </a:r>
            <a:r>
              <a:rPr lang="en-US" sz="14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1000万</a:t>
            </a: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，人均资源提升潜力大</a:t>
            </a:r>
            <a:endParaRPr lang="en-US" sz="1600" dirty="0"/>
          </a:p>
        </p:txBody>
      </p:sp>
      <p:pic>
        <p:nvPicPr>
          <p:cNvPr id="13" name="Image 1" descr="https://statics.moonshot.cn/kimi-ppt/html-gen/static/image-error.png"/>
          <p:cNvPicPr>
            <a:picLocks noChangeAspect="1"/>
          </p:cNvPicPr>
          <p:nvPr/>
        </p:nvPicPr>
        <p:blipFill>
          <a:blip r:embed="rId2"/>
          <a:stretch>
            <a:fillRect/>
          </a:stretch>
        </p:blipFill>
        <p:spPr>
          <a:xfrm>
            <a:off x="5130800" y="457200"/>
            <a:ext cx="6604000" cy="5943600"/>
          </a:xfrm>
          <a:prstGeom prst="roundRect">
            <a:avLst>
              <a:gd name="adj" fmla="val 1709"/>
            </a:avLst>
          </a:prstGeom>
        </p:spPr>
      </p:pic>
      <p:pic>
        <p:nvPicPr>
          <p:cNvPr id="14" name="图片 13"/>
          <p:cNvPicPr>
            <a:picLocks noChangeAspect="1"/>
          </p:cNvPicPr>
          <p:nvPr/>
        </p:nvPicPr>
        <p:blipFill>
          <a:blip r:embed="rId3"/>
          <a:srcRect r="-1974" b="68794"/>
          <a:stretch>
            <a:fillRect/>
          </a:stretch>
        </p:blipFill>
        <p:spPr>
          <a:xfrm>
            <a:off x="4817110" y="2651125"/>
            <a:ext cx="6129020" cy="2994660"/>
          </a:xfrm>
          <a:prstGeom prst="rect">
            <a:avLst/>
          </a:prstGeom>
        </p:spPr>
      </p:pic>
      <p:grpSp>
        <p:nvGrpSpPr>
          <p:cNvPr id="16" name="组合 15"/>
          <p:cNvGrpSpPr/>
          <p:nvPr/>
        </p:nvGrpSpPr>
        <p:grpSpPr>
          <a:xfrm>
            <a:off x="5149850" y="1336675"/>
            <a:ext cx="1905000" cy="1117600"/>
            <a:chOff x="3481" y="4080"/>
            <a:chExt cx="3000" cy="1760"/>
          </a:xfrm>
        </p:grpSpPr>
        <p:sp>
          <p:nvSpPr>
            <p:cNvPr id="15" name="Shape 2"/>
            <p:cNvSpPr/>
            <p:nvPr/>
          </p:nvSpPr>
          <p:spPr>
            <a:xfrm>
              <a:off x="4381" y="4080"/>
              <a:ext cx="1200" cy="960"/>
            </a:xfrm>
            <a:custGeom>
              <a:avLst/>
              <a:gdLst/>
              <a:ahLst/>
              <a:cxnLst/>
              <a:rect l="l" t="t" r="r" b="b"/>
              <a:pathLst>
                <a:path w="762000" h="609600">
                  <a:moveTo>
                    <a:pt x="381000" y="19050"/>
                  </a:moveTo>
                  <a:cubicBezTo>
                    <a:pt x="449341" y="19050"/>
                    <a:pt x="504825" y="74534"/>
                    <a:pt x="504825" y="142875"/>
                  </a:cubicBezTo>
                  <a:cubicBezTo>
                    <a:pt x="504825" y="211216"/>
                    <a:pt x="449341" y="266700"/>
                    <a:pt x="381000" y="266700"/>
                  </a:cubicBezTo>
                  <a:cubicBezTo>
                    <a:pt x="312659" y="266700"/>
                    <a:pt x="257175" y="211216"/>
                    <a:pt x="257175" y="142875"/>
                  </a:cubicBezTo>
                  <a:cubicBezTo>
                    <a:pt x="257175" y="74534"/>
                    <a:pt x="312659" y="19050"/>
                    <a:pt x="381000" y="19050"/>
                  </a:cubicBezTo>
                  <a:close/>
                  <a:moveTo>
                    <a:pt x="114300" y="104775"/>
                  </a:moveTo>
                  <a:cubicBezTo>
                    <a:pt x="161613" y="104775"/>
                    <a:pt x="200025" y="143187"/>
                    <a:pt x="200025" y="190500"/>
                  </a:cubicBezTo>
                  <a:cubicBezTo>
                    <a:pt x="200025" y="237813"/>
                    <a:pt x="161613" y="276225"/>
                    <a:pt x="114300" y="276225"/>
                  </a:cubicBezTo>
                  <a:cubicBezTo>
                    <a:pt x="66987" y="276225"/>
                    <a:pt x="28575" y="237813"/>
                    <a:pt x="28575" y="190500"/>
                  </a:cubicBezTo>
                  <a:cubicBezTo>
                    <a:pt x="28575" y="143187"/>
                    <a:pt x="66987" y="104775"/>
                    <a:pt x="114300" y="104775"/>
                  </a:cubicBezTo>
                  <a:close/>
                  <a:moveTo>
                    <a:pt x="0" y="495300"/>
                  </a:moveTo>
                  <a:cubicBezTo>
                    <a:pt x="0" y="411123"/>
                    <a:pt x="68223" y="342900"/>
                    <a:pt x="152400" y="342900"/>
                  </a:cubicBezTo>
                  <a:cubicBezTo>
                    <a:pt x="167640" y="342900"/>
                    <a:pt x="182404" y="345162"/>
                    <a:pt x="196334" y="349329"/>
                  </a:cubicBezTo>
                  <a:cubicBezTo>
                    <a:pt x="157163" y="393144"/>
                    <a:pt x="133350" y="451009"/>
                    <a:pt x="133350" y="514350"/>
                  </a:cubicBezTo>
                  <a:lnTo>
                    <a:pt x="133350" y="533400"/>
                  </a:lnTo>
                  <a:cubicBezTo>
                    <a:pt x="133350" y="546973"/>
                    <a:pt x="136208" y="559832"/>
                    <a:pt x="141327" y="571500"/>
                  </a:cubicBezTo>
                  <a:lnTo>
                    <a:pt x="38100" y="571500"/>
                  </a:lnTo>
                  <a:cubicBezTo>
                    <a:pt x="17026" y="571500"/>
                    <a:pt x="0" y="554474"/>
                    <a:pt x="0" y="533400"/>
                  </a:cubicBezTo>
                  <a:lnTo>
                    <a:pt x="0" y="495300"/>
                  </a:lnTo>
                  <a:close/>
                  <a:moveTo>
                    <a:pt x="620673" y="571500"/>
                  </a:moveTo>
                  <a:cubicBezTo>
                    <a:pt x="625793" y="559832"/>
                    <a:pt x="628650" y="546973"/>
                    <a:pt x="628650" y="533400"/>
                  </a:cubicBezTo>
                  <a:lnTo>
                    <a:pt x="628650" y="514350"/>
                  </a:lnTo>
                  <a:cubicBezTo>
                    <a:pt x="628650" y="451009"/>
                    <a:pt x="604837" y="393144"/>
                    <a:pt x="565666" y="349329"/>
                  </a:cubicBezTo>
                  <a:cubicBezTo>
                    <a:pt x="579596" y="345162"/>
                    <a:pt x="594360" y="342900"/>
                    <a:pt x="609600" y="342900"/>
                  </a:cubicBezTo>
                  <a:cubicBezTo>
                    <a:pt x="693777" y="342900"/>
                    <a:pt x="762000" y="411123"/>
                    <a:pt x="762000" y="495300"/>
                  </a:cubicBezTo>
                  <a:lnTo>
                    <a:pt x="762000" y="533400"/>
                  </a:lnTo>
                  <a:cubicBezTo>
                    <a:pt x="762000" y="554474"/>
                    <a:pt x="744974" y="571500"/>
                    <a:pt x="723900" y="571500"/>
                  </a:cubicBezTo>
                  <a:lnTo>
                    <a:pt x="620673" y="571500"/>
                  </a:lnTo>
                  <a:close/>
                  <a:moveTo>
                    <a:pt x="561975" y="190500"/>
                  </a:moveTo>
                  <a:cubicBezTo>
                    <a:pt x="561975" y="143187"/>
                    <a:pt x="600387" y="104775"/>
                    <a:pt x="647700" y="104775"/>
                  </a:cubicBezTo>
                  <a:cubicBezTo>
                    <a:pt x="695013" y="104775"/>
                    <a:pt x="733425" y="143187"/>
                    <a:pt x="733425" y="190500"/>
                  </a:cubicBezTo>
                  <a:cubicBezTo>
                    <a:pt x="733425" y="237813"/>
                    <a:pt x="695013" y="276225"/>
                    <a:pt x="647700" y="276225"/>
                  </a:cubicBezTo>
                  <a:cubicBezTo>
                    <a:pt x="600387" y="276225"/>
                    <a:pt x="561975" y="237813"/>
                    <a:pt x="561975" y="190500"/>
                  </a:cubicBezTo>
                  <a:close/>
                  <a:moveTo>
                    <a:pt x="190500" y="514350"/>
                  </a:moveTo>
                  <a:cubicBezTo>
                    <a:pt x="190500" y="409099"/>
                    <a:pt x="275749" y="323850"/>
                    <a:pt x="381000" y="323850"/>
                  </a:cubicBezTo>
                  <a:cubicBezTo>
                    <a:pt x="486251" y="323850"/>
                    <a:pt x="571500" y="409099"/>
                    <a:pt x="571500" y="514350"/>
                  </a:cubicBezTo>
                  <a:lnTo>
                    <a:pt x="571500" y="533400"/>
                  </a:lnTo>
                  <a:cubicBezTo>
                    <a:pt x="571500" y="554474"/>
                    <a:pt x="554474" y="571500"/>
                    <a:pt x="533400" y="571500"/>
                  </a:cubicBezTo>
                  <a:lnTo>
                    <a:pt x="228600" y="571500"/>
                  </a:lnTo>
                  <a:cubicBezTo>
                    <a:pt x="207526" y="571500"/>
                    <a:pt x="190500" y="554474"/>
                    <a:pt x="190500" y="533400"/>
                  </a:cubicBezTo>
                  <a:lnTo>
                    <a:pt x="190500" y="514350"/>
                  </a:lnTo>
                  <a:close/>
                </a:path>
              </a:pathLst>
            </a:custGeom>
            <a:solidFill>
              <a:srgbClr val="5C7CB3"/>
            </a:solidFill>
          </p:spPr>
        </p:sp>
        <p:sp>
          <p:nvSpPr>
            <p:cNvPr id="17" name="Text 3"/>
            <p:cNvSpPr/>
            <p:nvPr/>
          </p:nvSpPr>
          <p:spPr>
            <a:xfrm>
              <a:off x="3481" y="5280"/>
              <a:ext cx="3000" cy="560"/>
            </a:xfrm>
            <a:prstGeom prst="rect">
              <a:avLst/>
            </a:prstGeom>
            <a:noFill/>
          </p:spPr>
          <p:txBody>
            <a:bodyPr wrap="square" lIns="0" tIns="0" rIns="0" bIns="0" rtlCol="0" anchor="ctr"/>
            <a:lstStyle/>
            <a:p>
              <a:pPr algn="ctr">
                <a:lnSpc>
                  <a:spcPct val="120000"/>
                </a:lnSpc>
              </a:pPr>
              <a:r>
                <a:rPr lang="en-US" sz="2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教育压力型大省</a:t>
              </a:r>
              <a:endParaRPr lang="en-US" sz="1600" dirty="0"/>
            </a:p>
          </p:txBody>
        </p:sp>
      </p:grpSp>
      <p:sp>
        <p:nvSpPr>
          <p:cNvPr id="18" name="Text 6"/>
          <p:cNvSpPr/>
          <p:nvPr/>
        </p:nvSpPr>
        <p:spPr>
          <a:xfrm>
            <a:off x="7524433" y="1831975"/>
            <a:ext cx="533400" cy="406400"/>
          </a:xfrm>
          <a:prstGeom prst="rect">
            <a:avLst/>
          </a:prstGeom>
          <a:noFill/>
        </p:spPr>
        <p:txBody>
          <a:bodyPr wrap="square" lIns="0" tIns="0" rIns="0" bIns="0" rtlCol="0" anchor="ctr"/>
          <a:lstStyle/>
          <a:p>
            <a:pPr>
              <a:lnSpc>
                <a:spcPct val="110000"/>
              </a:lnSpc>
            </a:pPr>
            <a:r>
              <a:rPr lang="en-US" sz="24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VS</a:t>
            </a:r>
            <a:endParaRPr lang="en-US" sz="1600" dirty="0"/>
          </a:p>
        </p:txBody>
      </p:sp>
      <p:grpSp>
        <p:nvGrpSpPr>
          <p:cNvPr id="19" name="组合 18"/>
          <p:cNvGrpSpPr/>
          <p:nvPr/>
        </p:nvGrpSpPr>
        <p:grpSpPr>
          <a:xfrm>
            <a:off x="8685530" y="1336675"/>
            <a:ext cx="1905000" cy="1117600"/>
            <a:chOff x="12718" y="4080"/>
            <a:chExt cx="3000" cy="1760"/>
          </a:xfrm>
        </p:grpSpPr>
        <p:sp>
          <p:nvSpPr>
            <p:cNvPr id="20" name="Shape 9"/>
            <p:cNvSpPr/>
            <p:nvPr/>
          </p:nvSpPr>
          <p:spPr>
            <a:xfrm>
              <a:off x="13678" y="4080"/>
              <a:ext cx="1080" cy="960"/>
            </a:xfrm>
            <a:custGeom>
              <a:avLst/>
              <a:gdLst/>
              <a:ahLst/>
              <a:cxnLst/>
              <a:rect l="l" t="t" r="r" b="b"/>
              <a:pathLst>
                <a:path w="685800" h="609600">
                  <a:moveTo>
                    <a:pt x="305395" y="0"/>
                  </a:moveTo>
                  <a:cubicBezTo>
                    <a:pt x="322898" y="0"/>
                    <a:pt x="338971" y="9644"/>
                    <a:pt x="347305" y="25003"/>
                  </a:cubicBezTo>
                  <a:lnTo>
                    <a:pt x="604480" y="501253"/>
                  </a:lnTo>
                  <a:cubicBezTo>
                    <a:pt x="612457" y="516017"/>
                    <a:pt x="612100" y="533876"/>
                    <a:pt x="603528" y="548283"/>
                  </a:cubicBezTo>
                  <a:cubicBezTo>
                    <a:pt x="594955" y="562689"/>
                    <a:pt x="579358" y="571500"/>
                    <a:pt x="562689" y="571500"/>
                  </a:cubicBezTo>
                  <a:lnTo>
                    <a:pt x="48339" y="571500"/>
                  </a:lnTo>
                  <a:cubicBezTo>
                    <a:pt x="31552" y="571500"/>
                    <a:pt x="16073" y="562689"/>
                    <a:pt x="7501" y="548283"/>
                  </a:cubicBezTo>
                  <a:cubicBezTo>
                    <a:pt x="-1072" y="533876"/>
                    <a:pt x="-1429" y="516017"/>
                    <a:pt x="6548" y="501253"/>
                  </a:cubicBezTo>
                  <a:lnTo>
                    <a:pt x="263723" y="25003"/>
                  </a:lnTo>
                  <a:lnTo>
                    <a:pt x="267176" y="19526"/>
                  </a:lnTo>
                  <a:cubicBezTo>
                    <a:pt x="275868" y="7382"/>
                    <a:pt x="290036" y="0"/>
                    <a:pt x="305395" y="0"/>
                  </a:cubicBezTo>
                  <a:close/>
                  <a:moveTo>
                    <a:pt x="202883" y="297537"/>
                  </a:moveTo>
                  <a:lnTo>
                    <a:pt x="234791" y="329446"/>
                  </a:lnTo>
                  <a:cubicBezTo>
                    <a:pt x="242173" y="336828"/>
                    <a:pt x="254318" y="336828"/>
                    <a:pt x="261699" y="329446"/>
                  </a:cubicBezTo>
                  <a:lnTo>
                    <a:pt x="313253" y="277892"/>
                  </a:lnTo>
                  <a:cubicBezTo>
                    <a:pt x="320397" y="270748"/>
                    <a:pt x="330041" y="266700"/>
                    <a:pt x="340162" y="266700"/>
                  </a:cubicBezTo>
                  <a:lnTo>
                    <a:pt x="391120" y="266700"/>
                  </a:lnTo>
                  <a:lnTo>
                    <a:pt x="305276" y="107752"/>
                  </a:lnTo>
                  <a:lnTo>
                    <a:pt x="202763" y="297537"/>
                  </a:lnTo>
                  <a:close/>
                  <a:moveTo>
                    <a:pt x="591145" y="190500"/>
                  </a:moveTo>
                  <a:cubicBezTo>
                    <a:pt x="538575" y="190500"/>
                    <a:pt x="495895" y="147820"/>
                    <a:pt x="495895" y="95250"/>
                  </a:cubicBezTo>
                  <a:cubicBezTo>
                    <a:pt x="495895" y="42680"/>
                    <a:pt x="538575" y="0"/>
                    <a:pt x="591145" y="0"/>
                  </a:cubicBezTo>
                  <a:cubicBezTo>
                    <a:pt x="643715" y="0"/>
                    <a:pt x="686395" y="42680"/>
                    <a:pt x="686395" y="95250"/>
                  </a:cubicBezTo>
                  <a:cubicBezTo>
                    <a:pt x="686395" y="147820"/>
                    <a:pt x="643715" y="190500"/>
                    <a:pt x="591145" y="190500"/>
                  </a:cubicBezTo>
                  <a:close/>
                </a:path>
              </a:pathLst>
            </a:custGeom>
            <a:solidFill>
              <a:srgbClr val="8FA7D0"/>
            </a:solidFill>
          </p:spPr>
        </p:sp>
        <p:sp>
          <p:nvSpPr>
            <p:cNvPr id="21" name="Text 10"/>
            <p:cNvSpPr/>
            <p:nvPr/>
          </p:nvSpPr>
          <p:spPr>
            <a:xfrm>
              <a:off x="12718" y="5280"/>
              <a:ext cx="3000" cy="560"/>
            </a:xfrm>
            <a:prstGeom prst="rect">
              <a:avLst/>
            </a:prstGeom>
            <a:noFill/>
          </p:spPr>
          <p:txBody>
            <a:bodyPr wrap="square" lIns="0" tIns="0" rIns="0" bIns="0" rtlCol="0" anchor="ctr"/>
            <a:lstStyle/>
            <a:p>
              <a:pPr algn="ctr">
                <a:lnSpc>
                  <a:spcPct val="120000"/>
                </a:lnSpc>
              </a:pPr>
              <a:r>
                <a:rPr lang="en-US" sz="20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教育潜力型省份</a:t>
              </a:r>
              <a:endParaRPr lang="en-US" sz="1600" dirty="0"/>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750" fill="hold">
                                          <p:stCondLst>
                                            <p:cond delay="0"/>
                                          </p:stCondLst>
                                        </p:cTn>
                                        <p:tgtEl>
                                          <p:spTgt spid="18"/>
                                        </p:tgtEl>
                                        <p:attrNameLst>
                                          <p:attrName>style.visibility</p:attrName>
                                        </p:attrNameLst>
                                      </p:cBhvr>
                                      <p:to>
                                        <p:strVal val="visible"/>
                                      </p:to>
                                    </p:set>
                                    <p:animEffect transition="in" filter="diamond(in)">
                                      <p:cBhvr>
                                        <p:cTn id="7" dur="750"/>
                                        <p:tgtEl>
                                          <p:spTgt spid="18"/>
                                        </p:tgtEl>
                                      </p:cBhvr>
                                    </p:animEffect>
                                  </p:childTnLst>
                                </p:cTn>
                              </p:par>
                              <p:par>
                                <p:cTn id="8" presetID="3" presetClass="entr" presetSubtype="5" fill="hold" nodeType="withEffect">
                                  <p:stCondLst>
                                    <p:cond delay="0"/>
                                  </p:stCondLst>
                                  <p:childTnLst>
                                    <p:set>
                                      <p:cBhvr>
                                        <p:cTn id="9" dur="750" fill="hold">
                                          <p:stCondLst>
                                            <p:cond delay="0"/>
                                          </p:stCondLst>
                                        </p:cTn>
                                        <p:tgtEl>
                                          <p:spTgt spid="14"/>
                                        </p:tgtEl>
                                        <p:attrNameLst>
                                          <p:attrName>style.visibility</p:attrName>
                                        </p:attrNameLst>
                                      </p:cBhvr>
                                      <p:to>
                                        <p:strVal val="visible"/>
                                      </p:to>
                                    </p:set>
                                    <p:animEffect transition="in" filter="blinds(vertical)">
                                      <p:cBhvr>
                                        <p:cTn id="10" dur="7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368300" y="535944"/>
            <a:ext cx="57277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高等教育大众化“中国速度”</a:t>
            </a:r>
            <a:endParaRPr lang="en-US" sz="1600" dirty="0"/>
          </a:p>
        </p:txBody>
      </p:sp>
      <p:sp>
        <p:nvSpPr>
          <p:cNvPr id="4" name="Text 1"/>
          <p:cNvSpPr/>
          <p:nvPr/>
        </p:nvSpPr>
        <p:spPr>
          <a:xfrm>
            <a:off x="477479" y="1331353"/>
            <a:ext cx="4900766" cy="1782844"/>
          </a:xfrm>
          <a:prstGeom prst="rect">
            <a:avLst/>
          </a:prstGeom>
          <a:noFill/>
        </p:spPr>
        <p:txBody>
          <a:bodyPr wrap="square" lIns="0" tIns="0" rIns="0" bIns="0" rtlCol="0" anchor="ctr"/>
          <a:lstStyle/>
          <a:p>
            <a:pPr>
              <a:lnSpc>
                <a:spcPct val="130000"/>
              </a:lnSpc>
            </a:pPr>
            <a:endParaRPr lang="en-US" b="1" dirty="0">
              <a:latin typeface="微软雅黑" panose="020B0503020204020204" pitchFamily="34" charset="-122"/>
              <a:ea typeface="微软雅黑" panose="020B0503020204020204" pitchFamily="34" charset="-122"/>
            </a:endParaRPr>
          </a:p>
        </p:txBody>
      </p:sp>
      <p:sp>
        <p:nvSpPr>
          <p:cNvPr id="5" name="Text 2"/>
          <p:cNvSpPr/>
          <p:nvPr/>
        </p:nvSpPr>
        <p:spPr>
          <a:xfrm>
            <a:off x="177800" y="3292001"/>
            <a:ext cx="1371600" cy="406400"/>
          </a:xfrm>
          <a:prstGeom prst="rect">
            <a:avLst/>
          </a:prstGeom>
          <a:noFill/>
        </p:spPr>
        <p:txBody>
          <a:bodyPr wrap="square" lIns="0" tIns="0" rIns="0" bIns="0" rtlCol="0" anchor="ctr"/>
          <a:lstStyle/>
          <a:p>
            <a:pPr algn="ctr">
              <a:lnSpc>
                <a:spcPct val="110000"/>
              </a:lnSpc>
            </a:pPr>
            <a:r>
              <a:rPr lang="en-US" sz="24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六普</a:t>
            </a:r>
            <a:endParaRPr lang="en-US" sz="1600" dirty="0"/>
          </a:p>
        </p:txBody>
      </p:sp>
      <p:sp>
        <p:nvSpPr>
          <p:cNvPr id="6" name="Shape 3"/>
          <p:cNvSpPr/>
          <p:nvPr/>
        </p:nvSpPr>
        <p:spPr>
          <a:xfrm>
            <a:off x="1676400" y="3469639"/>
            <a:ext cx="2692400" cy="50800"/>
          </a:xfrm>
          <a:custGeom>
            <a:avLst/>
            <a:gdLst/>
            <a:ahLst/>
            <a:cxnLst/>
            <a:rect l="l" t="t" r="r" b="b"/>
            <a:pathLst>
              <a:path w="2692400" h="50800">
                <a:moveTo>
                  <a:pt x="25400" y="0"/>
                </a:moveTo>
                <a:lnTo>
                  <a:pt x="2667000" y="0"/>
                </a:lnTo>
                <a:cubicBezTo>
                  <a:pt x="2681019" y="0"/>
                  <a:pt x="2692400" y="11381"/>
                  <a:pt x="2692400" y="25400"/>
                </a:cubicBezTo>
                <a:lnTo>
                  <a:pt x="2692400" y="25400"/>
                </a:lnTo>
                <a:cubicBezTo>
                  <a:pt x="2692400" y="39419"/>
                  <a:pt x="2681019" y="50800"/>
                  <a:pt x="2667000" y="50800"/>
                </a:cubicBezTo>
                <a:lnTo>
                  <a:pt x="25400" y="50800"/>
                </a:lnTo>
                <a:cubicBezTo>
                  <a:pt x="11381" y="50800"/>
                  <a:pt x="0" y="39419"/>
                  <a:pt x="0" y="25400"/>
                </a:cubicBezTo>
                <a:lnTo>
                  <a:pt x="0" y="25400"/>
                </a:lnTo>
                <a:cubicBezTo>
                  <a:pt x="0" y="11381"/>
                  <a:pt x="11381" y="0"/>
                  <a:pt x="25400" y="0"/>
                </a:cubicBezTo>
                <a:close/>
              </a:path>
            </a:pathLst>
          </a:custGeom>
          <a:solidFill>
            <a:srgbClr val="8FA7D0"/>
          </a:solidFill>
        </p:spPr>
        <p:txBody>
          <a:bodyPr/>
          <a:lstStyle/>
          <a:p>
            <a:endParaRPr lang="zh-CN" altLang="en-US"/>
          </a:p>
        </p:txBody>
      </p:sp>
      <p:sp>
        <p:nvSpPr>
          <p:cNvPr id="7" name="Text 4"/>
          <p:cNvSpPr/>
          <p:nvPr/>
        </p:nvSpPr>
        <p:spPr>
          <a:xfrm>
            <a:off x="4495800" y="3292001"/>
            <a:ext cx="1371600" cy="406400"/>
          </a:xfrm>
          <a:prstGeom prst="rect">
            <a:avLst/>
          </a:prstGeom>
          <a:noFill/>
        </p:spPr>
        <p:txBody>
          <a:bodyPr wrap="square" lIns="0" tIns="0" rIns="0" bIns="0" rtlCol="0" anchor="ctr"/>
          <a:lstStyle/>
          <a:p>
            <a:pPr algn="ctr">
              <a:lnSpc>
                <a:spcPct val="110000"/>
              </a:lnSpc>
            </a:pPr>
            <a:r>
              <a:rPr lang="en-US" sz="24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约1亿</a:t>
            </a:r>
            <a:endParaRPr lang="en-US" sz="1600" dirty="0"/>
          </a:p>
        </p:txBody>
      </p:sp>
      <p:sp>
        <p:nvSpPr>
          <p:cNvPr id="8" name="Text 5"/>
          <p:cNvSpPr/>
          <p:nvPr/>
        </p:nvSpPr>
        <p:spPr>
          <a:xfrm>
            <a:off x="177800" y="3901439"/>
            <a:ext cx="1371600" cy="406400"/>
          </a:xfrm>
          <a:prstGeom prst="rect">
            <a:avLst/>
          </a:prstGeom>
          <a:noFill/>
        </p:spPr>
        <p:txBody>
          <a:bodyPr wrap="square" lIns="0" tIns="0" rIns="0" bIns="0" rtlCol="0" anchor="ctr"/>
          <a:lstStyle/>
          <a:p>
            <a:pPr algn="ctr">
              <a:lnSpc>
                <a:spcPct val="110000"/>
              </a:lnSpc>
            </a:pPr>
            <a:r>
              <a:rPr lang="en-US" sz="24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七普</a:t>
            </a:r>
            <a:endParaRPr lang="en-US" sz="1600" dirty="0"/>
          </a:p>
        </p:txBody>
      </p:sp>
      <p:sp>
        <p:nvSpPr>
          <p:cNvPr id="9" name="Shape 6"/>
          <p:cNvSpPr/>
          <p:nvPr/>
        </p:nvSpPr>
        <p:spPr>
          <a:xfrm>
            <a:off x="1676400" y="4079081"/>
            <a:ext cx="2692400" cy="50800"/>
          </a:xfrm>
          <a:custGeom>
            <a:avLst/>
            <a:gdLst/>
            <a:ahLst/>
            <a:cxnLst/>
            <a:rect l="l" t="t" r="r" b="b"/>
            <a:pathLst>
              <a:path w="2692400" h="50800">
                <a:moveTo>
                  <a:pt x="25400" y="0"/>
                </a:moveTo>
                <a:lnTo>
                  <a:pt x="2667000" y="0"/>
                </a:lnTo>
                <a:cubicBezTo>
                  <a:pt x="2681019" y="0"/>
                  <a:pt x="2692400" y="11381"/>
                  <a:pt x="2692400" y="25400"/>
                </a:cubicBezTo>
                <a:lnTo>
                  <a:pt x="2692400" y="25400"/>
                </a:lnTo>
                <a:cubicBezTo>
                  <a:pt x="2692400" y="39419"/>
                  <a:pt x="2681019" y="50800"/>
                  <a:pt x="2667000" y="50800"/>
                </a:cubicBezTo>
                <a:lnTo>
                  <a:pt x="25400" y="50800"/>
                </a:lnTo>
                <a:cubicBezTo>
                  <a:pt x="11381" y="50800"/>
                  <a:pt x="0" y="39419"/>
                  <a:pt x="0" y="25400"/>
                </a:cubicBezTo>
                <a:lnTo>
                  <a:pt x="0" y="25400"/>
                </a:lnTo>
                <a:cubicBezTo>
                  <a:pt x="0" y="11381"/>
                  <a:pt x="11381" y="0"/>
                  <a:pt x="25400" y="0"/>
                </a:cubicBezTo>
                <a:close/>
              </a:path>
            </a:pathLst>
          </a:custGeom>
          <a:solidFill>
            <a:srgbClr val="5C7CB3"/>
          </a:solidFill>
        </p:spPr>
        <p:txBody>
          <a:bodyPr/>
          <a:lstStyle/>
          <a:p>
            <a:endParaRPr lang="zh-CN" altLang="en-US"/>
          </a:p>
        </p:txBody>
      </p:sp>
      <p:sp>
        <p:nvSpPr>
          <p:cNvPr id="10" name="Text 7"/>
          <p:cNvSpPr/>
          <p:nvPr/>
        </p:nvSpPr>
        <p:spPr>
          <a:xfrm>
            <a:off x="4495800" y="3901439"/>
            <a:ext cx="1371600" cy="406400"/>
          </a:xfrm>
          <a:prstGeom prst="rect">
            <a:avLst/>
          </a:prstGeom>
          <a:noFill/>
        </p:spPr>
        <p:txBody>
          <a:bodyPr wrap="square" lIns="0" tIns="0" rIns="0" bIns="0" rtlCol="0" anchor="ctr"/>
          <a:lstStyle/>
          <a:p>
            <a:pPr algn="ctr">
              <a:lnSpc>
                <a:spcPct val="110000"/>
              </a:lnSpc>
            </a:pPr>
            <a:r>
              <a:rPr lang="en-US" sz="24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超3亿</a:t>
            </a:r>
            <a:endParaRPr lang="en-US" sz="1600" dirty="0"/>
          </a:p>
        </p:txBody>
      </p:sp>
      <p:sp>
        <p:nvSpPr>
          <p:cNvPr id="11" name="Text 8"/>
          <p:cNvSpPr/>
          <p:nvPr/>
        </p:nvSpPr>
        <p:spPr>
          <a:xfrm>
            <a:off x="254000" y="4612481"/>
            <a:ext cx="5651500" cy="533400"/>
          </a:xfrm>
          <a:prstGeom prst="rect">
            <a:avLst/>
          </a:prstGeom>
          <a:noFill/>
        </p:spPr>
        <p:txBody>
          <a:bodyPr wrap="square" lIns="0" tIns="0" rIns="0" bIns="0" rtlCol="0" anchor="ctr"/>
          <a:lstStyle/>
          <a:p>
            <a:pPr>
              <a:lnSpc>
                <a:spcPct val="130000"/>
              </a:lnSpc>
            </a:pPr>
            <a:r>
              <a:rPr lang="en-US" sz="18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十年净增 </a:t>
            </a:r>
            <a:r>
              <a:rPr lang="en-US" sz="36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2亿</a:t>
            </a:r>
            <a:r>
              <a:rPr lang="en-US" sz="18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 本科人口</a:t>
            </a:r>
            <a:endParaRPr lang="en-US" sz="1600" dirty="0"/>
          </a:p>
        </p:txBody>
      </p:sp>
      <p:pic>
        <p:nvPicPr>
          <p:cNvPr id="13" name="图片 12" descr="图形用户界面, 地图&#10;&#10;AI 生成的内容可能不正确。">
            <a:hlinkClick r:id="rId2" action="ppaction://hlinkfile"/>
          </p:cNvPr>
          <p:cNvPicPr/>
          <p:nvPr/>
        </p:nvPicPr>
        <p:blipFill>
          <a:blip r:embed="rId3">
            <a:extLst>
              <a:ext uri="{28A0092B-C50C-407E-A947-70E740481C1C}">
                <a14:useLocalDpi xmlns:a14="http://schemas.microsoft.com/office/drawing/2010/main" val="0"/>
              </a:ext>
            </a:extLst>
          </a:blip>
          <a:srcRect t="74700" r="71570" b="-1"/>
          <a:stretch>
            <a:fillRect/>
          </a:stretch>
        </p:blipFill>
        <p:spPr>
          <a:xfrm>
            <a:off x="5689602" y="1183801"/>
            <a:ext cx="6121398" cy="3428999"/>
          </a:xfrm>
          <a:prstGeom prst="rect">
            <a:avLst/>
          </a:prstGeom>
        </p:spPr>
      </p:pic>
      <p:sp>
        <p:nvSpPr>
          <p:cNvPr id="12" name="文本框 11"/>
          <p:cNvSpPr txBox="1"/>
          <p:nvPr/>
        </p:nvSpPr>
        <p:spPr>
          <a:xfrm>
            <a:off x="477520" y="1854835"/>
            <a:ext cx="4860290" cy="869315"/>
          </a:xfrm>
          <a:prstGeom prst="rect">
            <a:avLst/>
          </a:prstGeom>
        </p:spPr>
        <p:txBody>
          <a:bodyPr>
            <a:noAutofit/>
          </a:bodyPr>
          <a:lstStyle/>
          <a:p>
            <a:pPr marL="0" algn="l">
              <a:lnSpc>
                <a:spcPct val="130000"/>
              </a:lnSpc>
              <a:buClrTx/>
              <a:buSzTx/>
              <a:buNone/>
            </a:pPr>
            <a:r>
              <a:rPr lang="zh-CN" altLang="en-US" sz="1600" b="0" i="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过去十年，中国教育完成了从量变到质变的伟大征程</a:t>
            </a:r>
            <a:endParaRPr lang="zh-CN" altLang="en-US" sz="1600" b="0" i="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endParaRPr>
          </a:p>
        </p:txBody>
      </p:sp>
      <p:grpSp>
        <p:nvGrpSpPr>
          <p:cNvPr id="14" name="组合 13"/>
          <p:cNvGrpSpPr/>
          <p:nvPr/>
        </p:nvGrpSpPr>
        <p:grpSpPr>
          <a:xfrm>
            <a:off x="6213475" y="5298440"/>
            <a:ext cx="3886200" cy="762000"/>
            <a:chOff x="12480" y="6040"/>
            <a:chExt cx="6120" cy="1200"/>
          </a:xfrm>
        </p:grpSpPr>
        <p:sp>
          <p:nvSpPr>
            <p:cNvPr id="15" name="Text 6"/>
            <p:cNvSpPr/>
            <p:nvPr/>
          </p:nvSpPr>
          <p:spPr>
            <a:xfrm>
              <a:off x="12480" y="6040"/>
              <a:ext cx="3880" cy="1200"/>
            </a:xfrm>
            <a:prstGeom prst="rect">
              <a:avLst/>
            </a:prstGeom>
            <a:noFill/>
          </p:spPr>
          <p:txBody>
            <a:bodyPr wrap="square" lIns="0" tIns="0" rIns="0" bIns="0" rtlCol="0" anchor="ctr"/>
            <a:lstStyle/>
            <a:p>
              <a:pPr>
                <a:lnSpc>
                  <a:spcPct val="80000"/>
                </a:lnSpc>
              </a:pPr>
              <a:r>
                <a:rPr lang="en-US" sz="60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100%</a:t>
              </a:r>
              <a:endParaRPr lang="en-US" sz="1600" dirty="0"/>
            </a:p>
          </p:txBody>
        </p:sp>
        <p:sp>
          <p:nvSpPr>
            <p:cNvPr id="16" name="Text 7"/>
            <p:cNvSpPr/>
            <p:nvPr/>
          </p:nvSpPr>
          <p:spPr>
            <a:xfrm>
              <a:off x="16000" y="6360"/>
              <a:ext cx="2600" cy="560"/>
            </a:xfrm>
            <a:prstGeom prst="rect">
              <a:avLst/>
            </a:prstGeom>
            <a:noFill/>
          </p:spPr>
          <p:txBody>
            <a:bodyPr wrap="square" lIns="0" tIns="0" rIns="0" bIns="0" rtlCol="0" anchor="ctr"/>
            <a:lstStyle/>
            <a:p>
              <a:pPr>
                <a:lnSpc>
                  <a:spcPct val="120000"/>
                </a:lnSpc>
              </a:pPr>
              <a:r>
                <a:rPr lang="en-US" sz="2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义务教育覆盖</a:t>
              </a:r>
              <a:endParaRPr lang="en-US" sz="1600" dirty="0"/>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9" presetID="18" presetClass="entr" presetSubtype="12"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trips(downLeft)">
                                      <p:cBhvr>
                                        <p:cTn id="11" dur="500"/>
                                        <p:tgtEl>
                                          <p:spTgt spid="14"/>
                                        </p:tgtEl>
                                      </p:cBhvr>
                                    </p:animEffect>
                                  </p:childTnLst>
                                </p:cTn>
                              </p:par>
                              <p:par>
                                <p:cTn id="12" presetID="8" presetClass="entr" presetSubtype="16"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diamond(in)">
                                      <p:cBhvr>
                                        <p:cTn id="14"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2"/>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nvPicPr>
        <p:blipFill>
          <a:blip r:embed="rId3"/>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nvPicPr>
        <p:blipFill>
          <a:blip r:embed="rId4"/>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nvPicPr>
        <p:blipFill>
          <a:blip r:embed="rId5">
            <a:alphaModFix amt="40000"/>
          </a:blip>
          <a:stretch>
            <a:fillRect/>
          </a:stretch>
        </p:blipFill>
        <p:spPr>
          <a:xfrm rot="16200000">
            <a:off x="10665460" y="-8255"/>
            <a:ext cx="262890" cy="1170305"/>
          </a:xfrm>
          <a:prstGeom prst="rect">
            <a:avLst/>
          </a:prstGeom>
        </p:spPr>
      </p:pic>
      <p:sp>
        <p:nvSpPr>
          <p:cNvPr id="7" name="Text 0"/>
          <p:cNvSpPr/>
          <p:nvPr/>
        </p:nvSpPr>
        <p:spPr>
          <a:xfrm>
            <a:off x="8197052" y="2654618"/>
            <a:ext cx="1618942" cy="1429544"/>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02</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itchFamily="34" charset="0"/>
                <a:ea typeface="MiSans" pitchFamily="34" charset="-122"/>
                <a:cs typeface="MiSans" pitchFamily="34" charset="-120"/>
              </a:rPr>
              <a:t>教育</a:t>
            </a:r>
            <a:r>
              <a:rPr lang="zh-CN" altLang="en-US" sz="3400" dirty="0">
                <a:solidFill>
                  <a:srgbClr val="0D0D0D"/>
                </a:solidFill>
                <a:latin typeface="MiSans" pitchFamily="34" charset="0"/>
                <a:ea typeface="MiSans" pitchFamily="34" charset="-122"/>
                <a:cs typeface="MiSans" pitchFamily="34" charset="-120"/>
              </a:rPr>
              <a:t>情况分析</a:t>
            </a:r>
            <a:endParaRPr lang="zh-CN" altLang="en-US" sz="3400" dirty="0">
              <a:solidFill>
                <a:srgbClr val="0D0D0D"/>
              </a:solidFill>
              <a:latin typeface="MiSans" pitchFamily="34" charset="0"/>
              <a:ea typeface="MiSans" pitchFamily="34" charset="-122"/>
              <a:cs typeface="MiSans" pitchFamily="34" charset="-120"/>
            </a:endParaRPr>
          </a:p>
          <a:p>
            <a:pPr>
              <a:lnSpc>
                <a:spcPct val="100000"/>
              </a:lnSpc>
            </a:pPr>
            <a:endParaRPr lang="en-US" sz="1600" dirty="0"/>
          </a:p>
        </p:txBody>
      </p:sp>
      <p:sp>
        <p:nvSpPr>
          <p:cNvPr id="9"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0" name="Shape 3"/>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1" name="Text 4"/>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5"/>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3" name="Text 6"/>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7"/>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5" name="Text 8"/>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9"/>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7" name="Text 10"/>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1"/>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9" name="Text 12"/>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1" name="Text 14"/>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2" name="Text 0"/>
          <p:cNvSpPr/>
          <p:nvPr/>
        </p:nvSpPr>
        <p:spPr>
          <a:xfrm>
            <a:off x="1287145" y="3846830"/>
            <a:ext cx="57277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平衡</a:t>
            </a: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化</a:t>
            </a:r>
            <a:endParaRPr lang="en-US" sz="1600" dirty="0"/>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1005225" y="567690"/>
            <a:ext cx="32385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性别平等的里程碑</a:t>
            </a:r>
            <a:endParaRPr lang="en-US" sz="1600" dirty="0"/>
          </a:p>
        </p:txBody>
      </p:sp>
      <p:grpSp>
        <p:nvGrpSpPr>
          <p:cNvPr id="7" name="组合 6"/>
          <p:cNvGrpSpPr/>
          <p:nvPr/>
        </p:nvGrpSpPr>
        <p:grpSpPr>
          <a:xfrm>
            <a:off x="505460" y="1574800"/>
            <a:ext cx="3738245" cy="1238885"/>
            <a:chOff x="6556" y="3152"/>
            <a:chExt cx="5887" cy="1951"/>
          </a:xfrm>
        </p:grpSpPr>
        <p:sp>
          <p:nvSpPr>
            <p:cNvPr id="5" name="Shape 2"/>
            <p:cNvSpPr/>
            <p:nvPr/>
          </p:nvSpPr>
          <p:spPr>
            <a:xfrm>
              <a:off x="6556" y="3183"/>
              <a:ext cx="1920" cy="192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8FA7D0">
                <a:alpha val="20000"/>
              </a:srgbClr>
            </a:solidFill>
          </p:spPr>
          <p:txBody>
            <a:bodyPr/>
            <a:lstStyle/>
            <a:p>
              <a:endParaRPr lang="zh-CN" altLang="en-US"/>
            </a:p>
          </p:txBody>
        </p:sp>
        <p:sp>
          <p:nvSpPr>
            <p:cNvPr id="6" name="Shape 3"/>
            <p:cNvSpPr/>
            <p:nvPr/>
          </p:nvSpPr>
          <p:spPr>
            <a:xfrm>
              <a:off x="7156" y="3632"/>
              <a:ext cx="720" cy="960"/>
            </a:xfrm>
            <a:custGeom>
              <a:avLst/>
              <a:gdLst/>
              <a:ahLst/>
              <a:cxnLst/>
              <a:rect l="l" t="t" r="r" b="b"/>
              <a:pathLst>
                <a:path w="457200" h="609600">
                  <a:moveTo>
                    <a:pt x="161925" y="28575"/>
                  </a:moveTo>
                  <a:cubicBezTo>
                    <a:pt x="161925" y="-8224"/>
                    <a:pt x="191801" y="-38100"/>
                    <a:pt x="228600" y="-38100"/>
                  </a:cubicBezTo>
                  <a:cubicBezTo>
                    <a:pt x="265399" y="-38100"/>
                    <a:pt x="295275" y="-8224"/>
                    <a:pt x="295275" y="28575"/>
                  </a:cubicBezTo>
                  <a:cubicBezTo>
                    <a:pt x="295275" y="65374"/>
                    <a:pt x="265399" y="95250"/>
                    <a:pt x="228600" y="95250"/>
                  </a:cubicBezTo>
                  <a:cubicBezTo>
                    <a:pt x="191801" y="95250"/>
                    <a:pt x="161925" y="65374"/>
                    <a:pt x="161925" y="28575"/>
                  </a:cubicBezTo>
                  <a:close/>
                  <a:moveTo>
                    <a:pt x="133350" y="457200"/>
                  </a:moveTo>
                  <a:lnTo>
                    <a:pt x="102632" y="457200"/>
                  </a:lnTo>
                  <a:cubicBezTo>
                    <a:pt x="89654" y="457200"/>
                    <a:pt x="80486" y="444460"/>
                    <a:pt x="84534" y="432078"/>
                  </a:cubicBezTo>
                  <a:lnTo>
                    <a:pt x="135731" y="278487"/>
                  </a:lnTo>
                  <a:lnTo>
                    <a:pt x="78224" y="355997"/>
                  </a:lnTo>
                  <a:cubicBezTo>
                    <a:pt x="65723" y="372904"/>
                    <a:pt x="41791" y="376476"/>
                    <a:pt x="24884" y="363855"/>
                  </a:cubicBezTo>
                  <a:cubicBezTo>
                    <a:pt x="7977" y="351234"/>
                    <a:pt x="4405" y="327422"/>
                    <a:pt x="17026" y="310515"/>
                  </a:cubicBezTo>
                  <a:lnTo>
                    <a:pt x="100965" y="197406"/>
                  </a:lnTo>
                  <a:cubicBezTo>
                    <a:pt x="130969" y="157163"/>
                    <a:pt x="178237" y="133350"/>
                    <a:pt x="228600" y="133350"/>
                  </a:cubicBezTo>
                  <a:cubicBezTo>
                    <a:pt x="278963" y="133350"/>
                    <a:pt x="326231" y="157163"/>
                    <a:pt x="356235" y="197525"/>
                  </a:cubicBezTo>
                  <a:lnTo>
                    <a:pt x="440174" y="310634"/>
                  </a:lnTo>
                  <a:cubicBezTo>
                    <a:pt x="452676" y="327541"/>
                    <a:pt x="449223" y="351353"/>
                    <a:pt x="432316" y="363974"/>
                  </a:cubicBezTo>
                  <a:cubicBezTo>
                    <a:pt x="415409" y="376595"/>
                    <a:pt x="391597" y="373023"/>
                    <a:pt x="378976" y="356116"/>
                  </a:cubicBezTo>
                  <a:lnTo>
                    <a:pt x="321469" y="278606"/>
                  </a:lnTo>
                  <a:lnTo>
                    <a:pt x="372666" y="432078"/>
                  </a:lnTo>
                  <a:cubicBezTo>
                    <a:pt x="376833" y="444460"/>
                    <a:pt x="367546" y="457200"/>
                    <a:pt x="354568" y="457200"/>
                  </a:cubicBezTo>
                  <a:lnTo>
                    <a:pt x="323850" y="457200"/>
                  </a:lnTo>
                  <a:lnTo>
                    <a:pt x="323850" y="609600"/>
                  </a:lnTo>
                  <a:cubicBezTo>
                    <a:pt x="323850" y="630674"/>
                    <a:pt x="306824" y="647700"/>
                    <a:pt x="285750" y="647700"/>
                  </a:cubicBezTo>
                  <a:cubicBezTo>
                    <a:pt x="264676" y="647700"/>
                    <a:pt x="247650" y="630674"/>
                    <a:pt x="247650" y="609600"/>
                  </a:cubicBezTo>
                  <a:lnTo>
                    <a:pt x="247650" y="457200"/>
                  </a:lnTo>
                  <a:lnTo>
                    <a:pt x="209550" y="457200"/>
                  </a:lnTo>
                  <a:lnTo>
                    <a:pt x="209550" y="609600"/>
                  </a:lnTo>
                  <a:cubicBezTo>
                    <a:pt x="209550" y="630674"/>
                    <a:pt x="192524" y="647700"/>
                    <a:pt x="171450" y="647700"/>
                  </a:cubicBezTo>
                  <a:cubicBezTo>
                    <a:pt x="150376" y="647700"/>
                    <a:pt x="133350" y="630674"/>
                    <a:pt x="133350" y="609600"/>
                  </a:cubicBezTo>
                  <a:lnTo>
                    <a:pt x="133350" y="457200"/>
                  </a:lnTo>
                  <a:close/>
                </a:path>
              </a:pathLst>
            </a:custGeom>
            <a:solidFill>
              <a:srgbClr val="8FA7D0"/>
            </a:solidFill>
          </p:spPr>
          <p:txBody>
            <a:bodyPr/>
            <a:lstStyle/>
            <a:p>
              <a:endParaRPr lang="zh-CN" altLang="en-US"/>
            </a:p>
          </p:txBody>
        </p:sp>
        <p:sp>
          <p:nvSpPr>
            <p:cNvPr id="9" name="Text 6"/>
            <p:cNvSpPr/>
            <p:nvPr/>
          </p:nvSpPr>
          <p:spPr>
            <a:xfrm>
              <a:off x="9263" y="3718"/>
              <a:ext cx="1040" cy="960"/>
            </a:xfrm>
            <a:prstGeom prst="rect">
              <a:avLst/>
            </a:prstGeom>
            <a:noFill/>
          </p:spPr>
          <p:txBody>
            <a:bodyPr wrap="square" lIns="0" tIns="0" rIns="0" bIns="0" rtlCol="0" anchor="ctr"/>
            <a:lstStyle/>
            <a:p>
              <a:pPr>
                <a:lnSpc>
                  <a:spcPct val="80000"/>
                </a:lnSpc>
              </a:pPr>
              <a:r>
                <a:rPr lang="en-US" sz="48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10" name="Shape 7"/>
            <p:cNvSpPr/>
            <p:nvPr/>
          </p:nvSpPr>
          <p:spPr>
            <a:xfrm>
              <a:off x="10523" y="3152"/>
              <a:ext cx="1920" cy="1920"/>
            </a:xfrm>
            <a:custGeom>
              <a:avLst/>
              <a:gdLst/>
              <a:ahLst/>
              <a:cxnLst/>
              <a:rect l="l" t="t" r="r" b="b"/>
              <a:pathLst>
                <a:path w="1219200" h="1219200">
                  <a:moveTo>
                    <a:pt x="609600" y="0"/>
                  </a:moveTo>
                  <a:lnTo>
                    <a:pt x="609600" y="0"/>
                  </a:lnTo>
                  <a:cubicBezTo>
                    <a:pt x="946047" y="0"/>
                    <a:pt x="1219200" y="273153"/>
                    <a:pt x="1219200" y="609600"/>
                  </a:cubicBezTo>
                  <a:lnTo>
                    <a:pt x="1219200" y="609600"/>
                  </a:lnTo>
                  <a:cubicBezTo>
                    <a:pt x="1219200" y="946047"/>
                    <a:pt x="946047" y="1219200"/>
                    <a:pt x="609600" y="1219200"/>
                  </a:cubicBezTo>
                  <a:lnTo>
                    <a:pt x="609600" y="1219200"/>
                  </a:lnTo>
                  <a:cubicBezTo>
                    <a:pt x="273153" y="1219200"/>
                    <a:pt x="0" y="946047"/>
                    <a:pt x="0" y="609600"/>
                  </a:cubicBezTo>
                  <a:lnTo>
                    <a:pt x="0" y="609600"/>
                  </a:lnTo>
                  <a:cubicBezTo>
                    <a:pt x="0" y="273153"/>
                    <a:pt x="273153" y="0"/>
                    <a:pt x="609600" y="0"/>
                  </a:cubicBezTo>
                  <a:close/>
                </a:path>
              </a:pathLst>
            </a:custGeom>
            <a:solidFill>
              <a:srgbClr val="5C7CB3">
                <a:alpha val="20000"/>
              </a:srgbClr>
            </a:solidFill>
          </p:spPr>
          <p:txBody>
            <a:bodyPr/>
            <a:lstStyle/>
            <a:p>
              <a:endParaRPr lang="zh-CN" altLang="en-US"/>
            </a:p>
          </p:txBody>
        </p:sp>
        <p:sp>
          <p:nvSpPr>
            <p:cNvPr id="11" name="Shape 8"/>
            <p:cNvSpPr/>
            <p:nvPr/>
          </p:nvSpPr>
          <p:spPr>
            <a:xfrm>
              <a:off x="11123" y="3628"/>
              <a:ext cx="720" cy="960"/>
            </a:xfrm>
            <a:custGeom>
              <a:avLst/>
              <a:gdLst/>
              <a:ahLst/>
              <a:cxnLst/>
              <a:rect l="l" t="t" r="r" b="b"/>
              <a:pathLst>
                <a:path w="457200" h="609600">
                  <a:moveTo>
                    <a:pt x="295275" y="28575"/>
                  </a:moveTo>
                  <a:cubicBezTo>
                    <a:pt x="295275" y="-8224"/>
                    <a:pt x="265399" y="-38100"/>
                    <a:pt x="228600" y="-38100"/>
                  </a:cubicBezTo>
                  <a:cubicBezTo>
                    <a:pt x="191801" y="-38100"/>
                    <a:pt x="161925" y="-8224"/>
                    <a:pt x="161925" y="28575"/>
                  </a:cubicBezTo>
                  <a:cubicBezTo>
                    <a:pt x="161925" y="65374"/>
                    <a:pt x="191801" y="95250"/>
                    <a:pt x="228600" y="95250"/>
                  </a:cubicBezTo>
                  <a:cubicBezTo>
                    <a:pt x="265399" y="95250"/>
                    <a:pt x="295275" y="65374"/>
                    <a:pt x="295275" y="28575"/>
                  </a:cubicBezTo>
                  <a:close/>
                  <a:moveTo>
                    <a:pt x="323850" y="281821"/>
                  </a:moveTo>
                  <a:lnTo>
                    <a:pt x="378976" y="356116"/>
                  </a:lnTo>
                  <a:cubicBezTo>
                    <a:pt x="391478" y="373023"/>
                    <a:pt x="415409" y="376595"/>
                    <a:pt x="432316" y="363974"/>
                  </a:cubicBezTo>
                  <a:cubicBezTo>
                    <a:pt x="449223" y="351353"/>
                    <a:pt x="452795" y="327541"/>
                    <a:pt x="440174" y="310634"/>
                  </a:cubicBezTo>
                  <a:lnTo>
                    <a:pt x="356235" y="197525"/>
                  </a:lnTo>
                  <a:cubicBezTo>
                    <a:pt x="326231" y="157163"/>
                    <a:pt x="278963" y="133350"/>
                    <a:pt x="228600" y="133350"/>
                  </a:cubicBezTo>
                  <a:cubicBezTo>
                    <a:pt x="178237" y="133350"/>
                    <a:pt x="130969" y="157163"/>
                    <a:pt x="100965" y="197525"/>
                  </a:cubicBezTo>
                  <a:lnTo>
                    <a:pt x="17026" y="310634"/>
                  </a:lnTo>
                  <a:cubicBezTo>
                    <a:pt x="4524" y="327541"/>
                    <a:pt x="7977" y="351353"/>
                    <a:pt x="24884" y="363974"/>
                  </a:cubicBezTo>
                  <a:cubicBezTo>
                    <a:pt x="41791" y="376595"/>
                    <a:pt x="65603" y="373023"/>
                    <a:pt x="78224" y="356116"/>
                  </a:cubicBezTo>
                  <a:lnTo>
                    <a:pt x="133350" y="281821"/>
                  </a:lnTo>
                  <a:lnTo>
                    <a:pt x="133350" y="609600"/>
                  </a:lnTo>
                  <a:cubicBezTo>
                    <a:pt x="133350" y="630674"/>
                    <a:pt x="150376" y="647700"/>
                    <a:pt x="171450" y="647700"/>
                  </a:cubicBezTo>
                  <a:cubicBezTo>
                    <a:pt x="192524" y="647700"/>
                    <a:pt x="209550" y="630674"/>
                    <a:pt x="209550" y="609600"/>
                  </a:cubicBezTo>
                  <a:lnTo>
                    <a:pt x="209550" y="419100"/>
                  </a:lnTo>
                  <a:cubicBezTo>
                    <a:pt x="209550" y="408623"/>
                    <a:pt x="218123" y="400050"/>
                    <a:pt x="228600" y="400050"/>
                  </a:cubicBezTo>
                  <a:cubicBezTo>
                    <a:pt x="239078" y="400050"/>
                    <a:pt x="247650" y="408623"/>
                    <a:pt x="247650" y="419100"/>
                  </a:cubicBezTo>
                  <a:lnTo>
                    <a:pt x="247650" y="609600"/>
                  </a:lnTo>
                  <a:cubicBezTo>
                    <a:pt x="247650" y="630674"/>
                    <a:pt x="264676" y="647700"/>
                    <a:pt x="285750" y="647700"/>
                  </a:cubicBezTo>
                  <a:cubicBezTo>
                    <a:pt x="306824" y="647700"/>
                    <a:pt x="323850" y="630674"/>
                    <a:pt x="323850" y="609600"/>
                  </a:cubicBezTo>
                  <a:lnTo>
                    <a:pt x="323850" y="281821"/>
                  </a:lnTo>
                  <a:close/>
                </a:path>
              </a:pathLst>
            </a:custGeom>
            <a:solidFill>
              <a:srgbClr val="5C7CB3"/>
            </a:solidFill>
          </p:spPr>
          <p:txBody>
            <a:bodyPr/>
            <a:lstStyle/>
            <a:p>
              <a:endParaRPr lang="zh-CN" altLang="en-US"/>
            </a:p>
          </p:txBody>
        </p:sp>
      </p:grpSp>
      <p:pic>
        <p:nvPicPr>
          <p:cNvPr id="18" name="图片 17" descr="图形用户界面, 地图&#10;&#10;AI 生成的内容可能不正确。">
            <a:hlinkClick r:id="rId2" action="ppaction://hlinkfile"/>
          </p:cNvPr>
          <p:cNvPicPr/>
          <p:nvPr/>
        </p:nvPicPr>
        <p:blipFill>
          <a:blip r:embed="rId3">
            <a:extLst>
              <a:ext uri="{28A0092B-C50C-407E-A947-70E740481C1C}">
                <a14:useLocalDpi xmlns:a14="http://schemas.microsoft.com/office/drawing/2010/main" val="0"/>
              </a:ext>
            </a:extLst>
          </a:blip>
          <a:srcRect l="70832" t="17167" r="-105" b="54771"/>
          <a:stretch>
            <a:fillRect/>
          </a:stretch>
        </p:blipFill>
        <p:spPr>
          <a:xfrm>
            <a:off x="5851274" y="1311846"/>
            <a:ext cx="5591359" cy="2740530"/>
          </a:xfrm>
          <a:prstGeom prst="rect">
            <a:avLst/>
          </a:prstGeom>
        </p:spPr>
      </p:pic>
      <p:sp>
        <p:nvSpPr>
          <p:cNvPr id="4" name="矩形 3"/>
          <p:cNvSpPr/>
          <p:nvPr/>
        </p:nvSpPr>
        <p:spPr>
          <a:xfrm>
            <a:off x="1004938" y="2976880"/>
            <a:ext cx="3109743" cy="68967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b="1" dirty="0">
                <a:solidFill>
                  <a:srgbClr val="8FA7D0"/>
                </a:solidFill>
                <a:latin typeface="微软雅黑" panose="020B0503020204020204" pitchFamily="34" charset="-122"/>
                <a:ea typeface="微软雅黑" panose="020B0503020204020204" pitchFamily="34" charset="-122"/>
                <a:sym typeface="+mn-ea"/>
              </a:rPr>
              <a:t>学前到硕士阶段，女生基本追平甚至超过男生</a:t>
            </a:r>
            <a:endParaRPr lang="zh-CN" altLang="en-US" dirty="0"/>
          </a:p>
        </p:txBody>
      </p:sp>
      <p:sp>
        <p:nvSpPr>
          <p:cNvPr id="14" name="Shape 2"/>
          <p:cNvSpPr/>
          <p:nvPr>
            <p:custDataLst>
              <p:tags r:id="rId4"/>
            </p:custDataLst>
          </p:nvPr>
        </p:nvSpPr>
        <p:spPr>
          <a:xfrm>
            <a:off x="1013460" y="4490085"/>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7097E5"/>
          </a:solidFill>
        </p:spPr>
      </p:sp>
      <p:sp>
        <p:nvSpPr>
          <p:cNvPr id="16" name="Shape 2"/>
          <p:cNvSpPr/>
          <p:nvPr>
            <p:custDataLst>
              <p:tags r:id="rId5"/>
            </p:custDataLst>
          </p:nvPr>
        </p:nvSpPr>
        <p:spPr>
          <a:xfrm>
            <a:off x="1013460" y="551688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7097E5"/>
          </a:solidFill>
        </p:spPr>
      </p:sp>
      <p:sp>
        <p:nvSpPr>
          <p:cNvPr id="21" name="Shape 2"/>
          <p:cNvSpPr/>
          <p:nvPr>
            <p:custDataLst>
              <p:tags r:id="rId6"/>
            </p:custDataLst>
          </p:nvPr>
        </p:nvSpPr>
        <p:spPr>
          <a:xfrm>
            <a:off x="1005205" y="5055870"/>
            <a:ext cx="203200" cy="203200"/>
          </a:xfrm>
          <a:custGeom>
            <a:avLst/>
            <a:gdLst/>
            <a:ahLst/>
            <a:cxnLst/>
            <a:rect l="l" t="t" r="r" b="b"/>
            <a:pathLst>
              <a:path w="203200" h="203200">
                <a:moveTo>
                  <a:pt x="101600" y="203200"/>
                </a:moveTo>
                <a:cubicBezTo>
                  <a:pt x="157675" y="203200"/>
                  <a:pt x="203200" y="157675"/>
                  <a:pt x="203200" y="101600"/>
                </a:cubicBezTo>
                <a:cubicBezTo>
                  <a:pt x="203200" y="45525"/>
                  <a:pt x="157675" y="0"/>
                  <a:pt x="101600" y="0"/>
                </a:cubicBezTo>
                <a:cubicBezTo>
                  <a:pt x="45525" y="0"/>
                  <a:pt x="0" y="45525"/>
                  <a:pt x="0" y="101600"/>
                </a:cubicBezTo>
                <a:cubicBezTo>
                  <a:pt x="0" y="157675"/>
                  <a:pt x="45525" y="203200"/>
                  <a:pt x="101600" y="203200"/>
                </a:cubicBezTo>
                <a:close/>
                <a:moveTo>
                  <a:pt x="135096" y="84415"/>
                </a:moveTo>
                <a:lnTo>
                  <a:pt x="103346" y="135215"/>
                </a:lnTo>
                <a:cubicBezTo>
                  <a:pt x="101679" y="137874"/>
                  <a:pt x="98822" y="139541"/>
                  <a:pt x="95687" y="139700"/>
                </a:cubicBezTo>
                <a:cubicBezTo>
                  <a:pt x="92551" y="139859"/>
                  <a:pt x="89535" y="138430"/>
                  <a:pt x="87670" y="135890"/>
                </a:cubicBezTo>
                <a:lnTo>
                  <a:pt x="68620" y="110490"/>
                </a:lnTo>
                <a:cubicBezTo>
                  <a:pt x="65445" y="106283"/>
                  <a:pt x="66318" y="100330"/>
                  <a:pt x="70525" y="97155"/>
                </a:cubicBezTo>
                <a:cubicBezTo>
                  <a:pt x="74732" y="93980"/>
                  <a:pt x="80685" y="94853"/>
                  <a:pt x="83860" y="99060"/>
                </a:cubicBezTo>
                <a:lnTo>
                  <a:pt x="94575" y="113348"/>
                </a:lnTo>
                <a:lnTo>
                  <a:pt x="118943" y="74335"/>
                </a:lnTo>
                <a:cubicBezTo>
                  <a:pt x="121722" y="69890"/>
                  <a:pt x="127595" y="68501"/>
                  <a:pt x="132080" y="71318"/>
                </a:cubicBezTo>
                <a:cubicBezTo>
                  <a:pt x="136565" y="74136"/>
                  <a:pt x="137914" y="79970"/>
                  <a:pt x="135096" y="84455"/>
                </a:cubicBezTo>
                <a:close/>
              </a:path>
            </a:pathLst>
          </a:custGeom>
          <a:solidFill>
            <a:srgbClr val="7097E5"/>
          </a:solidFill>
        </p:spPr>
      </p:sp>
      <p:sp>
        <p:nvSpPr>
          <p:cNvPr id="22" name="Text 3"/>
          <p:cNvSpPr/>
          <p:nvPr>
            <p:custDataLst>
              <p:tags r:id="rId7"/>
            </p:custDataLst>
          </p:nvPr>
        </p:nvSpPr>
        <p:spPr>
          <a:xfrm>
            <a:off x="1411605" y="4388485"/>
            <a:ext cx="5130800" cy="304800"/>
          </a:xfrm>
          <a:prstGeom prst="rect">
            <a:avLst/>
          </a:prstGeom>
          <a:noFill/>
        </p:spPr>
        <p:txBody>
          <a:bodyPr wrap="square" lIns="0" tIns="0" rIns="0" bIns="0" rtlCol="0" anchor="ctr"/>
          <a:lstStyle/>
          <a:p>
            <a:pPr>
              <a:lnSpc>
                <a:spcPct val="130000"/>
              </a:lnSpc>
            </a:pPr>
            <a:r>
              <a:rPr lang="en-US" sz="16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家庭资源倾斜：独生子女政策下，女孩获得同等投资。</a:t>
            </a:r>
            <a:endParaRPr lang="en-US" sz="1600" dirty="0"/>
          </a:p>
        </p:txBody>
      </p:sp>
      <p:sp>
        <p:nvSpPr>
          <p:cNvPr id="23" name="Text 5"/>
          <p:cNvSpPr/>
          <p:nvPr>
            <p:custDataLst>
              <p:tags r:id="rId8"/>
            </p:custDataLst>
          </p:nvPr>
        </p:nvSpPr>
        <p:spPr>
          <a:xfrm>
            <a:off x="1411605" y="4954270"/>
            <a:ext cx="5130800" cy="304800"/>
          </a:xfrm>
          <a:prstGeom prst="rect">
            <a:avLst/>
          </a:prstGeom>
          <a:noFill/>
        </p:spPr>
        <p:txBody>
          <a:bodyPr wrap="square" lIns="0" tIns="0" rIns="0" bIns="0" rtlCol="0" anchor="ctr"/>
          <a:lstStyle/>
          <a:p>
            <a:pPr>
              <a:lnSpc>
                <a:spcPct val="130000"/>
              </a:lnSpc>
            </a:pPr>
            <a:r>
              <a:rPr lang="en-US" sz="16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女生应试优势：在现有教育体系下表现更稳定。</a:t>
            </a:r>
            <a:endParaRPr lang="en-US" sz="1600" dirty="0"/>
          </a:p>
        </p:txBody>
      </p:sp>
      <p:sp>
        <p:nvSpPr>
          <p:cNvPr id="24" name="Text 7"/>
          <p:cNvSpPr/>
          <p:nvPr>
            <p:custDataLst>
              <p:tags r:id="rId9"/>
            </p:custDataLst>
          </p:nvPr>
        </p:nvSpPr>
        <p:spPr>
          <a:xfrm>
            <a:off x="1411605" y="5415280"/>
            <a:ext cx="5130800" cy="304800"/>
          </a:xfrm>
          <a:prstGeom prst="rect">
            <a:avLst/>
          </a:prstGeom>
          <a:noFill/>
        </p:spPr>
        <p:txBody>
          <a:bodyPr wrap="square" lIns="0" tIns="0" rIns="0" bIns="0" rtlCol="0" anchor="ctr"/>
          <a:lstStyle/>
          <a:p>
            <a:pPr>
              <a:lnSpc>
                <a:spcPct val="130000"/>
              </a:lnSpc>
            </a:pPr>
            <a:r>
              <a:rPr lang="en-US" sz="16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服务业升级拉动：高学历女性更符合现代产业需求。</a:t>
            </a:r>
            <a:endParaRPr lang="en-US" sz="16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2000"/>
                                        <p:tgtEl>
                                          <p:spTgt spid="7"/>
                                        </p:tgtEl>
                                      </p:cBhvr>
                                    </p:animEffect>
                                  </p:childTnLst>
                                </p:cTn>
                              </p:par>
                              <p:par>
                                <p:cTn id="8" presetID="13" presetClass="entr" presetSubtype="16" fill="hold" nodeType="withEffect">
                                  <p:stCondLst>
                                    <p:cond delay="0"/>
                                  </p:stCondLst>
                                  <p:childTnLst>
                                    <p:set>
                                      <p:cBhvr>
                                        <p:cTn id="9" dur="1000" fill="hold">
                                          <p:stCondLst>
                                            <p:cond delay="0"/>
                                          </p:stCondLst>
                                        </p:cTn>
                                        <p:tgtEl>
                                          <p:spTgt spid="18"/>
                                        </p:tgtEl>
                                        <p:attrNameLst>
                                          <p:attrName>style.visibility</p:attrName>
                                        </p:attrNameLst>
                                      </p:cBhvr>
                                      <p:to>
                                        <p:strVal val="visible"/>
                                      </p:to>
                                    </p:set>
                                    <p:animEffect transition="in" filter="plus(in)">
                                      <p:cBhvr>
                                        <p:cTn id="10"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3619500" y="1041400"/>
            <a:ext cx="51435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未被抹平的断点：高中与大专</a:t>
            </a:r>
            <a:endParaRPr lang="en-US" sz="1600" dirty="0"/>
          </a:p>
        </p:txBody>
      </p:sp>
      <p:sp>
        <p:nvSpPr>
          <p:cNvPr id="4" name="Text 1"/>
          <p:cNvSpPr/>
          <p:nvPr/>
        </p:nvSpPr>
        <p:spPr>
          <a:xfrm>
            <a:off x="1168400" y="1701800"/>
            <a:ext cx="9855200" cy="609600"/>
          </a:xfrm>
          <a:prstGeom prst="rect">
            <a:avLst/>
          </a:prstGeom>
          <a:noFill/>
        </p:spPr>
        <p:txBody>
          <a:bodyPr wrap="square" lIns="0" tIns="0" rIns="0" bIns="0" rtlCol="0" anchor="ctr"/>
          <a:lstStyle/>
          <a:p>
            <a:pPr algn="ctr">
              <a:lnSpc>
                <a:spcPct val="130000"/>
              </a:lnSpc>
            </a:pPr>
            <a:r>
              <a:rPr lang="en-US" sz="16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尽管女性在高等教育中实现反超，但在高中和大专阶段，男性占比仍显著高于女性，形成一条独特的“技能型”教育路径。</a:t>
            </a:r>
            <a:endParaRPr lang="en-US" sz="1600" dirty="0"/>
          </a:p>
        </p:txBody>
      </p:sp>
      <p:sp>
        <p:nvSpPr>
          <p:cNvPr id="5" name="Shape 2"/>
          <p:cNvSpPr/>
          <p:nvPr>
            <p:custDataLst>
              <p:tags r:id="rId2"/>
            </p:custDataLst>
          </p:nvPr>
        </p:nvSpPr>
        <p:spPr>
          <a:xfrm>
            <a:off x="838200" y="2717800"/>
            <a:ext cx="4673600" cy="3098800"/>
          </a:xfrm>
          <a:custGeom>
            <a:avLst/>
            <a:gdLst/>
            <a:ahLst/>
            <a:cxnLst/>
            <a:rect l="l" t="t" r="r" b="b"/>
            <a:pathLst>
              <a:path w="4673600" h="3098800">
                <a:moveTo>
                  <a:pt x="101610" y="0"/>
                </a:moveTo>
                <a:lnTo>
                  <a:pt x="4571990" y="0"/>
                </a:lnTo>
                <a:cubicBezTo>
                  <a:pt x="4628108" y="0"/>
                  <a:pt x="4673600" y="45492"/>
                  <a:pt x="4673600" y="101610"/>
                </a:cubicBezTo>
                <a:lnTo>
                  <a:pt x="4673600" y="2997190"/>
                </a:lnTo>
                <a:cubicBezTo>
                  <a:pt x="4673600" y="3053308"/>
                  <a:pt x="4628108" y="3098800"/>
                  <a:pt x="4571990" y="3098800"/>
                </a:cubicBezTo>
                <a:lnTo>
                  <a:pt x="101610" y="3098800"/>
                </a:lnTo>
                <a:cubicBezTo>
                  <a:pt x="45492" y="3098800"/>
                  <a:pt x="0" y="3053308"/>
                  <a:pt x="0" y="2997190"/>
                </a:cubicBezTo>
                <a:lnTo>
                  <a:pt x="0" y="101610"/>
                </a:lnTo>
                <a:cubicBezTo>
                  <a:pt x="0" y="45530"/>
                  <a:pt x="45530" y="0"/>
                  <a:pt x="101610" y="0"/>
                </a:cubicBezTo>
                <a:close/>
              </a:path>
            </a:pathLst>
          </a:custGeom>
          <a:solidFill>
            <a:srgbClr val="5C7CB3">
              <a:alpha val="10196"/>
            </a:srgbClr>
          </a:solidFill>
          <a:effectLst>
            <a:outerShdw blurRad="76200" dist="50800" dir="5400000" algn="bl" rotWithShape="0">
              <a:srgbClr val="000000">
                <a:alpha val="10196"/>
              </a:srgbClr>
            </a:outerShdw>
          </a:effectLst>
        </p:spPr>
      </p:sp>
      <p:sp>
        <p:nvSpPr>
          <p:cNvPr id="6" name="Text 3"/>
          <p:cNvSpPr/>
          <p:nvPr>
            <p:custDataLst>
              <p:tags r:id="rId3"/>
            </p:custDataLst>
          </p:nvPr>
        </p:nvSpPr>
        <p:spPr>
          <a:xfrm>
            <a:off x="1066800" y="3022600"/>
            <a:ext cx="4216400" cy="406400"/>
          </a:xfrm>
          <a:prstGeom prst="rect">
            <a:avLst/>
          </a:prstGeom>
          <a:noFill/>
        </p:spPr>
        <p:txBody>
          <a:bodyPr wrap="square" lIns="0" tIns="0" rIns="0" bIns="0" rtlCol="0" anchor="ctr"/>
          <a:lstStyle/>
          <a:p>
            <a:pPr algn="ctr">
              <a:lnSpc>
                <a:spcPct val="110000"/>
              </a:lnSpc>
            </a:pPr>
            <a:r>
              <a:rPr lang="en-US" sz="24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高中/大专阶段</a:t>
            </a:r>
            <a:endParaRPr lang="en-US" sz="1600" dirty="0"/>
          </a:p>
        </p:txBody>
      </p:sp>
      <p:sp>
        <p:nvSpPr>
          <p:cNvPr id="7" name="Shape 4"/>
          <p:cNvSpPr/>
          <p:nvPr>
            <p:custDataLst>
              <p:tags r:id="rId4"/>
            </p:custDataLst>
          </p:nvPr>
        </p:nvSpPr>
        <p:spPr>
          <a:xfrm>
            <a:off x="2794000" y="3632042"/>
            <a:ext cx="762000" cy="762000"/>
          </a:xfrm>
          <a:custGeom>
            <a:avLst/>
            <a:gdLst/>
            <a:ahLst/>
            <a:cxnLst/>
            <a:rect l="l" t="t" r="r" b="b"/>
            <a:pathLst>
              <a:path w="762000" h="762000">
                <a:moveTo>
                  <a:pt x="476250" y="47625"/>
                </a:moveTo>
                <a:cubicBezTo>
                  <a:pt x="476250" y="21282"/>
                  <a:pt x="497532" y="0"/>
                  <a:pt x="523875" y="0"/>
                </a:cubicBezTo>
                <a:lnTo>
                  <a:pt x="714375" y="0"/>
                </a:lnTo>
                <a:cubicBezTo>
                  <a:pt x="740718" y="0"/>
                  <a:pt x="762000" y="21282"/>
                  <a:pt x="762000" y="47625"/>
                </a:cubicBezTo>
                <a:lnTo>
                  <a:pt x="762000" y="238125"/>
                </a:lnTo>
                <a:cubicBezTo>
                  <a:pt x="762000" y="264468"/>
                  <a:pt x="740718" y="285750"/>
                  <a:pt x="714375" y="285750"/>
                </a:cubicBezTo>
                <a:cubicBezTo>
                  <a:pt x="688032" y="285750"/>
                  <a:pt x="666750" y="264468"/>
                  <a:pt x="666750" y="238125"/>
                </a:cubicBezTo>
                <a:lnTo>
                  <a:pt x="666750" y="162669"/>
                </a:lnTo>
                <a:lnTo>
                  <a:pt x="525363" y="304056"/>
                </a:lnTo>
                <a:cubicBezTo>
                  <a:pt x="554385" y="346323"/>
                  <a:pt x="571500" y="397371"/>
                  <a:pt x="571500" y="452586"/>
                </a:cubicBezTo>
                <a:cubicBezTo>
                  <a:pt x="571500" y="597247"/>
                  <a:pt x="454223" y="714524"/>
                  <a:pt x="309563" y="714524"/>
                </a:cubicBezTo>
                <a:cubicBezTo>
                  <a:pt x="164902" y="714524"/>
                  <a:pt x="47625" y="597098"/>
                  <a:pt x="47625" y="452438"/>
                </a:cubicBezTo>
                <a:cubicBezTo>
                  <a:pt x="47625" y="307777"/>
                  <a:pt x="164902" y="190500"/>
                  <a:pt x="309563" y="190500"/>
                </a:cubicBezTo>
                <a:cubicBezTo>
                  <a:pt x="364629" y="190500"/>
                  <a:pt x="415826" y="207466"/>
                  <a:pt x="458093" y="236637"/>
                </a:cubicBezTo>
                <a:lnTo>
                  <a:pt x="599480" y="95250"/>
                </a:lnTo>
                <a:lnTo>
                  <a:pt x="524024" y="95250"/>
                </a:lnTo>
                <a:cubicBezTo>
                  <a:pt x="497681" y="95250"/>
                  <a:pt x="476399" y="73968"/>
                  <a:pt x="476399" y="47625"/>
                </a:cubicBezTo>
                <a:close/>
                <a:moveTo>
                  <a:pt x="309563" y="619125"/>
                </a:moveTo>
                <a:cubicBezTo>
                  <a:pt x="401560" y="619125"/>
                  <a:pt x="476250" y="544435"/>
                  <a:pt x="476250" y="452438"/>
                </a:cubicBezTo>
                <a:cubicBezTo>
                  <a:pt x="476250" y="360440"/>
                  <a:pt x="401560" y="285750"/>
                  <a:pt x="309563" y="285750"/>
                </a:cubicBezTo>
                <a:cubicBezTo>
                  <a:pt x="217565" y="285750"/>
                  <a:pt x="142875" y="360440"/>
                  <a:pt x="142875" y="452438"/>
                </a:cubicBezTo>
                <a:cubicBezTo>
                  <a:pt x="142875" y="544435"/>
                  <a:pt x="217565" y="619125"/>
                  <a:pt x="309562" y="619125"/>
                </a:cubicBezTo>
                <a:close/>
              </a:path>
            </a:pathLst>
          </a:custGeom>
          <a:solidFill>
            <a:srgbClr val="5C7CB3"/>
          </a:solidFill>
        </p:spPr>
      </p:sp>
      <p:sp>
        <p:nvSpPr>
          <p:cNvPr id="8" name="Text 5"/>
          <p:cNvSpPr/>
          <p:nvPr>
            <p:custDataLst>
              <p:tags r:id="rId5"/>
            </p:custDataLst>
          </p:nvPr>
        </p:nvSpPr>
        <p:spPr>
          <a:xfrm>
            <a:off x="1092200" y="4597242"/>
            <a:ext cx="4165600" cy="304800"/>
          </a:xfrm>
          <a:prstGeom prst="rect">
            <a:avLst/>
          </a:prstGeom>
          <a:noFill/>
        </p:spPr>
        <p:txBody>
          <a:bodyPr wrap="square" lIns="0" tIns="0" rIns="0" bIns="0" rtlCol="0" anchor="ctr"/>
          <a:lstStyle/>
          <a:p>
            <a:pPr algn="ctr">
              <a:lnSpc>
                <a:spcPct val="130000"/>
              </a:lnSpc>
            </a:pPr>
            <a:r>
              <a:rPr lang="en-US" sz="16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男性占比显著更高</a:t>
            </a:r>
            <a:endParaRPr lang="en-US" sz="1600" dirty="0"/>
          </a:p>
        </p:txBody>
      </p:sp>
      <p:sp>
        <p:nvSpPr>
          <p:cNvPr id="9" name="Text 6"/>
          <p:cNvSpPr/>
          <p:nvPr>
            <p:custDataLst>
              <p:tags r:id="rId6"/>
            </p:custDataLst>
          </p:nvPr>
        </p:nvSpPr>
        <p:spPr>
          <a:xfrm>
            <a:off x="1098550" y="5003642"/>
            <a:ext cx="4152900" cy="508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部分男生因经济压力或职业选择，放弃高考，直接进入职教或劳动力市场。</a:t>
            </a:r>
            <a:endParaRPr lang="en-US" sz="1600" dirty="0"/>
          </a:p>
        </p:txBody>
      </p:sp>
      <p:sp>
        <p:nvSpPr>
          <p:cNvPr id="10" name="Shape 7"/>
          <p:cNvSpPr/>
          <p:nvPr>
            <p:custDataLst>
              <p:tags r:id="rId7"/>
            </p:custDataLst>
          </p:nvPr>
        </p:nvSpPr>
        <p:spPr>
          <a:xfrm>
            <a:off x="6680200" y="2717800"/>
            <a:ext cx="4673600" cy="3098800"/>
          </a:xfrm>
          <a:custGeom>
            <a:avLst/>
            <a:gdLst/>
            <a:ahLst/>
            <a:cxnLst/>
            <a:rect l="l" t="t" r="r" b="b"/>
            <a:pathLst>
              <a:path w="4673600" h="3098800">
                <a:moveTo>
                  <a:pt x="101610" y="0"/>
                </a:moveTo>
                <a:lnTo>
                  <a:pt x="4571990" y="0"/>
                </a:lnTo>
                <a:cubicBezTo>
                  <a:pt x="4628108" y="0"/>
                  <a:pt x="4673600" y="45492"/>
                  <a:pt x="4673600" y="101610"/>
                </a:cubicBezTo>
                <a:lnTo>
                  <a:pt x="4673600" y="2997190"/>
                </a:lnTo>
                <a:cubicBezTo>
                  <a:pt x="4673600" y="3053308"/>
                  <a:pt x="4628108" y="3098800"/>
                  <a:pt x="4571990" y="3098800"/>
                </a:cubicBezTo>
                <a:lnTo>
                  <a:pt x="101610" y="3098800"/>
                </a:lnTo>
                <a:cubicBezTo>
                  <a:pt x="45492" y="3098800"/>
                  <a:pt x="0" y="3053308"/>
                  <a:pt x="0" y="2997190"/>
                </a:cubicBezTo>
                <a:lnTo>
                  <a:pt x="0" y="101610"/>
                </a:lnTo>
                <a:cubicBezTo>
                  <a:pt x="0" y="45530"/>
                  <a:pt x="45530" y="0"/>
                  <a:pt x="101610" y="0"/>
                </a:cubicBezTo>
                <a:close/>
              </a:path>
            </a:pathLst>
          </a:custGeom>
          <a:solidFill>
            <a:srgbClr val="8FA7D0">
              <a:alpha val="10196"/>
            </a:srgbClr>
          </a:solidFill>
          <a:effectLst>
            <a:outerShdw blurRad="76200" dist="50800" dir="5400000" algn="bl" rotWithShape="0">
              <a:srgbClr val="000000">
                <a:alpha val="10196"/>
              </a:srgbClr>
            </a:outerShdw>
          </a:effectLst>
        </p:spPr>
      </p:sp>
      <p:sp>
        <p:nvSpPr>
          <p:cNvPr id="11" name="Text 8"/>
          <p:cNvSpPr/>
          <p:nvPr>
            <p:custDataLst>
              <p:tags r:id="rId8"/>
            </p:custDataLst>
          </p:nvPr>
        </p:nvSpPr>
        <p:spPr>
          <a:xfrm>
            <a:off x="6908800" y="3022600"/>
            <a:ext cx="4216400" cy="406400"/>
          </a:xfrm>
          <a:prstGeom prst="rect">
            <a:avLst/>
          </a:prstGeom>
          <a:noFill/>
        </p:spPr>
        <p:txBody>
          <a:bodyPr wrap="square" lIns="0" tIns="0" rIns="0" bIns="0" rtlCol="0" anchor="ctr"/>
          <a:lstStyle/>
          <a:p>
            <a:pPr algn="ctr">
              <a:lnSpc>
                <a:spcPct val="110000"/>
              </a:lnSpc>
            </a:pPr>
            <a:r>
              <a:rPr lang="en-US" sz="24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潜在结构性错配</a:t>
            </a:r>
            <a:endParaRPr lang="en-US" sz="1600" dirty="0"/>
          </a:p>
        </p:txBody>
      </p:sp>
      <p:sp>
        <p:nvSpPr>
          <p:cNvPr id="12" name="Shape 9"/>
          <p:cNvSpPr/>
          <p:nvPr>
            <p:custDataLst>
              <p:tags r:id="rId9"/>
            </p:custDataLst>
          </p:nvPr>
        </p:nvSpPr>
        <p:spPr>
          <a:xfrm>
            <a:off x="8636000" y="3632042"/>
            <a:ext cx="762000" cy="762000"/>
          </a:xfrm>
          <a:custGeom>
            <a:avLst/>
            <a:gdLst/>
            <a:ahLst/>
            <a:cxnLst/>
            <a:rect l="l" t="t" r="r" b="b"/>
            <a:pathLst>
              <a:path w="762000" h="762000">
                <a:moveTo>
                  <a:pt x="381000" y="0"/>
                </a:moveTo>
                <a:cubicBezTo>
                  <a:pt x="402878" y="0"/>
                  <a:pt x="422970" y="12055"/>
                  <a:pt x="433388" y="31254"/>
                </a:cubicBezTo>
                <a:lnTo>
                  <a:pt x="754856" y="626566"/>
                </a:lnTo>
                <a:cubicBezTo>
                  <a:pt x="764828" y="645021"/>
                  <a:pt x="764381" y="667345"/>
                  <a:pt x="753666" y="685354"/>
                </a:cubicBezTo>
                <a:cubicBezTo>
                  <a:pt x="742950" y="703362"/>
                  <a:pt x="723454" y="714375"/>
                  <a:pt x="702469" y="714375"/>
                </a:cubicBezTo>
                <a:lnTo>
                  <a:pt x="59531" y="714375"/>
                </a:lnTo>
                <a:cubicBezTo>
                  <a:pt x="38546" y="714375"/>
                  <a:pt x="19199" y="703362"/>
                  <a:pt x="8334" y="685354"/>
                </a:cubicBezTo>
                <a:cubicBezTo>
                  <a:pt x="-2530" y="667345"/>
                  <a:pt x="-2828" y="645021"/>
                  <a:pt x="7144" y="626566"/>
                </a:cubicBezTo>
                <a:lnTo>
                  <a:pt x="328613" y="31254"/>
                </a:lnTo>
                <a:cubicBezTo>
                  <a:pt x="339030" y="12055"/>
                  <a:pt x="359122" y="0"/>
                  <a:pt x="381000" y="0"/>
                </a:cubicBezTo>
                <a:close/>
                <a:moveTo>
                  <a:pt x="381000" y="250031"/>
                </a:moveTo>
                <a:cubicBezTo>
                  <a:pt x="361206" y="250031"/>
                  <a:pt x="345281" y="265956"/>
                  <a:pt x="345281" y="285750"/>
                </a:cubicBezTo>
                <a:lnTo>
                  <a:pt x="345281" y="452438"/>
                </a:lnTo>
                <a:cubicBezTo>
                  <a:pt x="345281" y="472232"/>
                  <a:pt x="361206" y="488156"/>
                  <a:pt x="381000" y="488156"/>
                </a:cubicBezTo>
                <a:cubicBezTo>
                  <a:pt x="400794" y="488156"/>
                  <a:pt x="416719" y="472232"/>
                  <a:pt x="416719" y="452438"/>
                </a:cubicBezTo>
                <a:lnTo>
                  <a:pt x="416719" y="285750"/>
                </a:lnTo>
                <a:cubicBezTo>
                  <a:pt x="416719" y="265956"/>
                  <a:pt x="400794" y="250031"/>
                  <a:pt x="381000" y="250031"/>
                </a:cubicBezTo>
                <a:close/>
                <a:moveTo>
                  <a:pt x="420737" y="571500"/>
                </a:moveTo>
                <a:cubicBezTo>
                  <a:pt x="421641" y="556750"/>
                  <a:pt x="414285" y="542717"/>
                  <a:pt x="401641" y="535068"/>
                </a:cubicBezTo>
                <a:cubicBezTo>
                  <a:pt x="388997" y="527420"/>
                  <a:pt x="373152" y="527420"/>
                  <a:pt x="360508" y="535068"/>
                </a:cubicBezTo>
                <a:cubicBezTo>
                  <a:pt x="347864" y="542717"/>
                  <a:pt x="340508" y="556750"/>
                  <a:pt x="341412" y="571500"/>
                </a:cubicBezTo>
                <a:cubicBezTo>
                  <a:pt x="340508" y="586250"/>
                  <a:pt x="347864" y="600283"/>
                  <a:pt x="360508" y="607932"/>
                </a:cubicBezTo>
                <a:cubicBezTo>
                  <a:pt x="373152" y="615580"/>
                  <a:pt x="388997" y="615580"/>
                  <a:pt x="401641" y="607932"/>
                </a:cubicBezTo>
                <a:cubicBezTo>
                  <a:pt x="414285" y="600283"/>
                  <a:pt x="421641" y="586250"/>
                  <a:pt x="420737" y="571500"/>
                </a:cubicBezTo>
                <a:close/>
              </a:path>
            </a:pathLst>
          </a:custGeom>
          <a:solidFill>
            <a:srgbClr val="8FA7D0"/>
          </a:solidFill>
        </p:spPr>
      </p:sp>
      <p:sp>
        <p:nvSpPr>
          <p:cNvPr id="13" name="Text 10"/>
          <p:cNvSpPr/>
          <p:nvPr>
            <p:custDataLst>
              <p:tags r:id="rId10"/>
            </p:custDataLst>
          </p:nvPr>
        </p:nvSpPr>
        <p:spPr>
          <a:xfrm>
            <a:off x="6934200" y="4597242"/>
            <a:ext cx="4165600" cy="304800"/>
          </a:xfrm>
          <a:prstGeom prst="rect">
            <a:avLst/>
          </a:prstGeom>
          <a:noFill/>
        </p:spPr>
        <p:txBody>
          <a:bodyPr wrap="square" lIns="0" tIns="0" rIns="0" bIns="0" rtlCol="0" anchor="ctr"/>
          <a:lstStyle/>
          <a:p>
            <a:pPr algn="ctr">
              <a:lnSpc>
                <a:spcPct val="130000"/>
              </a:lnSpc>
            </a:pPr>
            <a:r>
              <a:rPr lang="en-US" sz="16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“高知女性”与“技能男性”</a:t>
            </a:r>
            <a:endParaRPr lang="en-US" sz="1600" dirty="0"/>
          </a:p>
        </p:txBody>
      </p:sp>
      <p:sp>
        <p:nvSpPr>
          <p:cNvPr id="14" name="Text 11"/>
          <p:cNvSpPr/>
          <p:nvPr>
            <p:custDataLst>
              <p:tags r:id="rId11"/>
            </p:custDataLst>
          </p:nvPr>
        </p:nvSpPr>
        <p:spPr>
          <a:xfrm>
            <a:off x="6940550" y="5003642"/>
            <a:ext cx="4152900" cy="508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这一断点可能对未来婚姻、劳动力市场和社会结构带来深远影响。</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2"/>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nvPicPr>
        <p:blipFill>
          <a:blip r:embed="rId3"/>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nvPicPr>
        <p:blipFill>
          <a:blip r:embed="rId4"/>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nvPicPr>
        <p:blipFill>
          <a:blip r:embed="rId5">
            <a:alphaModFix amt="40000"/>
          </a:blip>
          <a:stretch>
            <a:fillRect/>
          </a:stretch>
        </p:blipFill>
        <p:spPr>
          <a:xfrm rot="16200000">
            <a:off x="10665460" y="-8255"/>
            <a:ext cx="262890" cy="1170305"/>
          </a:xfrm>
          <a:prstGeom prst="rect">
            <a:avLst/>
          </a:prstGeom>
        </p:spPr>
      </p:pic>
      <p:sp>
        <p:nvSpPr>
          <p:cNvPr id="7" name="Text 0"/>
          <p:cNvSpPr/>
          <p:nvPr/>
        </p:nvSpPr>
        <p:spPr>
          <a:xfrm>
            <a:off x="8197052" y="2654618"/>
            <a:ext cx="1618942" cy="1429544"/>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02</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itchFamily="34" charset="0"/>
                <a:ea typeface="MiSans" pitchFamily="34" charset="-122"/>
                <a:cs typeface="MiSans" pitchFamily="34" charset="-120"/>
              </a:rPr>
              <a:t>教育</a:t>
            </a:r>
            <a:r>
              <a:rPr lang="zh-CN" altLang="en-US" sz="3400" dirty="0">
                <a:solidFill>
                  <a:srgbClr val="0D0D0D"/>
                </a:solidFill>
                <a:latin typeface="MiSans" pitchFamily="34" charset="0"/>
                <a:ea typeface="MiSans" pitchFamily="34" charset="-122"/>
                <a:cs typeface="MiSans" pitchFamily="34" charset="-120"/>
              </a:rPr>
              <a:t>情况分析</a:t>
            </a:r>
            <a:endParaRPr lang="zh-CN" altLang="en-US" sz="3400" dirty="0">
              <a:solidFill>
                <a:srgbClr val="0D0D0D"/>
              </a:solidFill>
              <a:latin typeface="MiSans" pitchFamily="34" charset="0"/>
              <a:ea typeface="MiSans" pitchFamily="34" charset="-122"/>
              <a:cs typeface="MiSans" pitchFamily="34" charset="-120"/>
            </a:endParaRPr>
          </a:p>
          <a:p>
            <a:pPr>
              <a:lnSpc>
                <a:spcPct val="100000"/>
              </a:lnSpc>
            </a:pPr>
            <a:endParaRPr lang="en-US" sz="1600" dirty="0"/>
          </a:p>
        </p:txBody>
      </p:sp>
      <p:sp>
        <p:nvSpPr>
          <p:cNvPr id="9"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0" name="Shape 3"/>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1" name="Text 4"/>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5"/>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3" name="Text 6"/>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7"/>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5" name="Text 8"/>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9"/>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7" name="Text 10"/>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1"/>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9" name="Text 12"/>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1" name="Text 14"/>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2" name="Text 0"/>
          <p:cNvSpPr/>
          <p:nvPr/>
        </p:nvSpPr>
        <p:spPr>
          <a:xfrm>
            <a:off x="1287145" y="3846830"/>
            <a:ext cx="57277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区域</a:t>
            </a: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化</a:t>
            </a:r>
            <a:endParaRPr lang="en-US" sz="1600" dirty="0"/>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398205" y="424003"/>
            <a:ext cx="6100916" cy="457200"/>
          </a:xfrm>
          <a:prstGeom prst="rect">
            <a:avLst/>
          </a:prstGeom>
          <a:noFill/>
        </p:spPr>
        <p:txBody>
          <a:bodyPr wrap="square" lIns="0" tIns="0" rIns="0" bIns="0" rtlCol="0" anchor="ctr"/>
          <a:lstStyle/>
          <a:p>
            <a:pPr algn="ct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区域教育的“高峰”与“高原”</a:t>
            </a:r>
            <a:endParaRPr lang="en-US" sz="1600" dirty="0"/>
          </a:p>
        </p:txBody>
      </p:sp>
      <p:sp>
        <p:nvSpPr>
          <p:cNvPr id="4" name="Text 1"/>
          <p:cNvSpPr/>
          <p:nvPr/>
        </p:nvSpPr>
        <p:spPr>
          <a:xfrm>
            <a:off x="6499121" y="4145170"/>
            <a:ext cx="4669622" cy="1532058"/>
          </a:xfrm>
          <a:prstGeom prst="rect">
            <a:avLst/>
          </a:prstGeom>
          <a:noFill/>
        </p:spPr>
        <p:txBody>
          <a:bodyPr wrap="square" lIns="0" tIns="0" rIns="0" bIns="0" rtlCol="0" anchor="ctr"/>
          <a:lstStyle/>
          <a:p>
            <a:pPr>
              <a:lnSpc>
                <a:spcPct val="130000"/>
              </a:lnSpc>
            </a:pPr>
            <a:r>
              <a:rPr lang="zh-CN" altLang="en-US" b="1" dirty="0">
                <a:solidFill>
                  <a:srgbClr val="8FA7D0"/>
                </a:solidFill>
                <a:latin typeface="微软雅黑" panose="020B0503020204020204" pitchFamily="34" charset="-122"/>
                <a:ea typeface="微软雅黑" panose="020B0503020204020204" pitchFamily="34" charset="-122"/>
              </a:rPr>
              <a:t>省域教育呈现 “东部高、中西部偏基础” 的梯度分布，东部沿海高等教育集聚效应显著</a:t>
            </a:r>
            <a:endParaRPr lang="en-US" b="1" dirty="0">
              <a:solidFill>
                <a:srgbClr val="8FA7D0"/>
              </a:solidFill>
              <a:latin typeface="微软雅黑" panose="020B0503020204020204" pitchFamily="34" charset="-122"/>
              <a:ea typeface="微软雅黑" panose="020B0503020204020204" pitchFamily="34" charset="-122"/>
            </a:endParaRPr>
          </a:p>
        </p:txBody>
      </p:sp>
      <p:pic>
        <p:nvPicPr>
          <p:cNvPr id="17" name="图片 16" descr="图形用户界面, 地图&#10;&#10;AI 生成的内容可能不正确。">
            <a:hlinkClick r:id="rId2" action="ppaction://hlinkfile"/>
          </p:cNvPr>
          <p:cNvPicPr/>
          <p:nvPr/>
        </p:nvPicPr>
        <p:blipFill>
          <a:blip r:embed="rId3">
            <a:extLst>
              <a:ext uri="{28A0092B-C50C-407E-A947-70E740481C1C}">
                <a14:useLocalDpi xmlns:a14="http://schemas.microsoft.com/office/drawing/2010/main" val="0"/>
              </a:ext>
            </a:extLst>
          </a:blip>
          <a:srcRect l="28548" t="20003" r="28710" b="24212"/>
          <a:stretch>
            <a:fillRect/>
          </a:stretch>
        </p:blipFill>
        <p:spPr>
          <a:xfrm>
            <a:off x="398205" y="1305205"/>
            <a:ext cx="5211098" cy="3613198"/>
          </a:xfrm>
          <a:prstGeom prst="rect">
            <a:avLst/>
          </a:prstGeom>
        </p:spPr>
      </p:pic>
      <p:sp>
        <p:nvSpPr>
          <p:cNvPr id="19" name="文本框 18"/>
          <p:cNvSpPr txBox="1"/>
          <p:nvPr/>
        </p:nvSpPr>
        <p:spPr>
          <a:xfrm>
            <a:off x="6499225" y="1277620"/>
            <a:ext cx="4892675" cy="922020"/>
          </a:xfrm>
          <a:prstGeom prst="rect">
            <a:avLst/>
          </a:prstGeom>
          <a:noFill/>
        </p:spPr>
        <p:txBody>
          <a:bodyPr wrap="square">
            <a:spAutoFit/>
          </a:bodyPr>
          <a:lstStyle/>
          <a:p>
            <a:r>
              <a:rPr lang="zh-CN" altLang="en-US" b="1" dirty="0">
                <a:solidFill>
                  <a:srgbClr val="8FA7D0"/>
                </a:solidFill>
                <a:latin typeface="微软雅黑" panose="020B0503020204020204" pitchFamily="34" charset="-122"/>
                <a:ea typeface="微软雅黑" panose="020B0503020204020204" pitchFamily="34" charset="-122"/>
              </a:rPr>
              <a:t>东部沿海省份颜色更深（教育程度更高），中西部部分地区颜色较浅，直观反映了区域间教育资源的分布差异</a:t>
            </a:r>
            <a:endParaRPr lang="zh-CN" altLang="en-US" b="1" dirty="0">
              <a:solidFill>
                <a:srgbClr val="8FA7D0"/>
              </a:solidFill>
              <a:latin typeface="微软雅黑" panose="020B0503020204020204" pitchFamily="34" charset="-122"/>
              <a:ea typeface="微软雅黑" panose="020B0503020204020204" pitchFamily="34" charset="-122"/>
            </a:endParaRPr>
          </a:p>
        </p:txBody>
      </p:sp>
      <p:pic>
        <p:nvPicPr>
          <p:cNvPr id="12" name="Image 1" descr="https://kimi-web-img.moonshot.cn/img/bpic.588ku.com/606b496655bc7cfa47e1cb0b8de2e36f0693dc70.jpg"/>
          <p:cNvPicPr>
            <a:picLocks noChangeAspect="1"/>
          </p:cNvPicPr>
          <p:nvPr/>
        </p:nvPicPr>
        <p:blipFill>
          <a:blip r:embed="rId4"/>
          <a:srcRect l="24125" r="24125"/>
          <a:stretch>
            <a:fillRect/>
          </a:stretch>
        </p:blipFill>
        <p:spPr>
          <a:xfrm>
            <a:off x="6586855" y="2200910"/>
            <a:ext cx="3179445" cy="1943100"/>
          </a:xfrm>
          <a:prstGeom prst="roundRect">
            <a:avLst>
              <a:gd name="adj" fmla="val 1739"/>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pic>
        <p:nvPicPr>
          <p:cNvPr id="13" name="图片 12" descr="图形用户界面, 地图&#10;&#10;AI 生成的内容可能不正确。">
            <a:hlinkClick r:id="rId2" action="ppaction://hlinkfile"/>
          </p:cNvPr>
          <p:cNvPicPr/>
          <p:nvPr/>
        </p:nvPicPr>
        <p:blipFill>
          <a:blip r:embed="rId3">
            <a:extLst>
              <a:ext uri="{28A0092B-C50C-407E-A947-70E740481C1C}">
                <a14:useLocalDpi xmlns:a14="http://schemas.microsoft.com/office/drawing/2010/main" val="0"/>
              </a:ext>
            </a:extLst>
          </a:blip>
          <a:srcRect l="70323" t="43302" b="29019"/>
          <a:stretch>
            <a:fillRect/>
          </a:stretch>
        </p:blipFill>
        <p:spPr>
          <a:xfrm>
            <a:off x="447020" y="1770380"/>
            <a:ext cx="5447070" cy="3342968"/>
          </a:xfrm>
          <a:prstGeom prst="rect">
            <a:avLst/>
          </a:prstGeom>
        </p:spPr>
      </p:pic>
      <p:sp>
        <p:nvSpPr>
          <p:cNvPr id="14" name="Text 0"/>
          <p:cNvSpPr/>
          <p:nvPr/>
        </p:nvSpPr>
        <p:spPr>
          <a:xfrm>
            <a:off x="657122" y="584200"/>
            <a:ext cx="5626100" cy="914400"/>
          </a:xfrm>
          <a:prstGeom prst="rect">
            <a:avLst/>
          </a:prstGeom>
          <a:noFill/>
        </p:spPr>
        <p:txBody>
          <a:bodyPr wrap="square" lIns="0" tIns="0" rIns="0" bIns="0" rtlCol="0" anchor="ctr"/>
          <a:lstStyle/>
          <a:p>
            <a:pPr>
              <a:lnSpc>
                <a:spcPct val="100000"/>
              </a:lnSpc>
            </a:pP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教育学历的区域梯度</a:t>
            </a:r>
            <a:endParaRPr lang="en-US" sz="1600" dirty="0"/>
          </a:p>
        </p:txBody>
      </p:sp>
      <p:sp>
        <p:nvSpPr>
          <p:cNvPr id="20" name="文本框 19"/>
          <p:cNvSpPr txBox="1"/>
          <p:nvPr/>
        </p:nvSpPr>
        <p:spPr>
          <a:xfrm>
            <a:off x="6283325" y="2385695"/>
            <a:ext cx="5186736" cy="2052955"/>
          </a:xfrm>
          <a:prstGeom prst="rect">
            <a:avLst/>
          </a:prstGeom>
          <a:noFill/>
        </p:spPr>
        <p:txBody>
          <a:bodyPr wrap="square">
            <a:spAutoFit/>
          </a:bodyPr>
          <a:lstStyle/>
          <a:p>
            <a:pPr>
              <a:lnSpc>
                <a:spcPts val="1800"/>
              </a:lnSpc>
              <a:spcBef>
                <a:spcPts val="900"/>
              </a:spcBef>
            </a:pPr>
            <a:r>
              <a:rPr lang="en-US" altLang="zh-CN" b="1" dirty="0">
                <a:solidFill>
                  <a:srgbClr val="8FA7D0"/>
                </a:solidFill>
                <a:latin typeface="微软雅黑" panose="020B0503020204020204" pitchFamily="34" charset="-122"/>
                <a:ea typeface="微软雅黑" panose="020B0503020204020204" pitchFamily="34" charset="-122"/>
              </a:rPr>
              <a:t>GDP </a:t>
            </a:r>
            <a:r>
              <a:rPr lang="zh-CN" altLang="en-US" b="1" dirty="0">
                <a:solidFill>
                  <a:srgbClr val="8FA7D0"/>
                </a:solidFill>
                <a:latin typeface="微软雅黑" panose="020B0503020204020204" pitchFamily="34" charset="-122"/>
                <a:ea typeface="微软雅黑" panose="020B0503020204020204" pitchFamily="34" charset="-122"/>
              </a:rPr>
              <a:t>发展水平与高学历占比呈明显正相关</a:t>
            </a:r>
            <a:endParaRPr lang="zh-CN" altLang="en-US" b="1" dirty="0">
              <a:solidFill>
                <a:srgbClr val="8FA7D0"/>
              </a:solidFill>
              <a:latin typeface="微软雅黑" panose="020B0503020204020204" pitchFamily="34" charset="-122"/>
              <a:ea typeface="微软雅黑" panose="020B0503020204020204" pitchFamily="34" charset="-122"/>
            </a:endParaRPr>
          </a:p>
          <a:p>
            <a:pPr>
              <a:lnSpc>
                <a:spcPts val="1800"/>
              </a:lnSpc>
              <a:spcBef>
                <a:spcPts val="900"/>
              </a:spcBef>
            </a:pPr>
            <a:endParaRPr lang="zh-CN" altLang="en-US" b="1" dirty="0">
              <a:solidFill>
                <a:srgbClr val="8FA7D0"/>
              </a:solidFill>
              <a:latin typeface="微软雅黑" panose="020B0503020204020204" pitchFamily="34" charset="-122"/>
              <a:ea typeface="微软雅黑" panose="020B0503020204020204" pitchFamily="34" charset="-122"/>
            </a:endParaRPr>
          </a:p>
          <a:p>
            <a:pPr>
              <a:lnSpc>
                <a:spcPts val="1800"/>
              </a:lnSpc>
              <a:spcBef>
                <a:spcPts val="900"/>
              </a:spcBef>
            </a:pPr>
            <a:endParaRPr lang="en-US" altLang="zh-CN" b="1" dirty="0">
              <a:solidFill>
                <a:srgbClr val="8FA7D0"/>
              </a:solidFill>
              <a:latin typeface="微软雅黑" panose="020B0503020204020204" pitchFamily="34" charset="-122"/>
              <a:ea typeface="微软雅黑" panose="020B0503020204020204" pitchFamily="34" charset="-122"/>
            </a:endParaRPr>
          </a:p>
          <a:p>
            <a:pPr>
              <a:lnSpc>
                <a:spcPts val="1800"/>
              </a:lnSpc>
              <a:spcBef>
                <a:spcPts val="900"/>
              </a:spcBef>
            </a:pPr>
            <a:r>
              <a:rPr lang="zh-CN" altLang="en-US" b="1" dirty="0">
                <a:solidFill>
                  <a:srgbClr val="8FA7D0"/>
                </a:solidFill>
                <a:latin typeface="微软雅黑" panose="020B0503020204020204" pitchFamily="34" charset="-122"/>
                <a:ea typeface="微软雅黑" panose="020B0503020204020204" pitchFamily="34" charset="-122"/>
              </a:rPr>
              <a:t>经济发达地区不仅能支撑更优质的教育资源（高校数量、升学机会），也会通过产业需求拉动高学历人才的积累；而经济欠发达地区的教育 “短板”，也会反过来制约产业升级</a:t>
            </a:r>
            <a:endParaRPr lang="zh-CN" altLang="en-US" b="1" dirty="0"/>
          </a:p>
        </p:txBody>
      </p:sp>
      <p:sp>
        <p:nvSpPr>
          <p:cNvPr id="11" name="Text 8"/>
          <p:cNvSpPr/>
          <p:nvPr/>
        </p:nvSpPr>
        <p:spPr>
          <a:xfrm>
            <a:off x="390525" y="5385435"/>
            <a:ext cx="5503545" cy="711200"/>
          </a:xfrm>
          <a:prstGeom prst="rect">
            <a:avLst/>
          </a:prstGeom>
          <a:noFill/>
        </p:spPr>
        <p:txBody>
          <a:bodyPr wrap="square" lIns="0" tIns="0" rIns="0" bIns="0" rtlCol="0" anchor="ctr"/>
          <a:lstStyle/>
          <a:p>
            <a:pPr algn="ct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GDP发展水平与高学历占比相关系数高达 </a:t>
            </a:r>
            <a:r>
              <a:rPr lang="en-US" sz="24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0.8</a:t>
            </a: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endParaRPr>
          </a:p>
          <a:p>
            <a:pPr algn="ct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经济与教育相互塑造。</a:t>
            </a:r>
            <a:endParaRPr lang="en-US" sz="16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ppt_y</p:attrName>
                                        </p:attrNameLst>
                                      </p:cBhvr>
                                      <p:tavLst>
                                        <p:tav tm="0">
                                          <p:val>
                                            <p:strVal val="#ppt_y+#ppt_h*1.125000"/>
                                          </p:val>
                                        </p:tav>
                                        <p:tav tm="100000">
                                          <p:val>
                                            <p:strVal val="#ppt_y"/>
                                          </p:val>
                                        </p:tav>
                                      </p:tavLst>
                                    </p:anim>
                                    <p:animEffect transition="in" filter="wipe(up)">
                                      <p:cBhvr>
                                        <p:cTn id="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4" name="Text 0"/>
          <p:cNvSpPr/>
          <p:nvPr/>
        </p:nvSpPr>
        <p:spPr>
          <a:xfrm>
            <a:off x="6502400" y="1397000"/>
            <a:ext cx="56261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西部曲线：飞地高校的捷径</a:t>
            </a:r>
            <a:endParaRPr lang="en-US" sz="1600" dirty="0"/>
          </a:p>
        </p:txBody>
      </p:sp>
      <p:sp>
        <p:nvSpPr>
          <p:cNvPr id="5" name="Text 1"/>
          <p:cNvSpPr/>
          <p:nvPr/>
        </p:nvSpPr>
        <p:spPr>
          <a:xfrm>
            <a:off x="6502400" y="2057400"/>
            <a:ext cx="5537200" cy="609600"/>
          </a:xfrm>
          <a:prstGeom prst="rect">
            <a:avLst/>
          </a:prstGeom>
          <a:noFill/>
        </p:spPr>
        <p:txBody>
          <a:bodyPr wrap="square" lIns="0" tIns="0" rIns="0" bIns="0" rtlCol="0" anchor="ctr"/>
          <a:lstStyle/>
          <a:p>
            <a:pPr>
              <a:lnSpc>
                <a:spcPct val="130000"/>
              </a:lnSpc>
            </a:pPr>
            <a:r>
              <a:rPr lang="en-US" sz="16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西部并非一成不变。以川陕渝为例，通过“飞地高校”模式，研究生占比五年翻倍，正在悄悄拉高教育曲线。</a:t>
            </a:r>
            <a:endParaRPr lang="en-US" sz="1600" dirty="0"/>
          </a:p>
        </p:txBody>
      </p:sp>
      <p:sp>
        <p:nvSpPr>
          <p:cNvPr id="6" name="Shape 2"/>
          <p:cNvSpPr/>
          <p:nvPr/>
        </p:nvSpPr>
        <p:spPr>
          <a:xfrm>
            <a:off x="6502400" y="2971800"/>
            <a:ext cx="0" cy="2489200"/>
          </a:xfrm>
          <a:prstGeom prst="line">
            <a:avLst/>
          </a:prstGeom>
          <a:noFill/>
          <a:ln w="20320">
            <a:solidFill>
              <a:srgbClr val="7097E5"/>
            </a:solidFill>
            <a:prstDash val="solid"/>
            <a:headEnd type="none"/>
            <a:tailEnd type="none"/>
          </a:ln>
        </p:spPr>
      </p:sp>
      <p:sp>
        <p:nvSpPr>
          <p:cNvPr id="7" name="Shape 3"/>
          <p:cNvSpPr/>
          <p:nvPr>
            <p:custDataLst>
              <p:tags r:id="rId2"/>
            </p:custDataLst>
          </p:nvPr>
        </p:nvSpPr>
        <p:spPr>
          <a:xfrm>
            <a:off x="6700520" y="3022603"/>
            <a:ext cx="406399" cy="406399"/>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7097E5"/>
          </a:solidFill>
        </p:spPr>
      </p:sp>
      <p:sp>
        <p:nvSpPr>
          <p:cNvPr id="8" name="Shape 4"/>
          <p:cNvSpPr/>
          <p:nvPr>
            <p:custDataLst>
              <p:tags r:id="rId3"/>
            </p:custDataLst>
          </p:nvPr>
        </p:nvSpPr>
        <p:spPr>
          <a:xfrm>
            <a:off x="6802120" y="3124203"/>
            <a:ext cx="203199" cy="203199"/>
          </a:xfrm>
          <a:custGeom>
            <a:avLst/>
            <a:gdLst/>
            <a:ahLst/>
            <a:cxnLst/>
            <a:rect l="l" t="t" r="r" b="b"/>
            <a:pathLst>
              <a:path w="203200" h="203200">
                <a:moveTo>
                  <a:pt x="107910" y="8017"/>
                </a:moveTo>
                <a:cubicBezTo>
                  <a:pt x="104021" y="5794"/>
                  <a:pt x="99219" y="5794"/>
                  <a:pt x="95290" y="8017"/>
                </a:cubicBezTo>
                <a:lnTo>
                  <a:pt x="6390" y="58817"/>
                </a:lnTo>
                <a:cubicBezTo>
                  <a:pt x="1389" y="61674"/>
                  <a:pt x="-1072" y="67548"/>
                  <a:pt x="397" y="73104"/>
                </a:cubicBezTo>
                <a:cubicBezTo>
                  <a:pt x="1865" y="78661"/>
                  <a:pt x="6945" y="82550"/>
                  <a:pt x="12700" y="82550"/>
                </a:cubicBezTo>
                <a:lnTo>
                  <a:pt x="25400" y="82550"/>
                </a:lnTo>
                <a:lnTo>
                  <a:pt x="25400" y="165100"/>
                </a:lnTo>
                <a:lnTo>
                  <a:pt x="25400" y="165100"/>
                </a:lnTo>
                <a:lnTo>
                  <a:pt x="5080" y="180340"/>
                </a:lnTo>
                <a:cubicBezTo>
                  <a:pt x="1865" y="182721"/>
                  <a:pt x="0" y="186492"/>
                  <a:pt x="0" y="190500"/>
                </a:cubicBezTo>
                <a:cubicBezTo>
                  <a:pt x="0" y="197525"/>
                  <a:pt x="5675" y="203200"/>
                  <a:pt x="12700" y="203200"/>
                </a:cubicBezTo>
                <a:lnTo>
                  <a:pt x="190500" y="203200"/>
                </a:lnTo>
                <a:cubicBezTo>
                  <a:pt x="197525" y="203200"/>
                  <a:pt x="203200" y="197525"/>
                  <a:pt x="203200" y="190500"/>
                </a:cubicBezTo>
                <a:cubicBezTo>
                  <a:pt x="203200" y="186492"/>
                  <a:pt x="201335" y="182721"/>
                  <a:pt x="198120" y="180340"/>
                </a:cubicBezTo>
                <a:lnTo>
                  <a:pt x="177800" y="165100"/>
                </a:lnTo>
                <a:lnTo>
                  <a:pt x="177800" y="82550"/>
                </a:lnTo>
                <a:lnTo>
                  <a:pt x="190500" y="82550"/>
                </a:lnTo>
                <a:cubicBezTo>
                  <a:pt x="196255" y="82550"/>
                  <a:pt x="201295" y="78661"/>
                  <a:pt x="202763" y="73104"/>
                </a:cubicBezTo>
                <a:cubicBezTo>
                  <a:pt x="204232" y="67548"/>
                  <a:pt x="201771" y="61674"/>
                  <a:pt x="196771" y="58817"/>
                </a:cubicBezTo>
                <a:lnTo>
                  <a:pt x="107871" y="8017"/>
                </a:lnTo>
                <a:close/>
                <a:moveTo>
                  <a:pt x="158750" y="82550"/>
                </a:moveTo>
                <a:lnTo>
                  <a:pt x="158750" y="165100"/>
                </a:lnTo>
                <a:lnTo>
                  <a:pt x="133350" y="165100"/>
                </a:lnTo>
                <a:lnTo>
                  <a:pt x="133350" y="82550"/>
                </a:lnTo>
                <a:lnTo>
                  <a:pt x="158750" y="82550"/>
                </a:lnTo>
                <a:close/>
                <a:moveTo>
                  <a:pt x="114300" y="82550"/>
                </a:moveTo>
                <a:lnTo>
                  <a:pt x="114300" y="165100"/>
                </a:lnTo>
                <a:lnTo>
                  <a:pt x="88900" y="165100"/>
                </a:lnTo>
                <a:lnTo>
                  <a:pt x="88900" y="82550"/>
                </a:lnTo>
                <a:lnTo>
                  <a:pt x="114300" y="82550"/>
                </a:lnTo>
                <a:close/>
                <a:moveTo>
                  <a:pt x="69850" y="82550"/>
                </a:moveTo>
                <a:lnTo>
                  <a:pt x="69850" y="165100"/>
                </a:lnTo>
                <a:lnTo>
                  <a:pt x="44450" y="165100"/>
                </a:lnTo>
                <a:lnTo>
                  <a:pt x="44450" y="82550"/>
                </a:lnTo>
                <a:lnTo>
                  <a:pt x="69850" y="82550"/>
                </a:lnTo>
                <a:close/>
                <a:moveTo>
                  <a:pt x="101600" y="38100"/>
                </a:moveTo>
                <a:cubicBezTo>
                  <a:pt x="108609" y="38100"/>
                  <a:pt x="114300" y="43791"/>
                  <a:pt x="114300" y="50800"/>
                </a:cubicBezTo>
                <a:cubicBezTo>
                  <a:pt x="114300" y="57809"/>
                  <a:pt x="108609" y="63500"/>
                  <a:pt x="101600" y="63500"/>
                </a:cubicBezTo>
                <a:cubicBezTo>
                  <a:pt x="94591" y="63500"/>
                  <a:pt x="88900" y="57809"/>
                  <a:pt x="88900" y="50800"/>
                </a:cubicBezTo>
                <a:cubicBezTo>
                  <a:pt x="88900" y="43791"/>
                  <a:pt x="94591" y="38100"/>
                  <a:pt x="101600" y="38100"/>
                </a:cubicBezTo>
                <a:close/>
              </a:path>
            </a:pathLst>
          </a:custGeom>
          <a:solidFill>
            <a:srgbClr val="FFFFFF"/>
          </a:solidFill>
        </p:spPr>
      </p:sp>
      <p:sp>
        <p:nvSpPr>
          <p:cNvPr id="9" name="Text 5"/>
          <p:cNvSpPr/>
          <p:nvPr>
            <p:custDataLst>
              <p:tags r:id="rId4"/>
            </p:custDataLst>
          </p:nvPr>
        </p:nvSpPr>
        <p:spPr>
          <a:xfrm>
            <a:off x="7232014" y="2971803"/>
            <a:ext cx="2726048" cy="304799"/>
          </a:xfrm>
          <a:prstGeom prst="rect">
            <a:avLst/>
          </a:prstGeom>
          <a:noFill/>
        </p:spPr>
        <p:txBody>
          <a:bodyPr wrap="square" lIns="0" tIns="0" rIns="0" bIns="0" rtlCol="0" anchor="ctr"/>
          <a:lstStyle/>
          <a:p>
            <a:pP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异地办学</a:t>
            </a:r>
            <a:endParaRPr lang="en-US" sz="1600" dirty="0"/>
          </a:p>
        </p:txBody>
      </p:sp>
      <p:sp>
        <p:nvSpPr>
          <p:cNvPr id="10" name="Text 6"/>
          <p:cNvSpPr/>
          <p:nvPr>
            <p:custDataLst>
              <p:tags r:id="rId5"/>
            </p:custDataLst>
          </p:nvPr>
        </p:nvSpPr>
        <p:spPr>
          <a:xfrm>
            <a:off x="6929119" y="3276603"/>
            <a:ext cx="5092686" cy="253999"/>
          </a:xfrm>
          <a:prstGeom prst="rect">
            <a:avLst/>
          </a:prstGeom>
          <a:noFill/>
        </p:spPr>
        <p:txBody>
          <a:bodyPr wrap="square" lIns="0" tIns="0" rIns="0" bIns="0" rtlCol="0" anchor="ctr"/>
          <a:lstStyle/>
          <a:p>
            <a:pP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东部名校设立分校，直接输入品牌和师资。</a:t>
            </a:r>
            <a:endParaRPr lang="en-US" sz="1600" dirty="0"/>
          </a:p>
        </p:txBody>
      </p:sp>
      <p:sp>
        <p:nvSpPr>
          <p:cNvPr id="11" name="Shape 7"/>
          <p:cNvSpPr/>
          <p:nvPr>
            <p:custDataLst>
              <p:tags r:id="rId6"/>
            </p:custDataLst>
          </p:nvPr>
        </p:nvSpPr>
        <p:spPr>
          <a:xfrm>
            <a:off x="6700520" y="3987801"/>
            <a:ext cx="406399" cy="406399"/>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7097E5"/>
          </a:solidFill>
        </p:spPr>
      </p:sp>
      <p:sp>
        <p:nvSpPr>
          <p:cNvPr id="12" name="Shape 8"/>
          <p:cNvSpPr/>
          <p:nvPr>
            <p:custDataLst>
              <p:tags r:id="rId7"/>
            </p:custDataLst>
          </p:nvPr>
        </p:nvSpPr>
        <p:spPr>
          <a:xfrm>
            <a:off x="6814820" y="4089400"/>
            <a:ext cx="177800" cy="203199"/>
          </a:xfrm>
          <a:custGeom>
            <a:avLst/>
            <a:gdLst/>
            <a:ahLst/>
            <a:cxnLst/>
            <a:rect l="l" t="t" r="r" b="b"/>
            <a:pathLst>
              <a:path w="177800" h="203200">
                <a:moveTo>
                  <a:pt x="114300" y="0"/>
                </a:moveTo>
                <a:lnTo>
                  <a:pt x="50800" y="0"/>
                </a:lnTo>
                <a:cubicBezTo>
                  <a:pt x="43775" y="0"/>
                  <a:pt x="38100" y="5675"/>
                  <a:pt x="38100" y="12700"/>
                </a:cubicBezTo>
                <a:cubicBezTo>
                  <a:pt x="38100" y="19725"/>
                  <a:pt x="43775" y="25400"/>
                  <a:pt x="50800" y="25400"/>
                </a:cubicBezTo>
                <a:lnTo>
                  <a:pt x="50800" y="85527"/>
                </a:lnTo>
                <a:lnTo>
                  <a:pt x="2977" y="169188"/>
                </a:lnTo>
                <a:cubicBezTo>
                  <a:pt x="1032" y="172641"/>
                  <a:pt x="0" y="176490"/>
                  <a:pt x="0" y="180459"/>
                </a:cubicBezTo>
                <a:cubicBezTo>
                  <a:pt x="0" y="193040"/>
                  <a:pt x="10160" y="203200"/>
                  <a:pt x="22741" y="203200"/>
                </a:cubicBezTo>
                <a:lnTo>
                  <a:pt x="155059" y="203200"/>
                </a:lnTo>
                <a:cubicBezTo>
                  <a:pt x="167600" y="203200"/>
                  <a:pt x="177800" y="193040"/>
                  <a:pt x="177800" y="180459"/>
                </a:cubicBezTo>
                <a:cubicBezTo>
                  <a:pt x="177800" y="176490"/>
                  <a:pt x="176768" y="172601"/>
                  <a:pt x="174823" y="169188"/>
                </a:cubicBezTo>
                <a:lnTo>
                  <a:pt x="127000" y="85527"/>
                </a:lnTo>
                <a:lnTo>
                  <a:pt x="127000" y="25400"/>
                </a:lnTo>
                <a:cubicBezTo>
                  <a:pt x="134025" y="25400"/>
                  <a:pt x="139700" y="19725"/>
                  <a:pt x="139700" y="12700"/>
                </a:cubicBezTo>
                <a:cubicBezTo>
                  <a:pt x="139700" y="5675"/>
                  <a:pt x="134025" y="0"/>
                  <a:pt x="127000" y="0"/>
                </a:cubicBezTo>
                <a:lnTo>
                  <a:pt x="114300" y="0"/>
                </a:lnTo>
                <a:close/>
                <a:moveTo>
                  <a:pt x="76200" y="85527"/>
                </a:moveTo>
                <a:lnTo>
                  <a:pt x="76200" y="25400"/>
                </a:lnTo>
                <a:lnTo>
                  <a:pt x="101600" y="25400"/>
                </a:lnTo>
                <a:lnTo>
                  <a:pt x="101600" y="85527"/>
                </a:lnTo>
                <a:cubicBezTo>
                  <a:pt x="101600" y="89932"/>
                  <a:pt x="102751" y="94298"/>
                  <a:pt x="104934" y="98147"/>
                </a:cubicBezTo>
                <a:lnTo>
                  <a:pt x="121444" y="127000"/>
                </a:lnTo>
                <a:lnTo>
                  <a:pt x="56356" y="127000"/>
                </a:lnTo>
                <a:lnTo>
                  <a:pt x="72866" y="98147"/>
                </a:lnTo>
                <a:cubicBezTo>
                  <a:pt x="75049" y="94298"/>
                  <a:pt x="76200" y="89972"/>
                  <a:pt x="76200" y="85527"/>
                </a:cubicBezTo>
                <a:close/>
              </a:path>
            </a:pathLst>
          </a:custGeom>
          <a:solidFill>
            <a:srgbClr val="FFFFFF"/>
          </a:solidFill>
        </p:spPr>
      </p:sp>
      <p:sp>
        <p:nvSpPr>
          <p:cNvPr id="13" name="Text 9"/>
          <p:cNvSpPr/>
          <p:nvPr>
            <p:custDataLst>
              <p:tags r:id="rId8"/>
            </p:custDataLst>
          </p:nvPr>
        </p:nvSpPr>
        <p:spPr>
          <a:xfrm>
            <a:off x="7232014" y="3937001"/>
            <a:ext cx="1609086" cy="304799"/>
          </a:xfrm>
          <a:prstGeom prst="rect">
            <a:avLst/>
          </a:prstGeom>
          <a:noFill/>
        </p:spPr>
        <p:txBody>
          <a:bodyPr wrap="square" lIns="0" tIns="0" rIns="0" bIns="0" rtlCol="0" anchor="ctr"/>
          <a:lstStyle/>
          <a:p>
            <a:pP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研究院模式</a:t>
            </a:r>
            <a:endParaRPr lang="en-US" sz="1600" dirty="0"/>
          </a:p>
        </p:txBody>
      </p:sp>
      <p:sp>
        <p:nvSpPr>
          <p:cNvPr id="14" name="Text 10"/>
          <p:cNvSpPr/>
          <p:nvPr>
            <p:custDataLst>
              <p:tags r:id="rId9"/>
            </p:custDataLst>
          </p:nvPr>
        </p:nvSpPr>
        <p:spPr>
          <a:xfrm>
            <a:off x="6929119" y="4241800"/>
            <a:ext cx="5092686" cy="253999"/>
          </a:xfrm>
          <a:prstGeom prst="rect">
            <a:avLst/>
          </a:prstGeom>
          <a:noFill/>
        </p:spPr>
        <p:txBody>
          <a:bodyPr wrap="square" lIns="0" tIns="0" rIns="0" bIns="0" rtlCol="0" anchor="ctr"/>
          <a:lstStyle/>
          <a:p>
            <a:pP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共建产业研究院，将教育链与产业链直接对接。</a:t>
            </a:r>
            <a:endParaRPr lang="en-US" sz="1600" dirty="0"/>
          </a:p>
        </p:txBody>
      </p:sp>
      <p:sp>
        <p:nvSpPr>
          <p:cNvPr id="15" name="Shape 11"/>
          <p:cNvSpPr/>
          <p:nvPr>
            <p:custDataLst>
              <p:tags r:id="rId10"/>
            </p:custDataLst>
          </p:nvPr>
        </p:nvSpPr>
        <p:spPr>
          <a:xfrm>
            <a:off x="6700520" y="4952998"/>
            <a:ext cx="406399" cy="406399"/>
          </a:xfrm>
          <a:custGeom>
            <a:avLst/>
            <a:gdLst/>
            <a:ahLst/>
            <a:cxnLst/>
            <a:rect l="l" t="t" r="r" b="b"/>
            <a:pathLst>
              <a:path w="406400" h="406400">
                <a:moveTo>
                  <a:pt x="203200" y="0"/>
                </a:moveTo>
                <a:lnTo>
                  <a:pt x="203200" y="0"/>
                </a:lnTo>
                <a:cubicBezTo>
                  <a:pt x="315349" y="0"/>
                  <a:pt x="406400" y="91051"/>
                  <a:pt x="406400" y="203200"/>
                </a:cubicBezTo>
                <a:lnTo>
                  <a:pt x="406400" y="203200"/>
                </a:lnTo>
                <a:cubicBezTo>
                  <a:pt x="406400" y="315349"/>
                  <a:pt x="315349" y="406400"/>
                  <a:pt x="203200" y="406400"/>
                </a:cubicBezTo>
                <a:lnTo>
                  <a:pt x="203200" y="406400"/>
                </a:lnTo>
                <a:cubicBezTo>
                  <a:pt x="91051" y="406400"/>
                  <a:pt x="0" y="315349"/>
                  <a:pt x="0" y="203200"/>
                </a:cubicBezTo>
                <a:lnTo>
                  <a:pt x="0" y="203200"/>
                </a:lnTo>
                <a:cubicBezTo>
                  <a:pt x="0" y="91051"/>
                  <a:pt x="91051" y="0"/>
                  <a:pt x="203200" y="0"/>
                </a:cubicBezTo>
                <a:close/>
              </a:path>
            </a:pathLst>
          </a:custGeom>
          <a:solidFill>
            <a:srgbClr val="7097E5"/>
          </a:solidFill>
        </p:spPr>
      </p:sp>
      <p:sp>
        <p:nvSpPr>
          <p:cNvPr id="16" name="Shape 12"/>
          <p:cNvSpPr/>
          <p:nvPr>
            <p:custDataLst>
              <p:tags r:id="rId11"/>
            </p:custDataLst>
          </p:nvPr>
        </p:nvSpPr>
        <p:spPr>
          <a:xfrm>
            <a:off x="6802120" y="5054598"/>
            <a:ext cx="203199" cy="203199"/>
          </a:xfrm>
          <a:custGeom>
            <a:avLst/>
            <a:gdLst/>
            <a:ahLst/>
            <a:cxnLst/>
            <a:rect l="l" t="t" r="r" b="b"/>
            <a:pathLst>
              <a:path w="203200" h="203200">
                <a:moveTo>
                  <a:pt x="25400" y="25400"/>
                </a:moveTo>
                <a:cubicBezTo>
                  <a:pt x="25400" y="18375"/>
                  <a:pt x="19725" y="12700"/>
                  <a:pt x="12700" y="12700"/>
                </a:cubicBezTo>
                <a:cubicBezTo>
                  <a:pt x="5675" y="12700"/>
                  <a:pt x="0" y="18375"/>
                  <a:pt x="0" y="25400"/>
                </a:cubicBezTo>
                <a:lnTo>
                  <a:pt x="0" y="158750"/>
                </a:lnTo>
                <a:cubicBezTo>
                  <a:pt x="0" y="176292"/>
                  <a:pt x="14208" y="190500"/>
                  <a:pt x="31750" y="190500"/>
                </a:cubicBezTo>
                <a:lnTo>
                  <a:pt x="190500" y="190500"/>
                </a:lnTo>
                <a:cubicBezTo>
                  <a:pt x="197525" y="190500"/>
                  <a:pt x="203200" y="184825"/>
                  <a:pt x="203200" y="177800"/>
                </a:cubicBezTo>
                <a:cubicBezTo>
                  <a:pt x="203200" y="170775"/>
                  <a:pt x="197525" y="165100"/>
                  <a:pt x="190500" y="165100"/>
                </a:cubicBezTo>
                <a:lnTo>
                  <a:pt x="31750" y="165100"/>
                </a:lnTo>
                <a:cubicBezTo>
                  <a:pt x="28258" y="165100"/>
                  <a:pt x="25400" y="162243"/>
                  <a:pt x="25400" y="158750"/>
                </a:cubicBezTo>
                <a:lnTo>
                  <a:pt x="25400" y="25400"/>
                </a:lnTo>
                <a:close/>
                <a:moveTo>
                  <a:pt x="186769" y="59769"/>
                </a:moveTo>
                <a:cubicBezTo>
                  <a:pt x="191730" y="54808"/>
                  <a:pt x="191730" y="46752"/>
                  <a:pt x="186769" y="41791"/>
                </a:cubicBezTo>
                <a:cubicBezTo>
                  <a:pt x="181808" y="36830"/>
                  <a:pt x="173752" y="36830"/>
                  <a:pt x="168791" y="41791"/>
                </a:cubicBezTo>
                <a:lnTo>
                  <a:pt x="127000" y="83622"/>
                </a:lnTo>
                <a:lnTo>
                  <a:pt x="104219" y="60881"/>
                </a:lnTo>
                <a:cubicBezTo>
                  <a:pt x="99258" y="55920"/>
                  <a:pt x="91202" y="55920"/>
                  <a:pt x="86241" y="60881"/>
                </a:cubicBezTo>
                <a:lnTo>
                  <a:pt x="48141" y="98981"/>
                </a:lnTo>
                <a:cubicBezTo>
                  <a:pt x="43180" y="103942"/>
                  <a:pt x="43180" y="111998"/>
                  <a:pt x="48141" y="116959"/>
                </a:cubicBezTo>
                <a:cubicBezTo>
                  <a:pt x="53102" y="121920"/>
                  <a:pt x="61158" y="121920"/>
                  <a:pt x="66119" y="116959"/>
                </a:cubicBezTo>
                <a:lnTo>
                  <a:pt x="95250" y="87828"/>
                </a:lnTo>
                <a:lnTo>
                  <a:pt x="118031" y="110609"/>
                </a:lnTo>
                <a:cubicBezTo>
                  <a:pt x="122992" y="115570"/>
                  <a:pt x="131048" y="115570"/>
                  <a:pt x="136009" y="110609"/>
                </a:cubicBezTo>
                <a:lnTo>
                  <a:pt x="186809" y="59809"/>
                </a:lnTo>
                <a:close/>
              </a:path>
            </a:pathLst>
          </a:custGeom>
          <a:solidFill>
            <a:srgbClr val="FFFFFF"/>
          </a:solidFill>
        </p:spPr>
      </p:sp>
      <p:sp>
        <p:nvSpPr>
          <p:cNvPr id="17" name="Text 13"/>
          <p:cNvSpPr/>
          <p:nvPr>
            <p:custDataLst>
              <p:tags r:id="rId12"/>
            </p:custDataLst>
          </p:nvPr>
        </p:nvSpPr>
        <p:spPr>
          <a:xfrm>
            <a:off x="7232014" y="4902198"/>
            <a:ext cx="3916670" cy="304799"/>
          </a:xfrm>
          <a:prstGeom prst="rect">
            <a:avLst/>
          </a:prstGeom>
          <a:noFill/>
        </p:spPr>
        <p:txBody>
          <a:bodyPr wrap="square" lIns="0" tIns="0" rIns="0" bIns="0" rtlCol="0" anchor="ctr"/>
          <a:lstStyle/>
          <a:p>
            <a:pP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曲线再造</a:t>
            </a:r>
            <a:endParaRPr lang="en-US" sz="1600" dirty="0"/>
          </a:p>
        </p:txBody>
      </p:sp>
      <p:sp>
        <p:nvSpPr>
          <p:cNvPr id="18" name="Text 14"/>
          <p:cNvSpPr/>
          <p:nvPr>
            <p:custDataLst>
              <p:tags r:id="rId13"/>
            </p:custDataLst>
          </p:nvPr>
        </p:nvSpPr>
        <p:spPr>
          <a:xfrm>
            <a:off x="6929119" y="5206997"/>
            <a:ext cx="5092686" cy="253999"/>
          </a:xfrm>
          <a:prstGeom prst="rect">
            <a:avLst/>
          </a:prstGeom>
          <a:noFill/>
        </p:spPr>
        <p:txBody>
          <a:bodyPr wrap="square" lIns="0" tIns="0" rIns="0" bIns="0" rtlCol="0" anchor="ctr"/>
          <a:lstStyle/>
          <a:p>
            <a:pP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无需从头建校，即可分享东部资源，实现跨越式发展。</a:t>
            </a:r>
            <a:endParaRPr lang="en-US" sz="1600" dirty="0"/>
          </a:p>
        </p:txBody>
      </p:sp>
      <p:pic>
        <p:nvPicPr>
          <p:cNvPr id="20" name="图片 19" descr="屏幕截图 2025-12-17 221614"/>
          <p:cNvPicPr>
            <a:picLocks noChangeAspect="1"/>
          </p:cNvPicPr>
          <p:nvPr/>
        </p:nvPicPr>
        <p:blipFill>
          <a:blip r:embed="rId14"/>
          <a:stretch>
            <a:fillRect/>
          </a:stretch>
        </p:blipFill>
        <p:spPr>
          <a:xfrm>
            <a:off x="772160" y="982980"/>
            <a:ext cx="4152900" cy="2293620"/>
          </a:xfrm>
          <a:prstGeom prst="rect">
            <a:avLst/>
          </a:prstGeom>
        </p:spPr>
      </p:pic>
      <p:pic>
        <p:nvPicPr>
          <p:cNvPr id="21" name="图片 20" descr="屏幕截图 2025-12-17 221648"/>
          <p:cNvPicPr>
            <a:picLocks noChangeAspect="1"/>
          </p:cNvPicPr>
          <p:nvPr/>
        </p:nvPicPr>
        <p:blipFill>
          <a:blip r:embed="rId15"/>
          <a:stretch>
            <a:fillRect/>
          </a:stretch>
        </p:blipFill>
        <p:spPr>
          <a:xfrm>
            <a:off x="1106805" y="2926080"/>
            <a:ext cx="4160520" cy="233172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withEffect">
                                  <p:stCondLst>
                                    <p:cond delay="0"/>
                                  </p:stCondLst>
                                  <p:childTnLst>
                                    <p:set>
                                      <p:cBhvr>
                                        <p:cTn id="6" dur="1250" fill="hold">
                                          <p:stCondLst>
                                            <p:cond delay="0"/>
                                          </p:stCondLst>
                                        </p:cTn>
                                        <p:tgtEl>
                                          <p:spTgt spid="20"/>
                                        </p:tgtEl>
                                        <p:attrNameLst>
                                          <p:attrName>style.visibility</p:attrName>
                                        </p:attrNameLst>
                                      </p:cBhvr>
                                      <p:to>
                                        <p:strVal val="visible"/>
                                      </p:to>
                                    </p:set>
                                    <p:animEffect transition="in" filter="wheel(1)">
                                      <p:cBhvr>
                                        <p:cTn id="7" dur="1250"/>
                                        <p:tgtEl>
                                          <p:spTgt spid="20"/>
                                        </p:tgtEl>
                                      </p:cBhvr>
                                    </p:animEffect>
                                  </p:childTnLst>
                                </p:cTn>
                              </p:par>
                              <p:par>
                                <p:cTn id="8" presetID="21" presetClass="entr" presetSubtype="1" fill="hold" nodeType="withEffect">
                                  <p:stCondLst>
                                    <p:cond delay="0"/>
                                  </p:stCondLst>
                                  <p:childTnLst>
                                    <p:set>
                                      <p:cBhvr>
                                        <p:cTn id="9" dur="1250" fill="hold">
                                          <p:stCondLst>
                                            <p:cond delay="0"/>
                                          </p:stCondLst>
                                        </p:cTn>
                                        <p:tgtEl>
                                          <p:spTgt spid="21"/>
                                        </p:tgtEl>
                                        <p:attrNameLst>
                                          <p:attrName>style.visibility</p:attrName>
                                        </p:attrNameLst>
                                      </p:cBhvr>
                                      <p:to>
                                        <p:strVal val="visible"/>
                                      </p:to>
                                    </p:set>
                                    <p:animEffect transition="in" filter="wheel(1)">
                                      <p:cBhvr>
                                        <p:cTn id="10" dur="12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2"/>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nvPicPr>
        <p:blipFill>
          <a:blip r:embed="rId3"/>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nvPicPr>
        <p:blipFill>
          <a:blip r:embed="rId4"/>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nvPicPr>
        <p:blipFill>
          <a:blip r:embed="rId5">
            <a:alphaModFix amt="40000"/>
          </a:blip>
          <a:stretch>
            <a:fillRect/>
          </a:stretch>
        </p:blipFill>
        <p:spPr>
          <a:xfrm rot="16200000">
            <a:off x="10665460" y="-8255"/>
            <a:ext cx="262890" cy="1170305"/>
          </a:xfrm>
          <a:prstGeom prst="rect">
            <a:avLst/>
          </a:prstGeom>
        </p:spPr>
      </p:pic>
      <p:sp>
        <p:nvSpPr>
          <p:cNvPr id="7" name="Text 0"/>
          <p:cNvSpPr/>
          <p:nvPr/>
        </p:nvSpPr>
        <p:spPr>
          <a:xfrm>
            <a:off x="8197052" y="2654618"/>
            <a:ext cx="1618942" cy="1429544"/>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02</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itchFamily="34" charset="0"/>
                <a:ea typeface="MiSans" pitchFamily="34" charset="-122"/>
                <a:cs typeface="MiSans" pitchFamily="34" charset="-120"/>
              </a:rPr>
              <a:t>教育</a:t>
            </a:r>
            <a:r>
              <a:rPr lang="zh-CN" altLang="en-US" sz="3400" dirty="0">
                <a:solidFill>
                  <a:srgbClr val="0D0D0D"/>
                </a:solidFill>
                <a:latin typeface="MiSans" pitchFamily="34" charset="0"/>
                <a:ea typeface="MiSans" pitchFamily="34" charset="-122"/>
                <a:cs typeface="MiSans" pitchFamily="34" charset="-120"/>
              </a:rPr>
              <a:t>情况分析</a:t>
            </a:r>
            <a:endParaRPr lang="zh-CN" altLang="en-US" sz="3400" dirty="0">
              <a:solidFill>
                <a:srgbClr val="0D0D0D"/>
              </a:solidFill>
              <a:latin typeface="MiSans" pitchFamily="34" charset="0"/>
              <a:ea typeface="MiSans" pitchFamily="34" charset="-122"/>
              <a:cs typeface="MiSans" pitchFamily="34" charset="-120"/>
            </a:endParaRPr>
          </a:p>
          <a:p>
            <a:pPr>
              <a:lnSpc>
                <a:spcPct val="100000"/>
              </a:lnSpc>
            </a:pPr>
            <a:endParaRPr lang="en-US" sz="1600" dirty="0"/>
          </a:p>
        </p:txBody>
      </p:sp>
      <p:sp>
        <p:nvSpPr>
          <p:cNvPr id="9"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0" name="Shape 3"/>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1" name="Text 4"/>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5"/>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3" name="Text 6"/>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7"/>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5" name="Text 8"/>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9"/>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7" name="Text 10"/>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1"/>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9" name="Text 12"/>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1" name="Text 14"/>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2" name="Text 0"/>
          <p:cNvSpPr/>
          <p:nvPr/>
        </p:nvSpPr>
        <p:spPr>
          <a:xfrm>
            <a:off x="1287145" y="3846830"/>
            <a:ext cx="5727700" cy="457200"/>
          </a:xfrm>
          <a:prstGeom prst="rect">
            <a:avLst/>
          </a:prstGeom>
          <a:noFill/>
        </p:spPr>
        <p:txBody>
          <a:bodyPr wrap="square" lIns="0" tIns="0" rIns="0" bIns="0" rtlCol="0" anchor="ctr"/>
          <a:lstStyle/>
          <a:p>
            <a:pP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区域</a:t>
            </a: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化</a:t>
            </a:r>
            <a:endParaRPr lang="en-US" sz="1600" dirty="0"/>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4" name="Text 0"/>
          <p:cNvSpPr/>
          <p:nvPr/>
        </p:nvSpPr>
        <p:spPr>
          <a:xfrm>
            <a:off x="641349" y="457200"/>
            <a:ext cx="6477205" cy="457200"/>
          </a:xfrm>
          <a:prstGeom prst="rect">
            <a:avLst/>
          </a:prstGeom>
          <a:noFill/>
        </p:spPr>
        <p:txBody>
          <a:bodyPr wrap="square" lIns="0" tIns="0" rIns="0" bIns="0" rtlCol="0" anchor="ctr"/>
          <a:lstStyle/>
          <a:p>
            <a:pPr>
              <a:lnSpc>
                <a:spcPct val="100000"/>
              </a:lnSpc>
            </a:pP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“代际</a:t>
            </a:r>
            <a:r>
              <a:rPr lang="en-US" sz="3000" b="1" dirty="0" err="1">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余晖</a:t>
            </a: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a:t>
            </a:r>
            <a:r>
              <a:rPr lang="en-US" altLang="zh-CN"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年龄与城乡的残影</a:t>
            </a:r>
            <a:endParaRPr lang="en-US" sz="1600" dirty="0"/>
          </a:p>
        </p:txBody>
      </p:sp>
      <p:sp>
        <p:nvSpPr>
          <p:cNvPr id="5" name="Text 1"/>
          <p:cNvSpPr/>
          <p:nvPr/>
        </p:nvSpPr>
        <p:spPr>
          <a:xfrm>
            <a:off x="6725111" y="1255259"/>
            <a:ext cx="5231940" cy="4532671"/>
          </a:xfrm>
          <a:prstGeom prst="rect">
            <a:avLst/>
          </a:prstGeom>
          <a:noFill/>
        </p:spPr>
        <p:txBody>
          <a:bodyPr wrap="square" lIns="0" tIns="0" rIns="0" bIns="0" rtlCol="0" anchor="ctr"/>
          <a:lstStyle/>
          <a:p>
            <a:pPr>
              <a:lnSpc>
                <a:spcPct val="130000"/>
              </a:lnSpc>
            </a:pPr>
            <a:endParaRPr lang="en-US" b="1" dirty="0">
              <a:solidFill>
                <a:srgbClr val="8FA7D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1782096" y="1046516"/>
            <a:ext cx="8030498" cy="417487"/>
          </a:xfrm>
          <a:prstGeom prst="rect">
            <a:avLst/>
          </a:prstGeom>
          <a:noFill/>
        </p:spPr>
        <p:txBody>
          <a:bodyPr wrap="square">
            <a:spAutoFit/>
          </a:bodyPr>
          <a:lstStyle/>
          <a:p>
            <a:pPr>
              <a:lnSpc>
                <a:spcPct val="130000"/>
              </a:lnSpc>
            </a:pPr>
            <a:r>
              <a:rPr lang="en-US" altLang="zh-CN" sz="1800" dirty="0" err="1">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历史积累与供给缺位叠加，使高龄农村群体成为绝对文盲高原</a:t>
            </a:r>
            <a:r>
              <a:rPr lang="en-US" altLang="zh-CN" sz="18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altLang="zh-CN" sz="18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endParaRPr>
          </a:p>
        </p:txBody>
      </p:sp>
      <p:grpSp>
        <p:nvGrpSpPr>
          <p:cNvPr id="19" name="组合 18"/>
          <p:cNvGrpSpPr/>
          <p:nvPr/>
        </p:nvGrpSpPr>
        <p:grpSpPr>
          <a:xfrm>
            <a:off x="6343015" y="2169659"/>
            <a:ext cx="5511800" cy="2184400"/>
            <a:chOff x="10240" y="4560"/>
            <a:chExt cx="8680" cy="3440"/>
          </a:xfrm>
        </p:grpSpPr>
        <p:sp>
          <p:nvSpPr>
            <p:cNvPr id="20" name="Shape 2"/>
            <p:cNvSpPr/>
            <p:nvPr/>
          </p:nvSpPr>
          <p:spPr>
            <a:xfrm>
              <a:off x="10240" y="4560"/>
              <a:ext cx="8560" cy="3440"/>
            </a:xfrm>
            <a:custGeom>
              <a:avLst/>
              <a:gdLst/>
              <a:ahLst/>
              <a:cxnLst/>
              <a:rect l="l" t="t" r="r" b="b"/>
              <a:pathLst>
                <a:path w="5435600" h="2184400">
                  <a:moveTo>
                    <a:pt x="101596" y="0"/>
                  </a:moveTo>
                  <a:lnTo>
                    <a:pt x="5334004" y="0"/>
                  </a:lnTo>
                  <a:cubicBezTo>
                    <a:pt x="5390114" y="0"/>
                    <a:pt x="5435600" y="45486"/>
                    <a:pt x="5435600" y="101596"/>
                  </a:cubicBezTo>
                  <a:lnTo>
                    <a:pt x="5435600" y="2082804"/>
                  </a:lnTo>
                  <a:cubicBezTo>
                    <a:pt x="5435600" y="2138914"/>
                    <a:pt x="5390114" y="2184400"/>
                    <a:pt x="5334004" y="2184400"/>
                  </a:cubicBezTo>
                  <a:lnTo>
                    <a:pt x="101596" y="2184400"/>
                  </a:lnTo>
                  <a:cubicBezTo>
                    <a:pt x="45486" y="2184400"/>
                    <a:pt x="0" y="2138914"/>
                    <a:pt x="0" y="2082804"/>
                  </a:cubicBezTo>
                  <a:lnTo>
                    <a:pt x="0" y="101596"/>
                  </a:lnTo>
                  <a:cubicBezTo>
                    <a:pt x="0" y="45524"/>
                    <a:pt x="45524" y="0"/>
                    <a:pt x="101596" y="0"/>
                  </a:cubicBezTo>
                  <a:close/>
                </a:path>
              </a:pathLst>
            </a:custGeom>
            <a:solidFill>
              <a:srgbClr val="5C7CB3">
                <a:alpha val="10196"/>
              </a:srgbClr>
            </a:solidFill>
          </p:spPr>
          <p:txBody>
            <a:bodyPr/>
            <a:lstStyle/>
            <a:p>
              <a:endParaRPr lang="zh-CN" altLang="en-US"/>
            </a:p>
          </p:txBody>
        </p:sp>
        <p:sp>
          <p:nvSpPr>
            <p:cNvPr id="21" name="Text 3"/>
            <p:cNvSpPr/>
            <p:nvPr/>
          </p:nvSpPr>
          <p:spPr>
            <a:xfrm>
              <a:off x="10720" y="5040"/>
              <a:ext cx="7780" cy="560"/>
            </a:xfrm>
            <a:prstGeom prst="rect">
              <a:avLst/>
            </a:prstGeom>
            <a:noFill/>
          </p:spPr>
          <p:txBody>
            <a:bodyPr wrap="square" lIns="0" tIns="0" rIns="0" bIns="0" rtlCol="0" anchor="ctr"/>
            <a:lstStyle/>
            <a:p>
              <a:pPr>
                <a:lnSpc>
                  <a:spcPct val="130000"/>
                </a:lnSpc>
              </a:pPr>
              <a:r>
                <a:rPr lang="en-US" sz="18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农村80岁以上文盲率</a:t>
              </a:r>
              <a:endParaRPr lang="en-US" sz="1600" dirty="0"/>
            </a:p>
          </p:txBody>
        </p:sp>
        <p:sp>
          <p:nvSpPr>
            <p:cNvPr id="22" name="Text 4"/>
            <p:cNvSpPr/>
            <p:nvPr/>
          </p:nvSpPr>
          <p:spPr>
            <a:xfrm>
              <a:off x="10720" y="5760"/>
              <a:ext cx="8200" cy="1200"/>
            </a:xfrm>
            <a:prstGeom prst="rect">
              <a:avLst/>
            </a:prstGeom>
            <a:noFill/>
          </p:spPr>
          <p:txBody>
            <a:bodyPr wrap="square" lIns="0" tIns="0" rIns="0" bIns="0" rtlCol="0" anchor="ctr"/>
            <a:lstStyle/>
            <a:p>
              <a:pPr>
                <a:lnSpc>
                  <a:spcPct val="80000"/>
                </a:lnSpc>
              </a:pPr>
              <a:r>
                <a:rPr lang="en-US" sz="60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&gt;30%</a:t>
              </a:r>
              <a:endParaRPr lang="en-US" sz="1600" dirty="0"/>
            </a:p>
          </p:txBody>
        </p:sp>
        <p:sp>
          <p:nvSpPr>
            <p:cNvPr id="23" name="Text 5"/>
            <p:cNvSpPr/>
            <p:nvPr/>
          </p:nvSpPr>
          <p:spPr>
            <a:xfrm>
              <a:off x="10720" y="7120"/>
              <a:ext cx="7740" cy="400"/>
            </a:xfrm>
            <a:prstGeom prst="rect">
              <a:avLst/>
            </a:prstGeom>
            <a:noFill/>
          </p:spPr>
          <p:txBody>
            <a:bodyPr wrap="square" lIns="0" tIns="0" rIns="0" bIns="0" rtlCol="0" anchor="ctr"/>
            <a:lstStyle/>
            <a:p>
              <a:pP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同龄城镇群体则低于 </a:t>
              </a:r>
              <a:r>
                <a:rPr lang="en-US" sz="1400" b="1"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5%</a:t>
              </a:r>
              <a:endParaRPr lang="en-US" sz="1600" dirty="0"/>
            </a:p>
          </p:txBody>
        </p:sp>
      </p:grpSp>
      <p:pic>
        <p:nvPicPr>
          <p:cNvPr id="24" name="图片 23"/>
          <p:cNvPicPr>
            <a:picLocks noChangeAspect="1"/>
          </p:cNvPicPr>
          <p:nvPr/>
        </p:nvPicPr>
        <p:blipFill>
          <a:blip r:embed="rId2"/>
          <a:srcRect l="3875" t="64030" r="-75" b="3677"/>
          <a:stretch>
            <a:fillRect/>
          </a:stretch>
        </p:blipFill>
        <p:spPr>
          <a:xfrm>
            <a:off x="337185" y="2076450"/>
            <a:ext cx="5779770" cy="3371215"/>
          </a:xfrm>
          <a:prstGeom prst="rect">
            <a:avLst/>
          </a:prstGeom>
        </p:spPr>
      </p:pic>
      <p:sp>
        <p:nvSpPr>
          <p:cNvPr id="6" name="矩形 5"/>
          <p:cNvSpPr/>
          <p:nvPr/>
        </p:nvSpPr>
        <p:spPr>
          <a:xfrm>
            <a:off x="6194251" y="4514588"/>
            <a:ext cx="4954638" cy="95049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sz="3200" b="1" dirty="0">
                <a:solidFill>
                  <a:srgbClr val="8FA7D0"/>
                </a:solidFill>
                <a:latin typeface="微软雅黑" panose="020B0503020204020204" pitchFamily="34" charset="-122"/>
                <a:ea typeface="微软雅黑" panose="020B0503020204020204" pitchFamily="34" charset="-122"/>
                <a:sym typeface="+mn-ea"/>
              </a:rPr>
              <a:t>同时这反映出中国教育发展是 “阶梯式跃升” 的</a:t>
            </a:r>
            <a:endParaRPr lang="zh-CN" altLang="en-US" sz="32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158750" y="1574800"/>
            <a:ext cx="11874500" cy="457200"/>
          </a:xfrm>
          <a:prstGeom prst="rect">
            <a:avLst/>
          </a:prstGeom>
          <a:noFill/>
        </p:spPr>
        <p:txBody>
          <a:bodyPr wrap="square" lIns="0" tIns="0" rIns="0" bIns="0" rtlCol="0" anchor="ctr"/>
          <a:lstStyle/>
          <a:p>
            <a:pPr algn="ctr">
              <a:lnSpc>
                <a:spcPct val="100000"/>
              </a:lnSpc>
            </a:pPr>
            <a:r>
              <a:rPr lang="en-US" sz="3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城乡青年教育鸿沟加速收窄</a:t>
            </a:r>
            <a:endParaRPr lang="en-US" sz="1600" dirty="0"/>
          </a:p>
        </p:txBody>
      </p:sp>
      <p:sp>
        <p:nvSpPr>
          <p:cNvPr id="4" name="Text 1"/>
          <p:cNvSpPr/>
          <p:nvPr/>
        </p:nvSpPr>
        <p:spPr>
          <a:xfrm>
            <a:off x="203200" y="2336800"/>
            <a:ext cx="11785600" cy="304800"/>
          </a:xfrm>
          <a:prstGeom prst="rect">
            <a:avLst/>
          </a:prstGeom>
          <a:noFill/>
        </p:spPr>
        <p:txBody>
          <a:bodyPr wrap="square" lIns="0" tIns="0" rIns="0" bIns="0" rtlCol="0" anchor="ctr"/>
          <a:lstStyle/>
          <a:p>
            <a:pPr algn="ctr">
              <a:lnSpc>
                <a:spcPct val="130000"/>
              </a:lnSpc>
            </a:pPr>
            <a:r>
              <a:rPr lang="en-US" sz="16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对于15-29岁青年，城乡高中及以上学历的差距已从六普的28个百分点，降至七普的9个百分点。</a:t>
            </a:r>
            <a:endParaRPr lang="en-US" sz="1600" dirty="0"/>
          </a:p>
        </p:txBody>
      </p:sp>
      <p:sp>
        <p:nvSpPr>
          <p:cNvPr id="5" name="Text 2"/>
          <p:cNvSpPr/>
          <p:nvPr/>
        </p:nvSpPr>
        <p:spPr>
          <a:xfrm>
            <a:off x="196850" y="3048000"/>
            <a:ext cx="4457700" cy="355600"/>
          </a:xfrm>
          <a:prstGeom prst="rect">
            <a:avLst/>
          </a:prstGeom>
          <a:noFill/>
        </p:spPr>
        <p:txBody>
          <a:bodyPr wrap="square" lIns="0" tIns="0" rIns="0" bIns="0" rtlCol="0" anchor="ctr"/>
          <a:lstStyle/>
          <a:p>
            <a:pPr algn="ctr">
              <a:lnSpc>
                <a:spcPct val="130000"/>
              </a:lnSpc>
            </a:pPr>
            <a:r>
              <a:rPr lang="en-US" sz="18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六普 (2010)</a:t>
            </a:r>
            <a:endParaRPr lang="en-US" sz="1600" dirty="0"/>
          </a:p>
        </p:txBody>
      </p:sp>
      <p:sp>
        <p:nvSpPr>
          <p:cNvPr id="6" name="Text 3"/>
          <p:cNvSpPr/>
          <p:nvPr/>
        </p:nvSpPr>
        <p:spPr>
          <a:xfrm>
            <a:off x="1824038" y="3505200"/>
            <a:ext cx="1206500" cy="508000"/>
          </a:xfrm>
          <a:prstGeom prst="rect">
            <a:avLst/>
          </a:prstGeom>
          <a:noFill/>
        </p:spPr>
        <p:txBody>
          <a:bodyPr wrap="square" lIns="0" tIns="0" rIns="0" bIns="0" rtlCol="0" anchor="ctr"/>
          <a:lstStyle/>
          <a:p>
            <a:pPr algn="ctr">
              <a:lnSpc>
                <a:spcPct val="90000"/>
              </a:lnSpc>
            </a:pPr>
            <a:r>
              <a:rPr lang="en-US" sz="3600" b="1"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28%</a:t>
            </a:r>
            <a:endParaRPr lang="en-US" sz="1600" dirty="0"/>
          </a:p>
        </p:txBody>
      </p:sp>
      <p:sp>
        <p:nvSpPr>
          <p:cNvPr id="7" name="Text 4"/>
          <p:cNvSpPr/>
          <p:nvPr/>
        </p:nvSpPr>
        <p:spPr>
          <a:xfrm>
            <a:off x="1893887" y="4013200"/>
            <a:ext cx="1066800" cy="254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城乡差距</a:t>
            </a:r>
            <a:endParaRPr lang="en-US" sz="1600" dirty="0"/>
          </a:p>
        </p:txBody>
      </p:sp>
      <p:sp>
        <p:nvSpPr>
          <p:cNvPr id="8" name="Shape 5"/>
          <p:cNvSpPr/>
          <p:nvPr/>
        </p:nvSpPr>
        <p:spPr>
          <a:xfrm>
            <a:off x="5008880" y="3606800"/>
            <a:ext cx="2171700" cy="101600"/>
          </a:xfrm>
          <a:custGeom>
            <a:avLst/>
            <a:gdLst/>
            <a:ahLst/>
            <a:cxnLst/>
            <a:rect l="l" t="t" r="r" b="b"/>
            <a:pathLst>
              <a:path w="2171700" h="101600">
                <a:moveTo>
                  <a:pt x="50800" y="0"/>
                </a:moveTo>
                <a:lnTo>
                  <a:pt x="2120900" y="0"/>
                </a:lnTo>
                <a:cubicBezTo>
                  <a:pt x="2148937" y="0"/>
                  <a:pt x="2171700" y="22763"/>
                  <a:pt x="2171700" y="50800"/>
                </a:cubicBezTo>
                <a:lnTo>
                  <a:pt x="2171700" y="50800"/>
                </a:lnTo>
                <a:cubicBezTo>
                  <a:pt x="2171700" y="78837"/>
                  <a:pt x="2148937" y="101600"/>
                  <a:pt x="2120900" y="101600"/>
                </a:cubicBezTo>
                <a:lnTo>
                  <a:pt x="50800" y="101600"/>
                </a:lnTo>
                <a:cubicBezTo>
                  <a:pt x="22763" y="101600"/>
                  <a:pt x="0" y="78837"/>
                  <a:pt x="0" y="50800"/>
                </a:cubicBezTo>
                <a:lnTo>
                  <a:pt x="0" y="50800"/>
                </a:lnTo>
                <a:cubicBezTo>
                  <a:pt x="0" y="22763"/>
                  <a:pt x="22763" y="0"/>
                  <a:pt x="50800" y="0"/>
                </a:cubicBezTo>
                <a:close/>
              </a:path>
            </a:pathLst>
          </a:custGeom>
          <a:gradFill flip="none" rotWithShape="1">
            <a:gsLst>
              <a:gs pos="0">
                <a:srgbClr val="8FA7D0"/>
              </a:gs>
              <a:gs pos="100000">
                <a:srgbClr val="7097E5"/>
              </a:gs>
            </a:gsLst>
            <a:lin ang="0" scaled="1"/>
          </a:gradFill>
        </p:spPr>
      </p:sp>
      <p:sp>
        <p:nvSpPr>
          <p:cNvPr id="9" name="Shape 6"/>
          <p:cNvSpPr/>
          <p:nvPr/>
        </p:nvSpPr>
        <p:spPr>
          <a:xfrm>
            <a:off x="5791200" y="3352800"/>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7097E5"/>
          </a:solidFill>
        </p:spPr>
      </p:sp>
      <p:sp>
        <p:nvSpPr>
          <p:cNvPr id="10" name="Shape 7"/>
          <p:cNvSpPr/>
          <p:nvPr/>
        </p:nvSpPr>
        <p:spPr>
          <a:xfrm>
            <a:off x="5994400" y="3556000"/>
            <a:ext cx="203200" cy="203200"/>
          </a:xfrm>
          <a:custGeom>
            <a:avLst/>
            <a:gdLst/>
            <a:ahLst/>
            <a:cxnLst/>
            <a:rect l="l" t="t" r="r" b="b"/>
            <a:pathLst>
              <a:path w="203200" h="203200">
                <a:moveTo>
                  <a:pt x="180975" y="88900"/>
                </a:moveTo>
                <a:lnTo>
                  <a:pt x="123825" y="88900"/>
                </a:lnTo>
                <a:cubicBezTo>
                  <a:pt x="118547" y="88900"/>
                  <a:pt x="114300" y="84653"/>
                  <a:pt x="114300" y="79375"/>
                </a:cubicBezTo>
                <a:lnTo>
                  <a:pt x="114300" y="22225"/>
                </a:lnTo>
                <a:cubicBezTo>
                  <a:pt x="114300" y="18375"/>
                  <a:pt x="116602" y="14883"/>
                  <a:pt x="120174" y="13414"/>
                </a:cubicBezTo>
                <a:cubicBezTo>
                  <a:pt x="123746" y="11946"/>
                  <a:pt x="127833" y="12779"/>
                  <a:pt x="130572" y="15478"/>
                </a:cubicBezTo>
                <a:lnTo>
                  <a:pt x="146447" y="31353"/>
                </a:lnTo>
                <a:lnTo>
                  <a:pt x="175577" y="2222"/>
                </a:lnTo>
                <a:cubicBezTo>
                  <a:pt x="177006" y="794"/>
                  <a:pt x="178951" y="0"/>
                  <a:pt x="180975" y="0"/>
                </a:cubicBezTo>
                <a:cubicBezTo>
                  <a:pt x="182999" y="0"/>
                  <a:pt x="184944" y="794"/>
                  <a:pt x="186412" y="2262"/>
                </a:cubicBezTo>
                <a:lnTo>
                  <a:pt x="200978" y="16828"/>
                </a:lnTo>
                <a:cubicBezTo>
                  <a:pt x="202406" y="18256"/>
                  <a:pt x="203200" y="20201"/>
                  <a:pt x="203200" y="22225"/>
                </a:cubicBezTo>
                <a:cubicBezTo>
                  <a:pt x="203200" y="24249"/>
                  <a:pt x="202406" y="26194"/>
                  <a:pt x="200938" y="27662"/>
                </a:cubicBezTo>
                <a:lnTo>
                  <a:pt x="171847" y="56753"/>
                </a:lnTo>
                <a:lnTo>
                  <a:pt x="187722" y="72628"/>
                </a:lnTo>
                <a:cubicBezTo>
                  <a:pt x="190460" y="75367"/>
                  <a:pt x="191254" y="79454"/>
                  <a:pt x="189786" y="83026"/>
                </a:cubicBezTo>
                <a:cubicBezTo>
                  <a:pt x="188317" y="86598"/>
                  <a:pt x="184825" y="88900"/>
                  <a:pt x="180975" y="88900"/>
                </a:cubicBezTo>
                <a:close/>
                <a:moveTo>
                  <a:pt x="180975" y="114300"/>
                </a:moveTo>
                <a:cubicBezTo>
                  <a:pt x="184825" y="114300"/>
                  <a:pt x="188317" y="116602"/>
                  <a:pt x="189786" y="120174"/>
                </a:cubicBezTo>
                <a:cubicBezTo>
                  <a:pt x="191254" y="123746"/>
                  <a:pt x="190460" y="127833"/>
                  <a:pt x="187722" y="130572"/>
                </a:cubicBezTo>
                <a:lnTo>
                  <a:pt x="171847" y="146447"/>
                </a:lnTo>
                <a:lnTo>
                  <a:pt x="200978" y="175577"/>
                </a:lnTo>
                <a:cubicBezTo>
                  <a:pt x="202406" y="177006"/>
                  <a:pt x="203240" y="178951"/>
                  <a:pt x="203240" y="181015"/>
                </a:cubicBezTo>
                <a:cubicBezTo>
                  <a:pt x="203240" y="183078"/>
                  <a:pt x="202446" y="184983"/>
                  <a:pt x="200978" y="186452"/>
                </a:cubicBezTo>
                <a:lnTo>
                  <a:pt x="186412" y="201017"/>
                </a:lnTo>
                <a:cubicBezTo>
                  <a:pt x="184944" y="202406"/>
                  <a:pt x="182999" y="203200"/>
                  <a:pt x="180975" y="203200"/>
                </a:cubicBezTo>
                <a:cubicBezTo>
                  <a:pt x="178951" y="203200"/>
                  <a:pt x="177006" y="202406"/>
                  <a:pt x="175538" y="200938"/>
                </a:cubicBezTo>
                <a:lnTo>
                  <a:pt x="146447" y="171847"/>
                </a:lnTo>
                <a:lnTo>
                  <a:pt x="130572" y="187722"/>
                </a:lnTo>
                <a:cubicBezTo>
                  <a:pt x="127833" y="190460"/>
                  <a:pt x="123746" y="191254"/>
                  <a:pt x="120174" y="189786"/>
                </a:cubicBezTo>
                <a:cubicBezTo>
                  <a:pt x="116602" y="188317"/>
                  <a:pt x="114300" y="184825"/>
                  <a:pt x="114300" y="180975"/>
                </a:cubicBezTo>
                <a:lnTo>
                  <a:pt x="114300" y="123825"/>
                </a:lnTo>
                <a:cubicBezTo>
                  <a:pt x="114300" y="118547"/>
                  <a:pt x="118547" y="114300"/>
                  <a:pt x="123825" y="114300"/>
                </a:cubicBezTo>
                <a:lnTo>
                  <a:pt x="180975" y="114300"/>
                </a:lnTo>
                <a:close/>
                <a:moveTo>
                  <a:pt x="79375" y="114300"/>
                </a:moveTo>
                <a:cubicBezTo>
                  <a:pt x="84653" y="114300"/>
                  <a:pt x="88900" y="118547"/>
                  <a:pt x="88900" y="123825"/>
                </a:cubicBezTo>
                <a:lnTo>
                  <a:pt x="88900" y="180975"/>
                </a:lnTo>
                <a:cubicBezTo>
                  <a:pt x="88900" y="184825"/>
                  <a:pt x="86598" y="188317"/>
                  <a:pt x="83026" y="189786"/>
                </a:cubicBezTo>
                <a:cubicBezTo>
                  <a:pt x="79454" y="191254"/>
                  <a:pt x="75367" y="190460"/>
                  <a:pt x="72628" y="187722"/>
                </a:cubicBezTo>
                <a:lnTo>
                  <a:pt x="56753" y="171847"/>
                </a:lnTo>
                <a:lnTo>
                  <a:pt x="27622" y="200978"/>
                </a:lnTo>
                <a:cubicBezTo>
                  <a:pt x="26194" y="202406"/>
                  <a:pt x="24249" y="203200"/>
                  <a:pt x="22225" y="203200"/>
                </a:cubicBezTo>
                <a:cubicBezTo>
                  <a:pt x="20201" y="203200"/>
                  <a:pt x="18256" y="202406"/>
                  <a:pt x="16788" y="200938"/>
                </a:cubicBezTo>
                <a:lnTo>
                  <a:pt x="2262" y="186412"/>
                </a:lnTo>
                <a:cubicBezTo>
                  <a:pt x="794" y="184944"/>
                  <a:pt x="0" y="182999"/>
                  <a:pt x="0" y="180975"/>
                </a:cubicBezTo>
                <a:cubicBezTo>
                  <a:pt x="0" y="178951"/>
                  <a:pt x="794" y="177006"/>
                  <a:pt x="2262" y="175538"/>
                </a:cubicBezTo>
                <a:lnTo>
                  <a:pt x="31353" y="146447"/>
                </a:lnTo>
                <a:lnTo>
                  <a:pt x="15478" y="130572"/>
                </a:lnTo>
                <a:cubicBezTo>
                  <a:pt x="12740" y="127833"/>
                  <a:pt x="11946" y="123746"/>
                  <a:pt x="13414" y="120174"/>
                </a:cubicBezTo>
                <a:cubicBezTo>
                  <a:pt x="14883" y="116602"/>
                  <a:pt x="18375" y="114300"/>
                  <a:pt x="22225" y="114300"/>
                </a:cubicBezTo>
                <a:lnTo>
                  <a:pt x="79375" y="114300"/>
                </a:lnTo>
                <a:close/>
                <a:moveTo>
                  <a:pt x="22225" y="88900"/>
                </a:moveTo>
                <a:cubicBezTo>
                  <a:pt x="18375" y="88900"/>
                  <a:pt x="14883" y="86598"/>
                  <a:pt x="13414" y="83026"/>
                </a:cubicBezTo>
                <a:cubicBezTo>
                  <a:pt x="11946" y="79454"/>
                  <a:pt x="12779" y="75367"/>
                  <a:pt x="15478" y="72628"/>
                </a:cubicBezTo>
                <a:lnTo>
                  <a:pt x="31353" y="56753"/>
                </a:lnTo>
                <a:lnTo>
                  <a:pt x="2262" y="27662"/>
                </a:lnTo>
                <a:cubicBezTo>
                  <a:pt x="794" y="26194"/>
                  <a:pt x="0" y="24249"/>
                  <a:pt x="0" y="22225"/>
                </a:cubicBezTo>
                <a:cubicBezTo>
                  <a:pt x="0" y="20201"/>
                  <a:pt x="794" y="18256"/>
                  <a:pt x="2262" y="16788"/>
                </a:cubicBezTo>
                <a:lnTo>
                  <a:pt x="16788" y="2262"/>
                </a:lnTo>
                <a:cubicBezTo>
                  <a:pt x="18256" y="794"/>
                  <a:pt x="20201" y="0"/>
                  <a:pt x="22225" y="0"/>
                </a:cubicBezTo>
                <a:cubicBezTo>
                  <a:pt x="24249" y="0"/>
                  <a:pt x="26194" y="794"/>
                  <a:pt x="27662" y="2262"/>
                </a:cubicBezTo>
                <a:lnTo>
                  <a:pt x="56753" y="31353"/>
                </a:lnTo>
                <a:lnTo>
                  <a:pt x="72628" y="15478"/>
                </a:lnTo>
                <a:cubicBezTo>
                  <a:pt x="75367" y="12740"/>
                  <a:pt x="79454" y="11946"/>
                  <a:pt x="83026" y="13414"/>
                </a:cubicBezTo>
                <a:cubicBezTo>
                  <a:pt x="86598" y="14883"/>
                  <a:pt x="88900" y="18375"/>
                  <a:pt x="88900" y="22225"/>
                </a:cubicBezTo>
                <a:lnTo>
                  <a:pt x="88900" y="79375"/>
                </a:lnTo>
                <a:cubicBezTo>
                  <a:pt x="88900" y="84653"/>
                  <a:pt x="84653" y="88900"/>
                  <a:pt x="79375" y="88900"/>
                </a:cubicBezTo>
                <a:lnTo>
                  <a:pt x="22225" y="88900"/>
                </a:lnTo>
                <a:close/>
              </a:path>
            </a:pathLst>
          </a:custGeom>
          <a:solidFill>
            <a:srgbClr val="FFFFFF"/>
          </a:solidFill>
        </p:spPr>
      </p:sp>
      <p:sp>
        <p:nvSpPr>
          <p:cNvPr id="11" name="Text 8"/>
          <p:cNvSpPr/>
          <p:nvPr/>
        </p:nvSpPr>
        <p:spPr>
          <a:xfrm>
            <a:off x="7532370" y="3048000"/>
            <a:ext cx="4457700" cy="355600"/>
          </a:xfrm>
          <a:prstGeom prst="rect">
            <a:avLst/>
          </a:prstGeom>
          <a:noFill/>
        </p:spPr>
        <p:txBody>
          <a:bodyPr wrap="square" lIns="0" tIns="0" rIns="0" bIns="0" rtlCol="0" anchor="ctr"/>
          <a:lstStyle/>
          <a:p>
            <a:pPr algn="ctr">
              <a:lnSpc>
                <a:spcPct val="130000"/>
              </a:lnSpc>
            </a:pPr>
            <a:r>
              <a:rPr lang="en-US" sz="18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七普 (2020)</a:t>
            </a:r>
            <a:endParaRPr lang="en-US" sz="1600" dirty="0"/>
          </a:p>
        </p:txBody>
      </p:sp>
      <p:sp>
        <p:nvSpPr>
          <p:cNvPr id="12" name="Text 9"/>
          <p:cNvSpPr/>
          <p:nvPr/>
        </p:nvSpPr>
        <p:spPr>
          <a:xfrm>
            <a:off x="9293860" y="3505200"/>
            <a:ext cx="939800" cy="508000"/>
          </a:xfrm>
          <a:prstGeom prst="rect">
            <a:avLst/>
          </a:prstGeom>
          <a:noFill/>
        </p:spPr>
        <p:txBody>
          <a:bodyPr wrap="square" lIns="0" tIns="0" rIns="0" bIns="0" rtlCol="0" anchor="ctr"/>
          <a:lstStyle/>
          <a:p>
            <a:pPr algn="ctr">
              <a:lnSpc>
                <a:spcPct val="90000"/>
              </a:lnSpc>
            </a:pPr>
            <a:r>
              <a:rPr lang="en-US" sz="3600" b="1" dirty="0">
                <a:solidFill>
                  <a:srgbClr val="7097E5"/>
                </a:solidFill>
                <a:latin typeface="Noto Sans SC" panose="020B0200000000000000" pitchFamily="34" charset="-122"/>
                <a:ea typeface="Noto Sans SC" panose="020B0200000000000000" pitchFamily="34" charset="-122"/>
                <a:cs typeface="Noto Sans SC" panose="020B0200000000000000" pitchFamily="34" charset="-120"/>
              </a:rPr>
              <a:t>9%</a:t>
            </a:r>
            <a:endParaRPr lang="en-US" sz="1600" dirty="0"/>
          </a:p>
        </p:txBody>
      </p:sp>
      <p:sp>
        <p:nvSpPr>
          <p:cNvPr id="13" name="Text 10"/>
          <p:cNvSpPr/>
          <p:nvPr/>
        </p:nvSpPr>
        <p:spPr>
          <a:xfrm>
            <a:off x="9363710" y="4013200"/>
            <a:ext cx="800100" cy="254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城乡差距</a:t>
            </a:r>
            <a:endParaRPr lang="en-US" sz="1600" dirty="0"/>
          </a:p>
        </p:txBody>
      </p:sp>
      <p:sp>
        <p:nvSpPr>
          <p:cNvPr id="14" name="Shape 11"/>
          <p:cNvSpPr/>
          <p:nvPr/>
        </p:nvSpPr>
        <p:spPr>
          <a:xfrm>
            <a:off x="254000" y="4673600"/>
            <a:ext cx="3759200" cy="609600"/>
          </a:xfrm>
          <a:custGeom>
            <a:avLst/>
            <a:gdLst/>
            <a:ahLst/>
            <a:cxnLst/>
            <a:rect l="l" t="t" r="r" b="b"/>
            <a:pathLst>
              <a:path w="3759200" h="609600">
                <a:moveTo>
                  <a:pt x="101602" y="0"/>
                </a:moveTo>
                <a:lnTo>
                  <a:pt x="3657598" y="0"/>
                </a:lnTo>
                <a:cubicBezTo>
                  <a:pt x="3713711" y="0"/>
                  <a:pt x="3759200" y="45489"/>
                  <a:pt x="3759200" y="101602"/>
                </a:cubicBezTo>
                <a:lnTo>
                  <a:pt x="3759200" y="507998"/>
                </a:lnTo>
                <a:cubicBezTo>
                  <a:pt x="3759200" y="564111"/>
                  <a:pt x="3713711" y="609600"/>
                  <a:pt x="3657598" y="609600"/>
                </a:cubicBezTo>
                <a:lnTo>
                  <a:pt x="101602" y="609600"/>
                </a:lnTo>
                <a:cubicBezTo>
                  <a:pt x="45489" y="609600"/>
                  <a:pt x="0" y="564111"/>
                  <a:pt x="0" y="507998"/>
                </a:cubicBezTo>
                <a:lnTo>
                  <a:pt x="0" y="101602"/>
                </a:lnTo>
                <a:cubicBezTo>
                  <a:pt x="0" y="45526"/>
                  <a:pt x="45526" y="0"/>
                  <a:pt x="101602" y="0"/>
                </a:cubicBezTo>
                <a:close/>
              </a:path>
            </a:pathLst>
          </a:custGeom>
          <a:solidFill>
            <a:srgbClr val="5C7CB3">
              <a:alpha val="10196"/>
            </a:srgbClr>
          </a:solidFill>
        </p:spPr>
      </p:sp>
      <p:sp>
        <p:nvSpPr>
          <p:cNvPr id="15" name="Text 12"/>
          <p:cNvSpPr/>
          <p:nvPr/>
        </p:nvSpPr>
        <p:spPr>
          <a:xfrm>
            <a:off x="355600" y="4826000"/>
            <a:ext cx="3556000" cy="304800"/>
          </a:xfrm>
          <a:prstGeom prst="rect">
            <a:avLst/>
          </a:prstGeom>
          <a:noFill/>
        </p:spPr>
        <p:txBody>
          <a:bodyPr wrap="square" lIns="0" tIns="0" rIns="0" bIns="0" rtlCol="0" anchor="ctr"/>
          <a:lstStyle/>
          <a:p>
            <a:pPr algn="ct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县城高中扩建</a:t>
            </a:r>
            <a:endParaRPr lang="en-US" sz="1600" dirty="0"/>
          </a:p>
        </p:txBody>
      </p:sp>
      <p:sp>
        <p:nvSpPr>
          <p:cNvPr id="16" name="Shape 13"/>
          <p:cNvSpPr/>
          <p:nvPr/>
        </p:nvSpPr>
        <p:spPr>
          <a:xfrm>
            <a:off x="4216400" y="4673600"/>
            <a:ext cx="3759200" cy="609600"/>
          </a:xfrm>
          <a:custGeom>
            <a:avLst/>
            <a:gdLst/>
            <a:ahLst/>
            <a:cxnLst/>
            <a:rect l="l" t="t" r="r" b="b"/>
            <a:pathLst>
              <a:path w="3759200" h="609600">
                <a:moveTo>
                  <a:pt x="101602" y="0"/>
                </a:moveTo>
                <a:lnTo>
                  <a:pt x="3657598" y="0"/>
                </a:lnTo>
                <a:cubicBezTo>
                  <a:pt x="3713711" y="0"/>
                  <a:pt x="3759200" y="45489"/>
                  <a:pt x="3759200" y="101602"/>
                </a:cubicBezTo>
                <a:lnTo>
                  <a:pt x="3759200" y="507998"/>
                </a:lnTo>
                <a:cubicBezTo>
                  <a:pt x="3759200" y="564111"/>
                  <a:pt x="3713711" y="609600"/>
                  <a:pt x="3657598" y="609600"/>
                </a:cubicBezTo>
                <a:lnTo>
                  <a:pt x="101602" y="609600"/>
                </a:lnTo>
                <a:cubicBezTo>
                  <a:pt x="45489" y="609600"/>
                  <a:pt x="0" y="564111"/>
                  <a:pt x="0" y="507998"/>
                </a:cubicBezTo>
                <a:lnTo>
                  <a:pt x="0" y="101602"/>
                </a:lnTo>
                <a:cubicBezTo>
                  <a:pt x="0" y="45526"/>
                  <a:pt x="45526" y="0"/>
                  <a:pt x="101602" y="0"/>
                </a:cubicBezTo>
                <a:close/>
              </a:path>
            </a:pathLst>
          </a:custGeom>
          <a:solidFill>
            <a:srgbClr val="5C7CB3">
              <a:alpha val="10196"/>
            </a:srgbClr>
          </a:solidFill>
        </p:spPr>
      </p:sp>
      <p:sp>
        <p:nvSpPr>
          <p:cNvPr id="17" name="Text 14"/>
          <p:cNvSpPr/>
          <p:nvPr/>
        </p:nvSpPr>
        <p:spPr>
          <a:xfrm>
            <a:off x="4318000" y="4826000"/>
            <a:ext cx="3556000" cy="304800"/>
          </a:xfrm>
          <a:prstGeom prst="rect">
            <a:avLst/>
          </a:prstGeom>
          <a:noFill/>
        </p:spPr>
        <p:txBody>
          <a:bodyPr wrap="square" lIns="0" tIns="0" rIns="0" bIns="0" rtlCol="0" anchor="ctr"/>
          <a:lstStyle/>
          <a:p>
            <a:pPr algn="ct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寄宿制普及</a:t>
            </a:r>
            <a:endParaRPr lang="en-US" sz="1600" dirty="0"/>
          </a:p>
        </p:txBody>
      </p:sp>
      <p:sp>
        <p:nvSpPr>
          <p:cNvPr id="18" name="Shape 15"/>
          <p:cNvSpPr/>
          <p:nvPr/>
        </p:nvSpPr>
        <p:spPr>
          <a:xfrm>
            <a:off x="8178800" y="4673600"/>
            <a:ext cx="3759200" cy="609600"/>
          </a:xfrm>
          <a:custGeom>
            <a:avLst/>
            <a:gdLst/>
            <a:ahLst/>
            <a:cxnLst/>
            <a:rect l="l" t="t" r="r" b="b"/>
            <a:pathLst>
              <a:path w="3759200" h="609600">
                <a:moveTo>
                  <a:pt x="101602" y="0"/>
                </a:moveTo>
                <a:lnTo>
                  <a:pt x="3657598" y="0"/>
                </a:lnTo>
                <a:cubicBezTo>
                  <a:pt x="3713711" y="0"/>
                  <a:pt x="3759200" y="45489"/>
                  <a:pt x="3759200" y="101602"/>
                </a:cubicBezTo>
                <a:lnTo>
                  <a:pt x="3759200" y="507998"/>
                </a:lnTo>
                <a:cubicBezTo>
                  <a:pt x="3759200" y="564111"/>
                  <a:pt x="3713711" y="609600"/>
                  <a:pt x="3657598" y="609600"/>
                </a:cubicBezTo>
                <a:lnTo>
                  <a:pt x="101602" y="609600"/>
                </a:lnTo>
                <a:cubicBezTo>
                  <a:pt x="45489" y="609600"/>
                  <a:pt x="0" y="564111"/>
                  <a:pt x="0" y="507998"/>
                </a:cubicBezTo>
                <a:lnTo>
                  <a:pt x="0" y="101602"/>
                </a:lnTo>
                <a:cubicBezTo>
                  <a:pt x="0" y="45526"/>
                  <a:pt x="45526" y="0"/>
                  <a:pt x="101602" y="0"/>
                </a:cubicBezTo>
                <a:close/>
              </a:path>
            </a:pathLst>
          </a:custGeom>
          <a:solidFill>
            <a:srgbClr val="5C7CB3">
              <a:alpha val="10196"/>
            </a:srgbClr>
          </a:solidFill>
        </p:spPr>
      </p:sp>
      <p:sp>
        <p:nvSpPr>
          <p:cNvPr id="19" name="Text 16"/>
          <p:cNvSpPr/>
          <p:nvPr/>
        </p:nvSpPr>
        <p:spPr>
          <a:xfrm>
            <a:off x="8280400" y="4826000"/>
            <a:ext cx="3556000" cy="304800"/>
          </a:xfrm>
          <a:prstGeom prst="rect">
            <a:avLst/>
          </a:prstGeom>
          <a:noFill/>
        </p:spPr>
        <p:txBody>
          <a:bodyPr wrap="square" lIns="0" tIns="0" rIns="0" bIns="0" rtlCol="0" anchor="ctr"/>
          <a:lstStyle/>
          <a:p>
            <a:pPr algn="ctr">
              <a:lnSpc>
                <a:spcPct val="130000"/>
              </a:lnSpc>
            </a:pPr>
            <a:r>
              <a:rPr lang="en-US" sz="1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乡村教师支持</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06-d2sggsm1bb2p4onbon10.jpg"/>
          <p:cNvPicPr>
            <a:picLocks noChangeAspect="1"/>
          </p:cNvPicPr>
          <p:nvPr/>
        </p:nvPicPr>
        <p:blipFill>
          <a:blip r:embed="rId1"/>
          <a:stretch>
            <a:fillRect/>
          </a:stretch>
        </p:blipFill>
        <p:spPr>
          <a:xfrm>
            <a:off x="0" y="0"/>
            <a:ext cx="12192000" cy="6858000"/>
          </a:xfrm>
          <a:prstGeom prst="rect">
            <a:avLst/>
          </a:prstGeom>
        </p:spPr>
      </p:pic>
      <p:pic>
        <p:nvPicPr>
          <p:cNvPr id="3" name="Image 1" descr="https://kimi-img.moonshot.cn/pub/slides/slides_tmpl/image/25-09-04-11:33:05-d2sggse1bb2p4onbomv0.png"/>
          <p:cNvPicPr>
            <a:picLocks noChangeAspect="1"/>
          </p:cNvPicPr>
          <p:nvPr/>
        </p:nvPicPr>
        <p:blipFill>
          <a:blip r:embed="rId2"/>
          <a:stretch>
            <a:fillRect/>
          </a:stretch>
        </p:blipFill>
        <p:spPr>
          <a:xfrm>
            <a:off x="0" y="2468880"/>
            <a:ext cx="5182870" cy="1835150"/>
          </a:xfrm>
          <a:prstGeom prst="rect">
            <a:avLst/>
          </a:prstGeom>
        </p:spPr>
      </p:pic>
      <p:pic>
        <p:nvPicPr>
          <p:cNvPr id="4" name="Image 2" descr="https://kimi-img.moonshot.cn/pub/slides/slides_tmpl/image/25-09-04-11:33:05-d2sggse1bb2p4onbomvg.png"/>
          <p:cNvPicPr>
            <a:picLocks noChangeAspect="1"/>
          </p:cNvPicPr>
          <p:nvPr/>
        </p:nvPicPr>
        <p:blipFill>
          <a:blip r:embed="rId3"/>
          <a:stretch>
            <a:fillRect/>
          </a:stretch>
        </p:blipFill>
        <p:spPr>
          <a:xfrm>
            <a:off x="7110829" y="3260408"/>
            <a:ext cx="1701800" cy="1701800"/>
          </a:xfrm>
          <a:prstGeom prst="rect">
            <a:avLst/>
          </a:prstGeom>
        </p:spPr>
      </p:pic>
      <p:pic>
        <p:nvPicPr>
          <p:cNvPr id="5" name="Image 3" descr="https://kimi-img.moonshot.cn/pub/slides/slides_tmpl/image/25-09-04-11:33:06-d2sggsm1bb2p4onbon0g.png"/>
          <p:cNvPicPr>
            <a:picLocks noChangeAspect="1"/>
          </p:cNvPicPr>
          <p:nvPr/>
        </p:nvPicPr>
        <p:blipFill>
          <a:blip r:embed="rId4"/>
          <a:stretch>
            <a:fillRect/>
          </a:stretch>
        </p:blipFill>
        <p:spPr>
          <a:xfrm>
            <a:off x="7611110" y="2028825"/>
            <a:ext cx="2790825" cy="2800350"/>
          </a:xfrm>
          <a:prstGeom prst="rect">
            <a:avLst/>
          </a:prstGeom>
        </p:spPr>
      </p:pic>
      <p:pic>
        <p:nvPicPr>
          <p:cNvPr id="6" name="Image 4" descr="https://kimi-img.moonshot.cn/pub/slides/slides_tmpl/image/25-09-04-11:33:04-d2sggs61bb2p4onbomu0.png"/>
          <p:cNvPicPr>
            <a:picLocks noChangeAspect="1"/>
          </p:cNvPicPr>
          <p:nvPr/>
        </p:nvPicPr>
        <p:blipFill>
          <a:blip r:embed="rId5">
            <a:alphaModFix amt="40000"/>
          </a:blip>
          <a:stretch>
            <a:fillRect/>
          </a:stretch>
        </p:blipFill>
        <p:spPr>
          <a:xfrm rot="16200000">
            <a:off x="10665460" y="-8255"/>
            <a:ext cx="262890" cy="1170305"/>
          </a:xfrm>
          <a:prstGeom prst="rect">
            <a:avLst/>
          </a:prstGeom>
        </p:spPr>
      </p:pic>
      <p:sp>
        <p:nvSpPr>
          <p:cNvPr id="7" name="Text 0"/>
          <p:cNvSpPr/>
          <p:nvPr/>
        </p:nvSpPr>
        <p:spPr>
          <a:xfrm>
            <a:off x="8197052" y="2654618"/>
            <a:ext cx="1618942" cy="1429544"/>
          </a:xfrm>
          <a:prstGeom prst="rect">
            <a:avLst/>
          </a:prstGeom>
          <a:noFill/>
        </p:spPr>
        <p:txBody>
          <a:bodyPr wrap="square" lIns="91440" tIns="45720" rIns="91440" bIns="45720" rtlCol="0" anchor="t">
            <a:spAutoFit/>
          </a:bodyPr>
          <a:lstStyle/>
          <a:p>
            <a:pPr algn="ctr">
              <a:lnSpc>
                <a:spcPct val="100000"/>
              </a:lnSpc>
            </a:pPr>
            <a:r>
              <a:rPr lang="en-US" sz="8500" dirty="0">
                <a:solidFill>
                  <a:srgbClr val="F2F7FA"/>
                </a:solidFill>
                <a:latin typeface="Noto Sans SC" panose="020B0200000000000000" pitchFamily="34" charset="-122"/>
                <a:ea typeface="Noto Sans SC" panose="020B0200000000000000" pitchFamily="34" charset="-122"/>
                <a:cs typeface="Noto Sans SC" panose="020B0200000000000000" pitchFamily="34" charset="-120"/>
              </a:rPr>
              <a:t>03</a:t>
            </a:r>
            <a:endParaRPr lang="en-US" sz="1600" dirty="0"/>
          </a:p>
        </p:txBody>
      </p:sp>
      <p:sp>
        <p:nvSpPr>
          <p:cNvPr id="8" name="Text 1"/>
          <p:cNvSpPr/>
          <p:nvPr/>
        </p:nvSpPr>
        <p:spPr>
          <a:xfrm>
            <a:off x="586105" y="3133090"/>
            <a:ext cx="7769860" cy="521970"/>
          </a:xfrm>
          <a:prstGeom prst="rect">
            <a:avLst/>
          </a:prstGeom>
          <a:noFill/>
        </p:spPr>
        <p:txBody>
          <a:bodyPr wrap="square" lIns="91440" tIns="45720" rIns="91440" bIns="45720" rtlCol="0" anchor="t"/>
          <a:lstStyle/>
          <a:p>
            <a:pPr>
              <a:lnSpc>
                <a:spcPct val="100000"/>
              </a:lnSpc>
            </a:pPr>
            <a:r>
              <a:rPr lang="zh-CN" altLang="en-US" sz="3400" dirty="0">
                <a:solidFill>
                  <a:srgbClr val="0D0D0D"/>
                </a:solidFill>
                <a:latin typeface="MiSans" pitchFamily="34" charset="0"/>
                <a:ea typeface="MiSans" pitchFamily="34" charset="-122"/>
              </a:rPr>
              <a:t>十年变化总结</a:t>
            </a:r>
            <a:endParaRPr lang="en-US" altLang="zh-CN" sz="3400" dirty="0">
              <a:solidFill>
                <a:srgbClr val="0D0D0D"/>
              </a:solidFill>
              <a:latin typeface="MiSans" pitchFamily="34" charset="0"/>
              <a:ea typeface="MiSans" pitchFamily="34" charset="-122"/>
            </a:endParaRPr>
          </a:p>
          <a:p>
            <a:pPr>
              <a:lnSpc>
                <a:spcPct val="100000"/>
              </a:lnSpc>
            </a:pPr>
            <a:endParaRPr lang="en-US" sz="1600" dirty="0"/>
          </a:p>
        </p:txBody>
      </p:sp>
      <p:sp>
        <p:nvSpPr>
          <p:cNvPr id="9" name="Shape 2"/>
          <p:cNvSpPr/>
          <p:nvPr/>
        </p:nvSpPr>
        <p:spPr>
          <a:xfrm>
            <a:off x="9318547" y="6332566"/>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0" name="Shape 3"/>
          <p:cNvSpPr/>
          <p:nvPr/>
        </p:nvSpPr>
        <p:spPr>
          <a:xfrm>
            <a:off x="576149" y="498250"/>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1" name="Text 4"/>
          <p:cNvSpPr/>
          <p:nvPr/>
        </p:nvSpPr>
        <p:spPr>
          <a:xfrm>
            <a:off x="576149" y="49825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5"/>
          <p:cNvSpPr/>
          <p:nvPr/>
        </p:nvSpPr>
        <p:spPr>
          <a:xfrm>
            <a:off x="576149" y="595224"/>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3" name="Text 6"/>
          <p:cNvSpPr/>
          <p:nvPr/>
        </p:nvSpPr>
        <p:spPr>
          <a:xfrm>
            <a:off x="576149" y="59522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7"/>
          <p:cNvSpPr/>
          <p:nvPr/>
        </p:nvSpPr>
        <p:spPr>
          <a:xfrm>
            <a:off x="576149" y="692198"/>
            <a:ext cx="209306" cy="42231"/>
          </a:xfrm>
          <a:prstGeom prst="rect">
            <a:avLst/>
          </a:prstGeom>
          <a:solidFill>
            <a:srgbClr val="92ABDF"/>
          </a:solidFill>
          <a:ln w="12700">
            <a:solidFill>
              <a:srgbClr val="92ABDF"/>
            </a:solidFill>
            <a:prstDash val="solid"/>
          </a:ln>
        </p:spPr>
        <p:txBody>
          <a:bodyPr/>
          <a:lstStyle/>
          <a:p>
            <a:endParaRPr lang="zh-CN" altLang="en-US"/>
          </a:p>
        </p:txBody>
      </p:sp>
      <p:sp>
        <p:nvSpPr>
          <p:cNvPr id="15" name="Text 8"/>
          <p:cNvSpPr/>
          <p:nvPr/>
        </p:nvSpPr>
        <p:spPr>
          <a:xfrm>
            <a:off x="576149" y="692198"/>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6" name="Shape 9"/>
          <p:cNvSpPr/>
          <p:nvPr/>
        </p:nvSpPr>
        <p:spPr>
          <a:xfrm>
            <a:off x="531399" y="6143377"/>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7" name="Text 10"/>
          <p:cNvSpPr/>
          <p:nvPr/>
        </p:nvSpPr>
        <p:spPr>
          <a:xfrm>
            <a:off x="531399" y="6143377"/>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18" name="Shape 11"/>
          <p:cNvSpPr/>
          <p:nvPr/>
        </p:nvSpPr>
        <p:spPr>
          <a:xfrm>
            <a:off x="531399" y="6240351"/>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19" name="Text 12"/>
          <p:cNvSpPr/>
          <p:nvPr/>
        </p:nvSpPr>
        <p:spPr>
          <a:xfrm>
            <a:off x="531399" y="6240351"/>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20" name="Shape 13"/>
          <p:cNvSpPr/>
          <p:nvPr/>
        </p:nvSpPr>
        <p:spPr>
          <a:xfrm>
            <a:off x="531399" y="6337325"/>
            <a:ext cx="209306" cy="42231"/>
          </a:xfrm>
          <a:prstGeom prst="rect">
            <a:avLst/>
          </a:prstGeom>
          <a:solidFill>
            <a:srgbClr val="92ABDF"/>
          </a:solidFill>
          <a:ln w="19050">
            <a:solidFill>
              <a:srgbClr val="92ABDF"/>
            </a:solidFill>
            <a:prstDash val="solid"/>
          </a:ln>
        </p:spPr>
        <p:txBody>
          <a:bodyPr/>
          <a:lstStyle/>
          <a:p>
            <a:endParaRPr lang="zh-CN" altLang="en-US"/>
          </a:p>
        </p:txBody>
      </p:sp>
      <p:sp>
        <p:nvSpPr>
          <p:cNvPr id="21" name="Text 14"/>
          <p:cNvSpPr/>
          <p:nvPr/>
        </p:nvSpPr>
        <p:spPr>
          <a:xfrm>
            <a:off x="531399" y="6337325"/>
            <a:ext cx="209306" cy="42231"/>
          </a:xfrm>
          <a:prstGeom prst="rect">
            <a:avLst/>
          </a:prstGeom>
          <a:noFill/>
        </p:spPr>
        <p:txBody>
          <a:bodyPr wrap="square" lIns="45720" tIns="91440" rIns="91440" bIns="45720" rtlCol="0" anchor="ctr"/>
          <a:lstStyle/>
          <a:p>
            <a:pPr>
              <a:lnSpc>
                <a:spcPct val="100000"/>
              </a:lnSpc>
            </a:pPr>
            <a:endParaRPr lang="en-US" sz="1600" dirty="0"/>
          </a:p>
        </p:txBody>
      </p:sp>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3" name="Text 0"/>
          <p:cNvSpPr/>
          <p:nvPr/>
        </p:nvSpPr>
        <p:spPr>
          <a:xfrm>
            <a:off x="3009900" y="1361442"/>
            <a:ext cx="6172200" cy="508000"/>
          </a:xfrm>
          <a:prstGeom prst="rect">
            <a:avLst/>
          </a:prstGeom>
          <a:noFill/>
        </p:spPr>
        <p:txBody>
          <a:bodyPr wrap="square" lIns="0" tIns="0" rIns="0" bIns="0" rtlCol="0" anchor="ctr"/>
          <a:lstStyle/>
          <a:p>
            <a:pPr algn="ctr">
              <a:lnSpc>
                <a:spcPct val="90000"/>
              </a:lnSpc>
            </a:pPr>
            <a:r>
              <a:rPr lang="en-US" sz="3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中国教育下一站：高质量均衡</a:t>
            </a:r>
            <a:endParaRPr lang="en-US" sz="1600" dirty="0"/>
          </a:p>
        </p:txBody>
      </p:sp>
      <p:sp>
        <p:nvSpPr>
          <p:cNvPr id="4" name="Text 1"/>
          <p:cNvSpPr/>
          <p:nvPr/>
        </p:nvSpPr>
        <p:spPr>
          <a:xfrm>
            <a:off x="1162050" y="2072642"/>
            <a:ext cx="9867900" cy="711200"/>
          </a:xfrm>
          <a:prstGeom prst="rect">
            <a:avLst/>
          </a:prstGeom>
          <a:noFill/>
        </p:spPr>
        <p:txBody>
          <a:bodyPr wrap="square" lIns="0" tIns="0" rIns="0" bIns="0" rtlCol="0" anchor="ctr"/>
          <a:lstStyle/>
          <a:p>
            <a:pPr algn="ctr">
              <a:lnSpc>
                <a:spcPct val="130000"/>
              </a:lnSpc>
            </a:pPr>
            <a:r>
              <a:rPr lang="en-US" sz="18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十年完成三大跃迁，未来教育的使命，是从“人人有学上”走向“人人上好学”，点亮每一盏心灯。</a:t>
            </a:r>
            <a:endParaRPr lang="en-US" sz="1600" dirty="0"/>
          </a:p>
        </p:txBody>
      </p:sp>
      <p:sp>
        <p:nvSpPr>
          <p:cNvPr id="5" name="Shape 2"/>
          <p:cNvSpPr/>
          <p:nvPr/>
        </p:nvSpPr>
        <p:spPr>
          <a:xfrm>
            <a:off x="1944052" y="3190242"/>
            <a:ext cx="514350" cy="457200"/>
          </a:xfrm>
          <a:custGeom>
            <a:avLst/>
            <a:gdLst/>
            <a:ahLst/>
            <a:cxnLst/>
            <a:rect l="l" t="t" r="r" b="b"/>
            <a:pathLst>
              <a:path w="514350" h="457200">
                <a:moveTo>
                  <a:pt x="221456" y="78581"/>
                </a:moveTo>
                <a:lnTo>
                  <a:pt x="292894" y="78581"/>
                </a:lnTo>
                <a:lnTo>
                  <a:pt x="292894" y="121444"/>
                </a:lnTo>
                <a:lnTo>
                  <a:pt x="221456" y="121444"/>
                </a:lnTo>
                <a:lnTo>
                  <a:pt x="221456" y="78581"/>
                </a:lnTo>
                <a:close/>
                <a:moveTo>
                  <a:pt x="214313" y="28575"/>
                </a:moveTo>
                <a:cubicBezTo>
                  <a:pt x="190649" y="28575"/>
                  <a:pt x="171450" y="47774"/>
                  <a:pt x="171450" y="71438"/>
                </a:cubicBezTo>
                <a:lnTo>
                  <a:pt x="171450" y="128588"/>
                </a:lnTo>
                <a:cubicBezTo>
                  <a:pt x="171450" y="152251"/>
                  <a:pt x="190649" y="171450"/>
                  <a:pt x="214313" y="171450"/>
                </a:cubicBezTo>
                <a:lnTo>
                  <a:pt x="228600" y="171450"/>
                </a:lnTo>
                <a:lnTo>
                  <a:pt x="228600" y="200025"/>
                </a:lnTo>
                <a:lnTo>
                  <a:pt x="28575" y="200025"/>
                </a:lnTo>
                <a:cubicBezTo>
                  <a:pt x="12769" y="200025"/>
                  <a:pt x="0" y="212794"/>
                  <a:pt x="0" y="228600"/>
                </a:cubicBezTo>
                <a:cubicBezTo>
                  <a:pt x="0" y="244406"/>
                  <a:pt x="12769" y="257175"/>
                  <a:pt x="28575" y="257175"/>
                </a:cubicBezTo>
                <a:lnTo>
                  <a:pt x="114300" y="257175"/>
                </a:lnTo>
                <a:lnTo>
                  <a:pt x="114300" y="285750"/>
                </a:lnTo>
                <a:lnTo>
                  <a:pt x="100013" y="285750"/>
                </a:lnTo>
                <a:cubicBezTo>
                  <a:pt x="76349" y="285750"/>
                  <a:pt x="57150" y="304949"/>
                  <a:pt x="57150" y="328613"/>
                </a:cubicBezTo>
                <a:lnTo>
                  <a:pt x="57150" y="385763"/>
                </a:lnTo>
                <a:cubicBezTo>
                  <a:pt x="57150" y="409426"/>
                  <a:pt x="76349" y="428625"/>
                  <a:pt x="100013" y="428625"/>
                </a:cubicBezTo>
                <a:lnTo>
                  <a:pt x="185738" y="428625"/>
                </a:lnTo>
                <a:cubicBezTo>
                  <a:pt x="209401" y="428625"/>
                  <a:pt x="228600" y="409426"/>
                  <a:pt x="228600" y="385763"/>
                </a:cubicBezTo>
                <a:lnTo>
                  <a:pt x="228600" y="328613"/>
                </a:lnTo>
                <a:cubicBezTo>
                  <a:pt x="228600" y="304949"/>
                  <a:pt x="209401" y="285750"/>
                  <a:pt x="185738" y="285750"/>
                </a:cubicBezTo>
                <a:lnTo>
                  <a:pt x="171450" y="285750"/>
                </a:lnTo>
                <a:lnTo>
                  <a:pt x="171450" y="257175"/>
                </a:lnTo>
                <a:lnTo>
                  <a:pt x="342900" y="257175"/>
                </a:lnTo>
                <a:lnTo>
                  <a:pt x="342900" y="285750"/>
                </a:lnTo>
                <a:lnTo>
                  <a:pt x="328613" y="285750"/>
                </a:lnTo>
                <a:cubicBezTo>
                  <a:pt x="304949" y="285750"/>
                  <a:pt x="285750" y="304949"/>
                  <a:pt x="285750" y="328613"/>
                </a:cubicBezTo>
                <a:lnTo>
                  <a:pt x="285750" y="385763"/>
                </a:lnTo>
                <a:cubicBezTo>
                  <a:pt x="285750" y="409426"/>
                  <a:pt x="304949" y="428625"/>
                  <a:pt x="328613" y="428625"/>
                </a:cubicBezTo>
                <a:lnTo>
                  <a:pt x="414338" y="428625"/>
                </a:lnTo>
                <a:cubicBezTo>
                  <a:pt x="438001" y="428625"/>
                  <a:pt x="457200" y="409426"/>
                  <a:pt x="457200" y="385763"/>
                </a:cubicBezTo>
                <a:lnTo>
                  <a:pt x="457200" y="328613"/>
                </a:lnTo>
                <a:cubicBezTo>
                  <a:pt x="457200" y="304949"/>
                  <a:pt x="438001" y="285750"/>
                  <a:pt x="414338" y="285750"/>
                </a:cubicBezTo>
                <a:lnTo>
                  <a:pt x="400050" y="285750"/>
                </a:lnTo>
                <a:lnTo>
                  <a:pt x="400050" y="257175"/>
                </a:lnTo>
                <a:lnTo>
                  <a:pt x="485775" y="257175"/>
                </a:lnTo>
                <a:cubicBezTo>
                  <a:pt x="501581" y="257175"/>
                  <a:pt x="514350" y="244406"/>
                  <a:pt x="514350" y="228600"/>
                </a:cubicBezTo>
                <a:cubicBezTo>
                  <a:pt x="514350" y="212794"/>
                  <a:pt x="501581" y="200025"/>
                  <a:pt x="485775" y="200025"/>
                </a:cubicBezTo>
                <a:lnTo>
                  <a:pt x="285750" y="200025"/>
                </a:lnTo>
                <a:lnTo>
                  <a:pt x="285750" y="171450"/>
                </a:lnTo>
                <a:lnTo>
                  <a:pt x="300038" y="171450"/>
                </a:lnTo>
                <a:cubicBezTo>
                  <a:pt x="323701" y="171450"/>
                  <a:pt x="342900" y="152251"/>
                  <a:pt x="342900" y="128588"/>
                </a:cubicBezTo>
                <a:lnTo>
                  <a:pt x="342900" y="71438"/>
                </a:lnTo>
                <a:cubicBezTo>
                  <a:pt x="342900" y="47774"/>
                  <a:pt x="323701" y="28575"/>
                  <a:pt x="300038" y="28575"/>
                </a:cubicBezTo>
                <a:lnTo>
                  <a:pt x="214313" y="28575"/>
                </a:lnTo>
                <a:close/>
                <a:moveTo>
                  <a:pt x="400050" y="335756"/>
                </a:moveTo>
                <a:lnTo>
                  <a:pt x="407194" y="335756"/>
                </a:lnTo>
                <a:lnTo>
                  <a:pt x="407194" y="378619"/>
                </a:lnTo>
                <a:lnTo>
                  <a:pt x="335756" y="378619"/>
                </a:lnTo>
                <a:lnTo>
                  <a:pt x="335756" y="335756"/>
                </a:lnTo>
                <a:lnTo>
                  <a:pt x="400050" y="335756"/>
                </a:lnTo>
                <a:close/>
                <a:moveTo>
                  <a:pt x="171450" y="335756"/>
                </a:moveTo>
                <a:lnTo>
                  <a:pt x="178594" y="335756"/>
                </a:lnTo>
                <a:lnTo>
                  <a:pt x="178594" y="378619"/>
                </a:lnTo>
                <a:lnTo>
                  <a:pt x="107156" y="378619"/>
                </a:lnTo>
                <a:lnTo>
                  <a:pt x="107156" y="335756"/>
                </a:lnTo>
                <a:lnTo>
                  <a:pt x="171450" y="335756"/>
                </a:lnTo>
                <a:close/>
              </a:path>
            </a:pathLst>
          </a:custGeom>
          <a:solidFill>
            <a:srgbClr val="7097E5"/>
          </a:solidFill>
        </p:spPr>
      </p:sp>
      <p:sp>
        <p:nvSpPr>
          <p:cNvPr id="6" name="Text 3"/>
          <p:cNvSpPr/>
          <p:nvPr/>
        </p:nvSpPr>
        <p:spPr>
          <a:xfrm>
            <a:off x="994728" y="3749042"/>
            <a:ext cx="2413000" cy="355600"/>
          </a:xfrm>
          <a:prstGeom prst="rect">
            <a:avLst/>
          </a:prstGeom>
          <a:noFill/>
        </p:spPr>
        <p:txBody>
          <a:bodyPr wrap="square" lIns="0" tIns="0" rIns="0" bIns="0" rtlCol="0" anchor="ctr"/>
          <a:lstStyle/>
          <a:p>
            <a:pPr algn="ctr">
              <a:lnSpc>
                <a:spcPct val="120000"/>
              </a:lnSpc>
            </a:pPr>
            <a:r>
              <a:rPr lang="en-US" sz="2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区域：从梯度到网络</a:t>
            </a:r>
            <a:endParaRPr lang="en-US" sz="1600" dirty="0"/>
          </a:p>
        </p:txBody>
      </p:sp>
      <p:sp>
        <p:nvSpPr>
          <p:cNvPr id="7" name="Text 4"/>
          <p:cNvSpPr/>
          <p:nvPr/>
        </p:nvSpPr>
        <p:spPr>
          <a:xfrm>
            <a:off x="1178878" y="4155442"/>
            <a:ext cx="2044700" cy="254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形成优势互补的教育生态</a:t>
            </a:r>
            <a:endParaRPr lang="en-US" sz="1600" dirty="0"/>
          </a:p>
        </p:txBody>
      </p:sp>
      <p:sp>
        <p:nvSpPr>
          <p:cNvPr id="8" name="Shape 5"/>
          <p:cNvSpPr/>
          <p:nvPr/>
        </p:nvSpPr>
        <p:spPr>
          <a:xfrm>
            <a:off x="5810091" y="3190242"/>
            <a:ext cx="571500" cy="457200"/>
          </a:xfrm>
          <a:custGeom>
            <a:avLst/>
            <a:gdLst/>
            <a:ahLst/>
            <a:cxnLst/>
            <a:rect l="l" t="t" r="r" b="b"/>
            <a:pathLst>
              <a:path w="571500" h="457200">
                <a:moveTo>
                  <a:pt x="342900" y="28575"/>
                </a:moveTo>
                <a:lnTo>
                  <a:pt x="457200" y="28575"/>
                </a:lnTo>
                <a:cubicBezTo>
                  <a:pt x="473006" y="28575"/>
                  <a:pt x="485775" y="41344"/>
                  <a:pt x="485775" y="57150"/>
                </a:cubicBezTo>
                <a:cubicBezTo>
                  <a:pt x="485775" y="72956"/>
                  <a:pt x="473006" y="85725"/>
                  <a:pt x="457200" y="85725"/>
                </a:cubicBezTo>
                <a:lnTo>
                  <a:pt x="355759" y="85725"/>
                </a:lnTo>
                <a:cubicBezTo>
                  <a:pt x="351115" y="108764"/>
                  <a:pt x="335310" y="127784"/>
                  <a:pt x="314325" y="136892"/>
                </a:cubicBezTo>
                <a:lnTo>
                  <a:pt x="314325" y="400050"/>
                </a:lnTo>
                <a:lnTo>
                  <a:pt x="457200" y="400050"/>
                </a:lnTo>
                <a:cubicBezTo>
                  <a:pt x="473006" y="400050"/>
                  <a:pt x="485775" y="412819"/>
                  <a:pt x="485775" y="428625"/>
                </a:cubicBezTo>
                <a:cubicBezTo>
                  <a:pt x="485775" y="444431"/>
                  <a:pt x="473006" y="457200"/>
                  <a:pt x="457200" y="457200"/>
                </a:cubicBezTo>
                <a:lnTo>
                  <a:pt x="114300" y="457200"/>
                </a:lnTo>
                <a:cubicBezTo>
                  <a:pt x="98494" y="457200"/>
                  <a:pt x="85725" y="444431"/>
                  <a:pt x="85725" y="428625"/>
                </a:cubicBezTo>
                <a:cubicBezTo>
                  <a:pt x="85725" y="412819"/>
                  <a:pt x="98494" y="400050"/>
                  <a:pt x="114300" y="400050"/>
                </a:cubicBezTo>
                <a:lnTo>
                  <a:pt x="257175" y="400050"/>
                </a:lnTo>
                <a:lnTo>
                  <a:pt x="257175" y="136892"/>
                </a:lnTo>
                <a:cubicBezTo>
                  <a:pt x="236190" y="127695"/>
                  <a:pt x="220385" y="108674"/>
                  <a:pt x="215741" y="85725"/>
                </a:cubicBezTo>
                <a:lnTo>
                  <a:pt x="114300" y="85725"/>
                </a:lnTo>
                <a:cubicBezTo>
                  <a:pt x="98494" y="85725"/>
                  <a:pt x="85725" y="72956"/>
                  <a:pt x="85725" y="57150"/>
                </a:cubicBezTo>
                <a:cubicBezTo>
                  <a:pt x="85725" y="41344"/>
                  <a:pt x="98494" y="28575"/>
                  <a:pt x="114300" y="28575"/>
                </a:cubicBezTo>
                <a:lnTo>
                  <a:pt x="228600" y="28575"/>
                </a:lnTo>
                <a:cubicBezTo>
                  <a:pt x="241637" y="11251"/>
                  <a:pt x="262354" y="0"/>
                  <a:pt x="285750" y="0"/>
                </a:cubicBezTo>
                <a:cubicBezTo>
                  <a:pt x="309146" y="0"/>
                  <a:pt x="329863" y="11251"/>
                  <a:pt x="342900" y="28575"/>
                </a:cubicBezTo>
                <a:close/>
                <a:moveTo>
                  <a:pt x="392549" y="285750"/>
                </a:moveTo>
                <a:lnTo>
                  <a:pt x="521851" y="285750"/>
                </a:lnTo>
                <a:lnTo>
                  <a:pt x="457200" y="174843"/>
                </a:lnTo>
                <a:lnTo>
                  <a:pt x="392549" y="285750"/>
                </a:lnTo>
                <a:close/>
                <a:moveTo>
                  <a:pt x="457200" y="371475"/>
                </a:moveTo>
                <a:cubicBezTo>
                  <a:pt x="401032" y="371475"/>
                  <a:pt x="354330" y="341114"/>
                  <a:pt x="344686" y="301020"/>
                </a:cubicBezTo>
                <a:cubicBezTo>
                  <a:pt x="342364" y="291197"/>
                  <a:pt x="345579" y="281107"/>
                  <a:pt x="350669" y="272355"/>
                </a:cubicBezTo>
                <a:lnTo>
                  <a:pt x="435679" y="126623"/>
                </a:lnTo>
                <a:cubicBezTo>
                  <a:pt x="440144" y="118943"/>
                  <a:pt x="448360" y="114300"/>
                  <a:pt x="457200" y="114300"/>
                </a:cubicBezTo>
                <a:cubicBezTo>
                  <a:pt x="466040" y="114300"/>
                  <a:pt x="474256" y="119033"/>
                  <a:pt x="478721" y="126623"/>
                </a:cubicBezTo>
                <a:lnTo>
                  <a:pt x="563731" y="272355"/>
                </a:lnTo>
                <a:cubicBezTo>
                  <a:pt x="568821" y="281107"/>
                  <a:pt x="572036" y="291197"/>
                  <a:pt x="569714" y="301020"/>
                </a:cubicBezTo>
                <a:cubicBezTo>
                  <a:pt x="560070" y="341025"/>
                  <a:pt x="513368" y="371475"/>
                  <a:pt x="457200" y="371475"/>
                </a:cubicBezTo>
                <a:close/>
                <a:moveTo>
                  <a:pt x="113228" y="174843"/>
                </a:moveTo>
                <a:lnTo>
                  <a:pt x="48578" y="285750"/>
                </a:lnTo>
                <a:lnTo>
                  <a:pt x="177969" y="285750"/>
                </a:lnTo>
                <a:lnTo>
                  <a:pt x="113228" y="174843"/>
                </a:lnTo>
                <a:close/>
                <a:moveTo>
                  <a:pt x="804" y="301020"/>
                </a:moveTo>
                <a:cubicBezTo>
                  <a:pt x="-1518" y="291197"/>
                  <a:pt x="1697" y="281107"/>
                  <a:pt x="6787" y="272355"/>
                </a:cubicBezTo>
                <a:lnTo>
                  <a:pt x="91797" y="126623"/>
                </a:lnTo>
                <a:cubicBezTo>
                  <a:pt x="96262" y="118943"/>
                  <a:pt x="104477" y="114300"/>
                  <a:pt x="113318" y="114300"/>
                </a:cubicBezTo>
                <a:cubicBezTo>
                  <a:pt x="122158" y="114300"/>
                  <a:pt x="130373" y="119033"/>
                  <a:pt x="134838" y="126623"/>
                </a:cubicBezTo>
                <a:lnTo>
                  <a:pt x="219849" y="272355"/>
                </a:lnTo>
                <a:cubicBezTo>
                  <a:pt x="224939" y="281107"/>
                  <a:pt x="228154" y="291197"/>
                  <a:pt x="225832" y="301020"/>
                </a:cubicBezTo>
                <a:cubicBezTo>
                  <a:pt x="216188" y="341025"/>
                  <a:pt x="169485" y="371475"/>
                  <a:pt x="113318" y="371475"/>
                </a:cubicBezTo>
                <a:cubicBezTo>
                  <a:pt x="57150" y="371475"/>
                  <a:pt x="10448" y="341114"/>
                  <a:pt x="804" y="301020"/>
                </a:cubicBezTo>
                <a:close/>
              </a:path>
            </a:pathLst>
          </a:custGeom>
          <a:solidFill>
            <a:srgbClr val="7097E5"/>
          </a:solidFill>
        </p:spPr>
      </p:sp>
      <p:sp>
        <p:nvSpPr>
          <p:cNvPr id="9" name="Text 6"/>
          <p:cNvSpPr/>
          <p:nvPr/>
        </p:nvSpPr>
        <p:spPr>
          <a:xfrm>
            <a:off x="4889341" y="3749042"/>
            <a:ext cx="2413000" cy="355600"/>
          </a:xfrm>
          <a:prstGeom prst="rect">
            <a:avLst/>
          </a:prstGeom>
          <a:noFill/>
        </p:spPr>
        <p:txBody>
          <a:bodyPr wrap="square" lIns="0" tIns="0" rIns="0" bIns="0" rtlCol="0" anchor="ctr"/>
          <a:lstStyle/>
          <a:p>
            <a:pPr algn="ctr">
              <a:lnSpc>
                <a:spcPct val="120000"/>
              </a:lnSpc>
            </a:pPr>
            <a:r>
              <a:rPr lang="en-US" sz="2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性别：从平衡到融合</a:t>
            </a:r>
            <a:endParaRPr lang="en-US" sz="1600" dirty="0"/>
          </a:p>
        </p:txBody>
      </p:sp>
      <p:sp>
        <p:nvSpPr>
          <p:cNvPr id="10" name="Text 7"/>
          <p:cNvSpPr/>
          <p:nvPr/>
        </p:nvSpPr>
        <p:spPr>
          <a:xfrm>
            <a:off x="4806791" y="4155442"/>
            <a:ext cx="2578100" cy="254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发挥不同性别在各行各业的潜力</a:t>
            </a:r>
            <a:endParaRPr lang="en-US" sz="1600" dirty="0"/>
          </a:p>
        </p:txBody>
      </p:sp>
      <p:sp>
        <p:nvSpPr>
          <p:cNvPr id="11" name="Shape 8"/>
          <p:cNvSpPr/>
          <p:nvPr/>
        </p:nvSpPr>
        <p:spPr>
          <a:xfrm>
            <a:off x="9761855" y="3190242"/>
            <a:ext cx="457200" cy="457200"/>
          </a:xfrm>
          <a:custGeom>
            <a:avLst/>
            <a:gdLst/>
            <a:ahLst/>
            <a:cxnLst/>
            <a:rect l="l" t="t" r="r" b="b"/>
            <a:pathLst>
              <a:path w="457200" h="457200">
                <a:moveTo>
                  <a:pt x="104209" y="30182"/>
                </a:moveTo>
                <a:cubicBezTo>
                  <a:pt x="108228" y="24735"/>
                  <a:pt x="114657" y="21431"/>
                  <a:pt x="121444" y="21431"/>
                </a:cubicBezTo>
                <a:lnTo>
                  <a:pt x="335756" y="21431"/>
                </a:lnTo>
                <a:cubicBezTo>
                  <a:pt x="342543" y="21431"/>
                  <a:pt x="348972" y="24646"/>
                  <a:pt x="352991" y="30182"/>
                </a:cubicBezTo>
                <a:lnTo>
                  <a:pt x="453003" y="165914"/>
                </a:lnTo>
                <a:cubicBezTo>
                  <a:pt x="459075" y="174129"/>
                  <a:pt x="458450" y="185470"/>
                  <a:pt x="451664" y="193060"/>
                </a:cubicBezTo>
                <a:lnTo>
                  <a:pt x="244495" y="421660"/>
                </a:lnTo>
                <a:cubicBezTo>
                  <a:pt x="240476" y="426125"/>
                  <a:pt x="234672" y="428714"/>
                  <a:pt x="228600" y="428714"/>
                </a:cubicBezTo>
                <a:cubicBezTo>
                  <a:pt x="222528" y="428714"/>
                  <a:pt x="216813" y="426125"/>
                  <a:pt x="212705" y="421660"/>
                </a:cubicBezTo>
                <a:lnTo>
                  <a:pt x="5536" y="193060"/>
                </a:lnTo>
                <a:cubicBezTo>
                  <a:pt x="-1339" y="185470"/>
                  <a:pt x="-1875" y="174129"/>
                  <a:pt x="4197" y="165914"/>
                </a:cubicBezTo>
                <a:lnTo>
                  <a:pt x="104209" y="30182"/>
                </a:lnTo>
                <a:close/>
                <a:moveTo>
                  <a:pt x="138589" y="65723"/>
                </a:moveTo>
                <a:cubicBezTo>
                  <a:pt x="135642" y="67955"/>
                  <a:pt x="134838" y="71973"/>
                  <a:pt x="136714" y="75099"/>
                </a:cubicBezTo>
                <a:lnTo>
                  <a:pt x="187970" y="160556"/>
                </a:lnTo>
                <a:lnTo>
                  <a:pt x="56525" y="171450"/>
                </a:lnTo>
                <a:cubicBezTo>
                  <a:pt x="52864" y="171718"/>
                  <a:pt x="50006" y="174843"/>
                  <a:pt x="50006" y="178594"/>
                </a:cubicBezTo>
                <a:cubicBezTo>
                  <a:pt x="50006" y="182344"/>
                  <a:pt x="52864" y="185380"/>
                  <a:pt x="56525" y="185738"/>
                </a:cubicBezTo>
                <a:lnTo>
                  <a:pt x="227975" y="200025"/>
                </a:lnTo>
                <a:cubicBezTo>
                  <a:pt x="228332" y="200025"/>
                  <a:pt x="228779" y="200025"/>
                  <a:pt x="229136" y="200025"/>
                </a:cubicBezTo>
                <a:lnTo>
                  <a:pt x="400586" y="185738"/>
                </a:lnTo>
                <a:cubicBezTo>
                  <a:pt x="404247" y="185470"/>
                  <a:pt x="407104" y="182344"/>
                  <a:pt x="407104" y="178594"/>
                </a:cubicBezTo>
                <a:cubicBezTo>
                  <a:pt x="407104" y="174843"/>
                  <a:pt x="404247" y="171807"/>
                  <a:pt x="400586" y="171450"/>
                </a:cubicBezTo>
                <a:lnTo>
                  <a:pt x="269141" y="160466"/>
                </a:lnTo>
                <a:lnTo>
                  <a:pt x="320397" y="75099"/>
                </a:lnTo>
                <a:cubicBezTo>
                  <a:pt x="322272" y="71973"/>
                  <a:pt x="321469" y="67866"/>
                  <a:pt x="318522" y="65723"/>
                </a:cubicBezTo>
                <a:cubicBezTo>
                  <a:pt x="315575" y="63579"/>
                  <a:pt x="311468" y="63937"/>
                  <a:pt x="308967" y="66615"/>
                </a:cubicBezTo>
                <a:lnTo>
                  <a:pt x="228600" y="153769"/>
                </a:lnTo>
                <a:lnTo>
                  <a:pt x="148144" y="66615"/>
                </a:lnTo>
                <a:cubicBezTo>
                  <a:pt x="145643" y="63937"/>
                  <a:pt x="141536" y="63579"/>
                  <a:pt x="138589" y="65723"/>
                </a:cubicBezTo>
                <a:close/>
              </a:path>
            </a:pathLst>
          </a:custGeom>
          <a:solidFill>
            <a:srgbClr val="7097E5"/>
          </a:solidFill>
        </p:spPr>
      </p:sp>
      <p:sp>
        <p:nvSpPr>
          <p:cNvPr id="12" name="Text 9"/>
          <p:cNvSpPr/>
          <p:nvPr/>
        </p:nvSpPr>
        <p:spPr>
          <a:xfrm>
            <a:off x="8656955" y="3749042"/>
            <a:ext cx="2667000" cy="355600"/>
          </a:xfrm>
          <a:prstGeom prst="rect">
            <a:avLst/>
          </a:prstGeom>
          <a:noFill/>
        </p:spPr>
        <p:txBody>
          <a:bodyPr wrap="square" lIns="0" tIns="0" rIns="0" bIns="0" rtlCol="0" anchor="ctr"/>
          <a:lstStyle/>
          <a:p>
            <a:pPr algn="ctr">
              <a:lnSpc>
                <a:spcPct val="120000"/>
              </a:lnSpc>
            </a:pPr>
            <a:r>
              <a:rPr lang="en-US" sz="2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学历：从金字塔到菱形</a:t>
            </a:r>
            <a:endParaRPr lang="en-US" sz="1600" dirty="0"/>
          </a:p>
        </p:txBody>
      </p:sp>
      <p:sp>
        <p:nvSpPr>
          <p:cNvPr id="13" name="Text 10"/>
          <p:cNvSpPr/>
          <p:nvPr/>
        </p:nvSpPr>
        <p:spPr>
          <a:xfrm>
            <a:off x="9234805" y="4155442"/>
            <a:ext cx="1511300" cy="254000"/>
          </a:xfrm>
          <a:prstGeom prst="rect">
            <a:avLst/>
          </a:prstGeom>
          <a:noFill/>
        </p:spPr>
        <p:txBody>
          <a:bodyPr wrap="square" lIns="0" tIns="0" rIns="0" bIns="0" rtlCol="0" anchor="ctr"/>
          <a:lstStyle/>
          <a:p>
            <a:pPr algn="ctr">
              <a:lnSpc>
                <a:spcPct val="120000"/>
              </a:lnSpc>
            </a:pPr>
            <a:r>
              <a:rPr lang="en-US" sz="1400" dirty="0">
                <a:solidFill>
                  <a:srgbClr val="373737"/>
                </a:solidFill>
                <a:latin typeface="Noto Sans SC" panose="020B0200000000000000" pitchFamily="34" charset="-122"/>
                <a:ea typeface="Noto Sans SC" panose="020B0200000000000000" pitchFamily="34" charset="-122"/>
                <a:cs typeface="Noto Sans SC" panose="020B0200000000000000" pitchFamily="34" charset="-120"/>
              </a:rPr>
              <a:t>优化社会人才结构</a:t>
            </a:r>
            <a:endParaRPr lang="en-US" sz="1600" dirty="0"/>
          </a:p>
        </p:txBody>
      </p:sp>
      <p:sp>
        <p:nvSpPr>
          <p:cNvPr id="14" name="Shape 11"/>
          <p:cNvSpPr/>
          <p:nvPr/>
        </p:nvSpPr>
        <p:spPr>
          <a:xfrm>
            <a:off x="1714500" y="4917442"/>
            <a:ext cx="8763000" cy="0"/>
          </a:xfrm>
          <a:prstGeom prst="line">
            <a:avLst/>
          </a:prstGeom>
          <a:noFill/>
          <a:ln w="20320">
            <a:solidFill>
              <a:srgbClr val="7097E5"/>
            </a:solidFill>
            <a:prstDash val="solid"/>
            <a:headEnd type="none"/>
            <a:tailEnd type="none"/>
          </a:ln>
        </p:spPr>
      </p:sp>
      <p:sp>
        <p:nvSpPr>
          <p:cNvPr id="15" name="Text 12"/>
          <p:cNvSpPr/>
          <p:nvPr/>
        </p:nvSpPr>
        <p:spPr>
          <a:xfrm>
            <a:off x="1651000" y="5140964"/>
            <a:ext cx="8890000" cy="355600"/>
          </a:xfrm>
          <a:prstGeom prst="rect">
            <a:avLst/>
          </a:prstGeom>
          <a:noFill/>
        </p:spPr>
        <p:txBody>
          <a:bodyPr wrap="square" lIns="0" tIns="0" rIns="0" bIns="0" rtlCol="0" anchor="ctr"/>
          <a:lstStyle/>
          <a:p>
            <a:pPr algn="ctr">
              <a:lnSpc>
                <a:spcPct val="120000"/>
              </a:lnSpc>
            </a:pPr>
            <a:r>
              <a:rPr lang="en-US" sz="20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“教育不是把篮子装满，而是把灯点亮。”</a:t>
            </a:r>
            <a:endParaRPr lang="en-US" sz="16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200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6-d2sggv61bb2p4onbonk0.jpg"/>
          <p:cNvPicPr>
            <a:picLocks noChangeAspect="1"/>
          </p:cNvPicPr>
          <p:nvPr/>
        </p:nvPicPr>
        <p:blipFill>
          <a:blip r:embed="rId1"/>
          <a:srcRect r="426"/>
          <a:stretch>
            <a:fillRect/>
          </a:stretch>
        </p:blipFill>
        <p:spPr>
          <a:xfrm>
            <a:off x="0" y="0"/>
            <a:ext cx="12204700" cy="6884670"/>
          </a:xfrm>
          <a:prstGeom prst="rect">
            <a:avLst/>
          </a:prstGeom>
        </p:spPr>
      </p:pic>
      <p:sp>
        <p:nvSpPr>
          <p:cNvPr id="5" name="Text 0"/>
          <p:cNvSpPr/>
          <p:nvPr/>
        </p:nvSpPr>
        <p:spPr>
          <a:xfrm>
            <a:off x="921656" y="769673"/>
            <a:ext cx="6905173" cy="852297"/>
          </a:xfrm>
          <a:prstGeom prst="rect">
            <a:avLst/>
          </a:prstGeom>
          <a:noFill/>
        </p:spPr>
        <p:txBody>
          <a:bodyPr wrap="square" lIns="0" tIns="0" rIns="0" bIns="0" rtlCol="0" anchor="ctr"/>
          <a:lstStyle/>
          <a:p>
            <a:pPr>
              <a:lnSpc>
                <a:spcPct val="90000"/>
              </a:lnSpc>
            </a:pPr>
            <a:r>
              <a:rPr lang="en-US" sz="3600" b="1" dirty="0" err="1">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十年教育跃迁</a:t>
            </a:r>
            <a:r>
              <a:rPr lang="zh-CN" altLang="en-US" sz="3600" b="1" dirty="0">
                <a:solidFill>
                  <a:srgbClr val="5C7CB3"/>
                </a:solidFill>
                <a:latin typeface="Noto Sans SC" panose="020B0200000000000000" pitchFamily="34" charset="-122"/>
                <a:ea typeface="Noto Sans SC" panose="020B0200000000000000" pitchFamily="34" charset="-122"/>
                <a:cs typeface="Noto Sans SC" panose="020B0200000000000000" pitchFamily="34" charset="-120"/>
              </a:rPr>
              <a:t>，“朝阳”已现</a:t>
            </a:r>
            <a:endParaRPr lang="en-US" sz="1600" dirty="0"/>
          </a:p>
        </p:txBody>
      </p:sp>
      <p:sp>
        <p:nvSpPr>
          <p:cNvPr id="6" name="Text 1"/>
          <p:cNvSpPr/>
          <p:nvPr/>
        </p:nvSpPr>
        <p:spPr>
          <a:xfrm>
            <a:off x="921656" y="1709058"/>
            <a:ext cx="11391900" cy="355600"/>
          </a:xfrm>
          <a:prstGeom prst="rect">
            <a:avLst/>
          </a:prstGeom>
          <a:noFill/>
        </p:spPr>
        <p:txBody>
          <a:bodyPr wrap="square" lIns="0" tIns="0" rIns="0" bIns="0" rtlCol="0" anchor="ctr"/>
          <a:lstStyle/>
          <a:p>
            <a:pPr>
              <a:lnSpc>
                <a:spcPct val="130000"/>
              </a:lnSpc>
            </a:pPr>
            <a:r>
              <a:rPr lang="en-US" sz="1800" dirty="0" err="1">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以第七次人口普查为核心</a:t>
            </a:r>
            <a:r>
              <a:rPr lang="en-US" sz="18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800" dirty="0">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每</a:t>
            </a:r>
            <a:r>
              <a:rPr lang="en-US" sz="1800" dirty="0" err="1">
                <a:solidFill>
                  <a:srgbClr val="8FA7D0"/>
                </a:solidFill>
                <a:latin typeface="Noto Sans SC" panose="020B0200000000000000" pitchFamily="34" charset="-122"/>
                <a:ea typeface="Noto Sans SC" panose="020B0200000000000000" pitchFamily="34" charset="-122"/>
                <a:cs typeface="Noto Sans SC" panose="020B0200000000000000" pitchFamily="34" charset="-120"/>
              </a:rPr>
              <a:t>组数据凝练中国教育的跨越</a:t>
            </a:r>
            <a:endParaRPr lang="en-US" sz="1600" dirty="0"/>
          </a:p>
        </p:txBody>
      </p:sp>
      <p:sp>
        <p:nvSpPr>
          <p:cNvPr id="8" name="文本框 7"/>
          <p:cNvSpPr txBox="1"/>
          <p:nvPr/>
        </p:nvSpPr>
        <p:spPr>
          <a:xfrm>
            <a:off x="2151969" y="2650331"/>
            <a:ext cx="7888061" cy="3046988"/>
          </a:xfrm>
          <a:prstGeom prst="rect">
            <a:avLst/>
          </a:prstGeom>
          <a:noFill/>
        </p:spPr>
        <p:txBody>
          <a:bodyPr wrap="square">
            <a:spAutoFit/>
          </a:bodyPr>
          <a:lstStyle/>
          <a:p>
            <a:pPr indent="431800"/>
            <a:r>
              <a:rPr lang="zh-CN" altLang="en-US" sz="2400" b="1" dirty="0">
                <a:solidFill>
                  <a:srgbClr val="5C7CB3"/>
                </a:solidFill>
                <a:latin typeface="微软雅黑" panose="020B0503020204020204" pitchFamily="34" charset="-122"/>
                <a:ea typeface="微软雅黑" panose="020B0503020204020204" pitchFamily="34" charset="-122"/>
              </a:rPr>
              <a:t>过去十年里，教育普及的底盘持续筑牢，从六普到七普，低学历群体规模大幅收缩，年轻群体文盲率几近清零，义务教育实现全域覆盖；与此同时，城乡、区域的教育差距加速收窄，农村青年与城市的教育鸿沟显著缩小，西部省市高学历占比也稳步提升，均衡发展的格局逐步成型；而以北京为代表的地区，本科、研究生占比的跃升，更印证着教育已从规模扩张转向质量升级，从 “人人有学上” 的普及阶段，迈向 “人人上好学” 的高质量发展新阶段。</a:t>
            </a:r>
            <a:endParaRPr lang="zh-CN" altLang="en-US" sz="2400" b="1" dirty="0">
              <a:solidFill>
                <a:srgbClr val="5C7CB3"/>
              </a:solidFill>
              <a:latin typeface="微软雅黑" panose="020B0503020204020204" pitchFamily="34" charset="-122"/>
              <a:ea typeface="微软雅黑" panose="020B0503020204020204" pitchFamily="34" charset="-122"/>
            </a:endParaRPr>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09-04-11:33:19-d2sggvu1bb2p4onbonqg.png"/>
          <p:cNvPicPr>
            <a:picLocks noChangeAspect="1"/>
          </p:cNvPicPr>
          <p:nvPr/>
        </p:nvPicPr>
        <p:blipFill>
          <a:blip r:embed="rId1"/>
          <a:stretch>
            <a:fillRect/>
          </a:stretch>
        </p:blipFill>
        <p:spPr>
          <a:xfrm>
            <a:off x="0" y="2540"/>
            <a:ext cx="12192000" cy="6855460"/>
          </a:xfrm>
          <a:prstGeom prst="rect">
            <a:avLst/>
          </a:prstGeom>
        </p:spPr>
      </p:pic>
      <p:sp>
        <p:nvSpPr>
          <p:cNvPr id="3" name="Shape 0"/>
          <p:cNvSpPr/>
          <p:nvPr/>
        </p:nvSpPr>
        <p:spPr>
          <a:xfrm>
            <a:off x="419100" y="2726690"/>
            <a:ext cx="7735570" cy="1804670"/>
          </a:xfrm>
          <a:prstGeom prst="rect">
            <a:avLst/>
          </a:prstGeom>
          <a:gradFill flip="none" rotWithShape="1">
            <a:gsLst>
              <a:gs pos="0">
                <a:srgbClr val="FFFFFF">
                  <a:alpha val="46000"/>
                </a:srgbClr>
              </a:gs>
              <a:gs pos="30000">
                <a:srgbClr val="F9FBFD">
                  <a:alpha val="69000"/>
                </a:srgbClr>
              </a:gs>
              <a:gs pos="82000">
                <a:srgbClr val="FFFFFF">
                  <a:alpha val="0"/>
                </a:srgbClr>
              </a:gs>
              <a:gs pos="100000">
                <a:srgbClr val="FFFFFF">
                  <a:alpha val="0"/>
                </a:srgbClr>
              </a:gs>
            </a:gsLst>
            <a:lin ang="0" scaled="1"/>
          </a:gradFill>
        </p:spPr>
        <p:txBody>
          <a:bodyPr/>
          <a:lstStyle/>
          <a:p>
            <a:endParaRPr lang="zh-CN" altLang="en-US"/>
          </a:p>
        </p:txBody>
      </p:sp>
      <p:sp>
        <p:nvSpPr>
          <p:cNvPr id="4" name="Text 1"/>
          <p:cNvSpPr/>
          <p:nvPr/>
        </p:nvSpPr>
        <p:spPr>
          <a:xfrm>
            <a:off x="419100" y="2726690"/>
            <a:ext cx="7735570" cy="1804670"/>
          </a:xfrm>
          <a:prstGeom prst="rect">
            <a:avLst/>
          </a:prstGeom>
          <a:noFill/>
        </p:spPr>
        <p:txBody>
          <a:bodyPr wrap="square" lIns="45720" tIns="91440" rIns="91440" bIns="45720" rtlCol="0" anchor="ctr"/>
          <a:lstStyle/>
          <a:p>
            <a:pPr>
              <a:lnSpc>
                <a:spcPct val="100000"/>
              </a:lnSpc>
            </a:pPr>
            <a:endParaRPr lang="en-US" sz="1600" dirty="0"/>
          </a:p>
        </p:txBody>
      </p:sp>
      <p:sp>
        <p:nvSpPr>
          <p:cNvPr id="5" name="Shape 2"/>
          <p:cNvSpPr/>
          <p:nvPr/>
        </p:nvSpPr>
        <p:spPr>
          <a:xfrm>
            <a:off x="732359" y="810670"/>
            <a:ext cx="209306" cy="42231"/>
          </a:xfrm>
          <a:prstGeom prst="rect">
            <a:avLst/>
          </a:prstGeom>
          <a:solidFill>
            <a:srgbClr val="808080"/>
          </a:solidFill>
          <a:ln w="19050">
            <a:solidFill>
              <a:srgbClr val="808080"/>
            </a:solidFill>
            <a:prstDash val="solid"/>
          </a:ln>
        </p:spPr>
        <p:txBody>
          <a:bodyPr/>
          <a:lstStyle/>
          <a:p>
            <a:endParaRPr lang="zh-CN" altLang="en-US"/>
          </a:p>
        </p:txBody>
      </p:sp>
      <p:sp>
        <p:nvSpPr>
          <p:cNvPr id="6" name="Text 3"/>
          <p:cNvSpPr/>
          <p:nvPr/>
        </p:nvSpPr>
        <p:spPr>
          <a:xfrm>
            <a:off x="732359" y="810670"/>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a:off x="732359" y="907644"/>
            <a:ext cx="209306" cy="42231"/>
          </a:xfrm>
          <a:prstGeom prst="rect">
            <a:avLst/>
          </a:prstGeom>
          <a:solidFill>
            <a:srgbClr val="808080"/>
          </a:solidFill>
          <a:ln w="19050">
            <a:solidFill>
              <a:srgbClr val="808080"/>
            </a:solidFill>
            <a:prstDash val="solid"/>
          </a:ln>
        </p:spPr>
        <p:txBody>
          <a:bodyPr/>
          <a:lstStyle/>
          <a:p>
            <a:endParaRPr lang="zh-CN" altLang="en-US"/>
          </a:p>
        </p:txBody>
      </p:sp>
      <p:sp>
        <p:nvSpPr>
          <p:cNvPr id="8" name="Text 5"/>
          <p:cNvSpPr/>
          <p:nvPr/>
        </p:nvSpPr>
        <p:spPr>
          <a:xfrm>
            <a:off x="732359" y="907644"/>
            <a:ext cx="209306" cy="42231"/>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732359" y="1004618"/>
            <a:ext cx="209306" cy="42231"/>
          </a:xfrm>
          <a:prstGeom prst="rect">
            <a:avLst/>
          </a:prstGeom>
          <a:solidFill>
            <a:srgbClr val="808080"/>
          </a:solidFill>
          <a:ln w="19050">
            <a:solidFill>
              <a:srgbClr val="808080"/>
            </a:solidFill>
            <a:prstDash val="solid"/>
          </a:ln>
        </p:spPr>
        <p:txBody>
          <a:bodyPr/>
          <a:lstStyle/>
          <a:p>
            <a:endParaRPr lang="zh-CN" altLang="en-US"/>
          </a:p>
        </p:txBody>
      </p:sp>
      <p:sp>
        <p:nvSpPr>
          <p:cNvPr id="10" name="Text 7"/>
          <p:cNvSpPr/>
          <p:nvPr/>
        </p:nvSpPr>
        <p:spPr>
          <a:xfrm>
            <a:off x="732359" y="1004618"/>
            <a:ext cx="209306" cy="42231"/>
          </a:xfrm>
          <a:prstGeom prst="rect">
            <a:avLst/>
          </a:prstGeom>
          <a:noFill/>
        </p:spPr>
        <p:txBody>
          <a:bodyPr wrap="square" lIns="45720" tIns="91440" rIns="91440" bIns="45720" rtlCol="0" anchor="ctr"/>
          <a:lstStyle/>
          <a:p>
            <a:pPr>
              <a:lnSpc>
                <a:spcPct val="100000"/>
              </a:lnSpc>
            </a:pPr>
            <a:endParaRPr lang="en-US" sz="1600" dirty="0"/>
          </a:p>
        </p:txBody>
      </p:sp>
      <p:pic>
        <p:nvPicPr>
          <p:cNvPr id="11" name="Image 1" descr="https://kimi-img.moonshot.cn/pub/slides/slides_tmpl/image/25-09-04-11:33:04-d2sggs61bb2p4onbomu0.png"/>
          <p:cNvPicPr>
            <a:picLocks noChangeAspect="1"/>
          </p:cNvPicPr>
          <p:nvPr/>
        </p:nvPicPr>
        <p:blipFill>
          <a:blip r:embed="rId2">
            <a:alphaModFix amt="40000"/>
          </a:blip>
          <a:stretch>
            <a:fillRect/>
          </a:stretch>
        </p:blipFill>
        <p:spPr>
          <a:xfrm rot="16200000">
            <a:off x="10665460" y="330200"/>
            <a:ext cx="262890" cy="1170305"/>
          </a:xfrm>
          <a:prstGeom prst="rect">
            <a:avLst/>
          </a:prstGeom>
        </p:spPr>
      </p:pic>
      <p:sp>
        <p:nvSpPr>
          <p:cNvPr id="12" name="Shape 8"/>
          <p:cNvSpPr/>
          <p:nvPr/>
        </p:nvSpPr>
        <p:spPr>
          <a:xfrm>
            <a:off x="626745" y="5819775"/>
            <a:ext cx="4345305" cy="331470"/>
          </a:xfrm>
          <a:prstGeom prst="rect">
            <a:avLst/>
          </a:prstGeom>
          <a:solidFill>
            <a:srgbClr val="000000">
              <a:alpha val="0"/>
            </a:srgbClr>
          </a:solidFill>
        </p:spPr>
        <p:txBody>
          <a:bodyPr/>
          <a:lstStyle/>
          <a:p>
            <a:endParaRPr lang="zh-CN" altLang="en-US"/>
          </a:p>
        </p:txBody>
      </p:sp>
      <p:sp>
        <p:nvSpPr>
          <p:cNvPr id="13" name="Text 9"/>
          <p:cNvSpPr/>
          <p:nvPr/>
        </p:nvSpPr>
        <p:spPr>
          <a:xfrm>
            <a:off x="3204845" y="4828540"/>
            <a:ext cx="4345305" cy="331470"/>
          </a:xfrm>
          <a:prstGeom prst="rect">
            <a:avLst/>
          </a:prstGeom>
          <a:noFill/>
        </p:spPr>
        <p:txBody>
          <a:bodyPr wrap="square" lIns="45720" tIns="91440" rIns="91440" bIns="45720" rtlCol="0" anchor="t"/>
          <a:lstStyle/>
          <a:p>
            <a:pPr>
              <a:lnSpc>
                <a:spcPct val="90000"/>
              </a:lnSpc>
            </a:pPr>
            <a:r>
              <a:rPr lang="zh-CN" altLang="en-US" sz="1600" b="1" dirty="0">
                <a:solidFill>
                  <a:srgbClr val="000000"/>
                </a:solidFill>
                <a:latin typeface="MiSans" pitchFamily="34" charset="0"/>
                <a:ea typeface="MiSans" pitchFamily="34" charset="-122"/>
                <a:cs typeface="MiSans" pitchFamily="34" charset="-120"/>
              </a:rPr>
              <a:t>小组成员</a:t>
            </a:r>
            <a:r>
              <a:rPr lang="en-US" sz="1600" b="1" dirty="0">
                <a:solidFill>
                  <a:srgbClr val="000000"/>
                </a:solidFill>
                <a:latin typeface="MiSans" pitchFamily="34" charset="0"/>
                <a:ea typeface="MiSans" pitchFamily="34" charset="-122"/>
                <a:cs typeface="MiSans" pitchFamily="34" charset="-120"/>
              </a:rPr>
              <a:t>：</a:t>
            </a:r>
            <a:r>
              <a:rPr lang="zh-CN" altLang="en-US" sz="1600" b="1" dirty="0">
                <a:solidFill>
                  <a:srgbClr val="000000"/>
                </a:solidFill>
                <a:latin typeface="MiSans" pitchFamily="34" charset="0"/>
                <a:ea typeface="MiSans" pitchFamily="34" charset="-122"/>
                <a:cs typeface="MiSans" pitchFamily="34" charset="-120"/>
              </a:rPr>
              <a:t>张思杰</a:t>
            </a:r>
            <a:r>
              <a:rPr lang="en-US" altLang="zh-CN" sz="1600" b="1" dirty="0">
                <a:solidFill>
                  <a:srgbClr val="000000"/>
                </a:solidFill>
                <a:latin typeface="MiSans" pitchFamily="34" charset="0"/>
                <a:ea typeface="MiSans" pitchFamily="34" charset="-122"/>
                <a:cs typeface="MiSans" pitchFamily="34" charset="-120"/>
              </a:rPr>
              <a:t>	  </a:t>
            </a:r>
            <a:r>
              <a:rPr lang="zh-CN" altLang="en-US" sz="1600" b="1" dirty="0">
                <a:solidFill>
                  <a:srgbClr val="000000"/>
                </a:solidFill>
                <a:latin typeface="MiSans" pitchFamily="34" charset="0"/>
                <a:ea typeface="MiSans" pitchFamily="34" charset="-122"/>
                <a:cs typeface="MiSans" pitchFamily="34" charset="-120"/>
              </a:rPr>
              <a:t>杨琳浩</a:t>
            </a:r>
            <a:r>
              <a:rPr lang="en-US" altLang="zh-CN" sz="1600" b="1" dirty="0">
                <a:solidFill>
                  <a:srgbClr val="000000"/>
                </a:solidFill>
                <a:latin typeface="MiSans" pitchFamily="34" charset="0"/>
                <a:ea typeface="MiSans" pitchFamily="34" charset="-122"/>
                <a:cs typeface="MiSans" pitchFamily="34" charset="-120"/>
              </a:rPr>
              <a:t>	  </a:t>
            </a:r>
            <a:r>
              <a:rPr lang="zh-CN" altLang="en-US" sz="1600" b="1" dirty="0">
                <a:solidFill>
                  <a:srgbClr val="000000"/>
                </a:solidFill>
                <a:latin typeface="MiSans" pitchFamily="34" charset="0"/>
                <a:ea typeface="MiSans" pitchFamily="34" charset="-122"/>
                <a:cs typeface="MiSans" pitchFamily="34" charset="-120"/>
              </a:rPr>
              <a:t>付宗岭</a:t>
            </a:r>
            <a:endParaRPr lang="zh-CN" altLang="en-US" sz="1600" b="1" dirty="0">
              <a:solidFill>
                <a:srgbClr val="000000"/>
              </a:solidFill>
              <a:latin typeface="MiSans" pitchFamily="34" charset="0"/>
              <a:ea typeface="MiSans" pitchFamily="34" charset="-122"/>
              <a:cs typeface="MiSans" pitchFamily="34" charset="-120"/>
            </a:endParaRPr>
          </a:p>
        </p:txBody>
      </p:sp>
      <p:sp>
        <p:nvSpPr>
          <p:cNvPr id="14" name="Text 10"/>
          <p:cNvSpPr/>
          <p:nvPr/>
        </p:nvSpPr>
        <p:spPr>
          <a:xfrm>
            <a:off x="7211695" y="5819775"/>
            <a:ext cx="4448810" cy="366395"/>
          </a:xfrm>
          <a:prstGeom prst="rect">
            <a:avLst/>
          </a:prstGeom>
          <a:noFill/>
        </p:spPr>
        <p:txBody>
          <a:bodyPr wrap="square" lIns="91440" tIns="45720" rIns="91440" bIns="45720" rtlCol="0" anchor="t"/>
          <a:lstStyle/>
          <a:p>
            <a:pPr algn="r">
              <a:lnSpc>
                <a:spcPct val="90000"/>
              </a:lnSpc>
            </a:pPr>
            <a:r>
              <a:rPr lang="en-US" sz="1600" dirty="0">
                <a:solidFill>
                  <a:srgbClr val="000000"/>
                </a:solidFill>
                <a:latin typeface="MiSans" pitchFamily="34" charset="0"/>
                <a:ea typeface="MiSans" pitchFamily="34" charset="-122"/>
                <a:cs typeface="MiSans" pitchFamily="34" charset="-120"/>
              </a:rPr>
              <a:t>汇报日期：2025/12/26</a:t>
            </a:r>
            <a:endParaRPr lang="en-US" sz="1600" dirty="0"/>
          </a:p>
        </p:txBody>
      </p:sp>
      <p:sp>
        <p:nvSpPr>
          <p:cNvPr id="15" name="Shape 11"/>
          <p:cNvSpPr/>
          <p:nvPr/>
        </p:nvSpPr>
        <p:spPr>
          <a:xfrm>
            <a:off x="5099607" y="5982681"/>
            <a:ext cx="2063750" cy="0"/>
          </a:xfrm>
          <a:prstGeom prst="straightConnector1">
            <a:avLst/>
          </a:prstGeom>
          <a:noFill/>
          <a:ln w="9525">
            <a:solidFill>
              <a:srgbClr val="000000">
                <a:alpha val="21961"/>
              </a:srgbClr>
            </a:solidFill>
            <a:prstDash val="solid"/>
            <a:headEnd type="none"/>
            <a:tailEnd type="none"/>
          </a:ln>
        </p:spPr>
        <p:txBody>
          <a:bodyPr/>
          <a:lstStyle/>
          <a:p>
            <a:endParaRPr lang="zh-CN" altLang="en-US"/>
          </a:p>
        </p:txBody>
      </p:sp>
      <p:sp>
        <p:nvSpPr>
          <p:cNvPr id="16" name="Shape 12"/>
          <p:cNvSpPr/>
          <p:nvPr/>
        </p:nvSpPr>
        <p:spPr>
          <a:xfrm>
            <a:off x="626745" y="3463290"/>
            <a:ext cx="11033760" cy="893445"/>
          </a:xfrm>
          <a:prstGeom prst="rect">
            <a:avLst/>
          </a:prstGeom>
          <a:solidFill>
            <a:srgbClr val="000000">
              <a:alpha val="0"/>
            </a:srgbClr>
          </a:solidFill>
        </p:spPr>
        <p:txBody>
          <a:bodyPr/>
          <a:lstStyle/>
          <a:p>
            <a:endParaRPr lang="zh-CN" altLang="en-US"/>
          </a:p>
        </p:txBody>
      </p:sp>
      <p:sp>
        <p:nvSpPr>
          <p:cNvPr id="17" name="Text 13"/>
          <p:cNvSpPr/>
          <p:nvPr/>
        </p:nvSpPr>
        <p:spPr>
          <a:xfrm>
            <a:off x="626745" y="3463290"/>
            <a:ext cx="11033760" cy="893445"/>
          </a:xfrm>
          <a:prstGeom prst="rect">
            <a:avLst/>
          </a:prstGeom>
          <a:noFill/>
        </p:spPr>
        <p:txBody>
          <a:bodyPr wrap="square" lIns="45720" tIns="91440" rIns="91440" bIns="45720" rtlCol="0" anchor="b"/>
          <a:lstStyle/>
          <a:p>
            <a:pPr>
              <a:lnSpc>
                <a:spcPct val="130000"/>
              </a:lnSpc>
            </a:pPr>
            <a:r>
              <a:rPr lang="en-US" sz="5400" dirty="0">
                <a:solidFill>
                  <a:srgbClr val="000000"/>
                </a:solidFill>
                <a:latin typeface="MiSans" pitchFamily="34" charset="0"/>
                <a:ea typeface="MiSans" pitchFamily="34" charset="-122"/>
                <a:cs typeface="MiSans" pitchFamily="34" charset="-120"/>
              </a:rPr>
              <a:t>感谢您的观看</a:t>
            </a:r>
            <a:endParaRPr lang="en-US" sz="1600" dirty="0"/>
          </a:p>
        </p:txBody>
      </p:sp>
      <p:sp>
        <p:nvSpPr>
          <p:cNvPr id="18" name="Shape 14"/>
          <p:cNvSpPr/>
          <p:nvPr/>
        </p:nvSpPr>
        <p:spPr>
          <a:xfrm>
            <a:off x="626745" y="2541905"/>
            <a:ext cx="11033760" cy="893445"/>
          </a:xfrm>
          <a:prstGeom prst="rect">
            <a:avLst/>
          </a:prstGeom>
          <a:solidFill>
            <a:srgbClr val="000000">
              <a:alpha val="0"/>
            </a:srgbClr>
          </a:solidFill>
        </p:spPr>
        <p:txBody>
          <a:bodyPr/>
          <a:lstStyle/>
          <a:p>
            <a:endParaRPr lang="zh-CN" altLang="en-US"/>
          </a:p>
        </p:txBody>
      </p:sp>
      <p:sp>
        <p:nvSpPr>
          <p:cNvPr id="19" name="Text 15"/>
          <p:cNvSpPr/>
          <p:nvPr/>
        </p:nvSpPr>
        <p:spPr>
          <a:xfrm>
            <a:off x="626745" y="2541905"/>
            <a:ext cx="11033760" cy="893445"/>
          </a:xfrm>
          <a:prstGeom prst="rect">
            <a:avLst/>
          </a:prstGeom>
          <a:noFill/>
        </p:spPr>
        <p:txBody>
          <a:bodyPr wrap="square" lIns="45720" tIns="91440" rIns="91440" bIns="45720" rtlCol="0" anchor="b"/>
          <a:lstStyle/>
          <a:p>
            <a:pPr>
              <a:lnSpc>
                <a:spcPct val="130000"/>
              </a:lnSpc>
            </a:pPr>
            <a:r>
              <a:rPr lang="en-US" sz="3200" dirty="0">
                <a:solidFill>
                  <a:srgbClr val="577FD2"/>
                </a:solidFill>
                <a:latin typeface="MiSans" pitchFamily="34" charset="0"/>
                <a:ea typeface="MiSans" pitchFamily="34" charset="-122"/>
                <a:cs typeface="MiSans" pitchFamily="34" charset="-120"/>
              </a:rPr>
              <a:t>THANK YOU FOR READING！</a:t>
            </a:r>
            <a:endParaRPr lang="en-US" sz="1600" dirty="0"/>
          </a:p>
        </p:txBody>
      </p:sp>
    </p:spTree>
  </p:cSld>
  <p:clrMapOvr>
    <a:masterClrMapping/>
  </p:clrMapOvr>
  <p:transition spd="slow">
    <p:wipe/>
  </p:transition>
</p:sld>
</file>

<file path=ppt/tags/tag1.xml><?xml version="1.0" encoding="utf-8"?>
<p:tagLst xmlns:p="http://schemas.openxmlformats.org/presentationml/2006/main">
  <p:tag name="KSO_WM_DIAGRAM_VIRTUALLY_FRAME" val="{&quot;height&quot;:308.6259842519685,&quot;left&quot;:365.1,&quot;top&quot;:119.35,&quot;width&quot;:355.79606299212594}"/>
</p:tagLst>
</file>

<file path=ppt/tags/tag2.xml><?xml version="1.0" encoding="utf-8"?>
<p:tagLst xmlns:p="http://schemas.openxmlformats.org/presentationml/2006/main">
  <p:tag name="KSO_WM_DIAGRAM_VIRTUALLY_FRAME" val="{&quot;height&quot;:308.6259842519685,&quot;left&quot;:365.1,&quot;top&quot;:119.35,&quot;width&quot;:355.79606299212594}"/>
</p:tagLst>
</file>

<file path=ppt/tags/tag3.xml><?xml version="1.0" encoding="utf-8"?>
<p:tagLst xmlns:p="http://schemas.openxmlformats.org/presentationml/2006/main">
  <p:tag name="KSO_WM_DIAGRAM_VIRTUALLY_FRAME" val="{&quot;height&quot;:308.6259842519685,&quot;left&quot;:365.1,&quot;top&quot;:119.35,&quot;width&quot;:355.79606299212594}"/>
</p:tagLst>
</file>

<file path=ppt/tags/tag4.xml><?xml version="1.0" encoding="utf-8"?>
<p:tagLst xmlns:p="http://schemas.openxmlformats.org/presentationml/2006/main">
  <p:tag name="KSO_WM_DIAGRAM_VIRTUALLY_FRAME" val="{&quot;height&quot;:308.6259842519685,&quot;left&quot;:365.1,&quot;top&quot;:119.35,&quot;width&quot;:355.79606299212594}"/>
</p:tagLst>
</file>

<file path=ppt/tags/tag5.xml><?xml version="1.0" encoding="utf-8"?>
<p:tagLst xmlns:p="http://schemas.openxmlformats.org/presentationml/2006/main">
  <p:tag name="KSO_WM_DIAGRAM_VIRTUALLY_FRAME" val="{&quot;height&quot;:308.6259842519685,&quot;left&quot;:365.1,&quot;top&quot;:119.35,&quot;width&quot;:355.79606299212594}"/>
</p:tagLst>
</file>

<file path=ppt/tags/tag6.xml><?xml version="1.0" encoding="utf-8"?>
<p:tagLst xmlns:p="http://schemas.openxmlformats.org/presentationml/2006/main">
  <p:tag name="KSO_WM_DIAGRAM_VIRTUALLY_FRAME" val="{&quot;height&quot;:308.6259842519685,&quot;left&quot;:365.1,&quot;top&quot;:119.35,&quot;width&quot;:355.79606299212594}"/>
</p:tagLst>
</file>

<file path=ppt/tags/tag7.xml><?xml version="1.0" encoding="utf-8"?>
<p:tagLst xmlns:p="http://schemas.openxmlformats.org/presentationml/2006/main">
  <p:tag name="KSO_WM_DIAGRAM_VIRTUALLY_FRAME" val="{&quot;height&quot;:308.6259842519685,&quot;left&quot;:365.1,&quot;top&quot;:119.35,&quot;width&quot;:355.79606299212594}"/>
</p:tagLst>
</file>

<file path=ppt/tags/tag8.xml><?xml version="1.0" encoding="utf-8"?>
<p:tagLst xmlns:p="http://schemas.openxmlformats.org/presentationml/2006/main">
  <p:tag name="KSO_WM_DIAGRAM_VIRTUALLY_FRAME" val="{&quot;height&quot;:308.6259842519685,&quot;left&quot;:365.1,&quot;top&quot;:119.35,&quot;width&quot;:355.79606299212594}"/>
</p:tagLst>
</file>

<file path=ppt/tags/tag9.xml><?xml version="1.0" encoding="utf-8"?>
<p:tagLst xmlns:p="http://schemas.openxmlformats.org/presentationml/2006/main">
  <p:tag name="KSO_WM_DIAGRAM_VIRTUALLY_FRAME" val="{&quot;height&quot;:308.6259842519685,&quot;left&quot;:365.1,&quot;top&quot;:119.35,&quot;width&quot;:355.79606299212594}"/>
</p:tagLst>
</file>

<file path=ppt/tags/tag10.xml><?xml version="1.0" encoding="utf-8"?>
<p:tagLst xmlns:p="http://schemas.openxmlformats.org/presentationml/2006/main">
  <p:tag name="KSO_WM_DIAGRAM_VIRTUALLY_FRAME" val="{&quot;height&quot;:104.85,&quot;left&quot;:79.15,&quot;top&quot;:345.55,&quot;width&quot;:436}"/>
</p:tagLst>
</file>

<file path=ppt/tags/tag11.xml><?xml version="1.0" encoding="utf-8"?>
<p:tagLst xmlns:p="http://schemas.openxmlformats.org/presentationml/2006/main">
  <p:tag name="KSO_WM_DIAGRAM_VIRTUALLY_FRAME" val="{&quot;height&quot;:104.85,&quot;left&quot;:79.15,&quot;top&quot;:345.55,&quot;width&quot;:436}"/>
</p:tagLst>
</file>

<file path=ppt/tags/tag12.xml><?xml version="1.0" encoding="utf-8"?>
<p:tagLst xmlns:p="http://schemas.openxmlformats.org/presentationml/2006/main">
  <p:tag name="KSO_WM_DIAGRAM_VIRTUALLY_FRAME" val="{&quot;height&quot;:104.85,&quot;left&quot;:79.15,&quot;top&quot;:345.55,&quot;width&quot;:436}"/>
</p:tagLst>
</file>

<file path=ppt/tags/tag13.xml><?xml version="1.0" encoding="utf-8"?>
<p:tagLst xmlns:p="http://schemas.openxmlformats.org/presentationml/2006/main">
  <p:tag name="KSO_WM_DIAGRAM_VIRTUALLY_FRAME" val="{&quot;height&quot;:104.85,&quot;left&quot;:79.15,&quot;top&quot;:345.55,&quot;width&quot;:436}"/>
</p:tagLst>
</file>

<file path=ppt/tags/tag14.xml><?xml version="1.0" encoding="utf-8"?>
<p:tagLst xmlns:p="http://schemas.openxmlformats.org/presentationml/2006/main">
  <p:tag name="KSO_WM_DIAGRAM_VIRTUALLY_FRAME" val="{&quot;height&quot;:104.85,&quot;left&quot;:79.15,&quot;top&quot;:345.55,&quot;width&quot;:436}"/>
</p:tagLst>
</file>

<file path=ppt/tags/tag15.xml><?xml version="1.0" encoding="utf-8"?>
<p:tagLst xmlns:p="http://schemas.openxmlformats.org/presentationml/2006/main">
  <p:tag name="KSO_WM_DIAGRAM_VIRTUALLY_FRAME" val="{&quot;height&quot;:104.85,&quot;left&quot;:79.15,&quot;top&quot;:345.55,&quot;width&quot;:436}"/>
</p:tagLst>
</file>

<file path=ppt/tags/tag16.xml><?xml version="1.0" encoding="utf-8"?>
<p:tagLst xmlns:p="http://schemas.openxmlformats.org/presentationml/2006/main">
  <p:tag name="KSO_WM_DIAGRAM_VIRTUALLY_FRAME" val="{&quot;height&quot;:244,&quot;left&quot;:66,&quot;top&quot;:214,&quot;width&quot;:828}"/>
</p:tagLst>
</file>

<file path=ppt/tags/tag17.xml><?xml version="1.0" encoding="utf-8"?>
<p:tagLst xmlns:p="http://schemas.openxmlformats.org/presentationml/2006/main">
  <p:tag name="KSO_WM_DIAGRAM_VIRTUALLY_FRAME" val="{&quot;height&quot;:244,&quot;left&quot;:66,&quot;top&quot;:214,&quot;width&quot;:828}"/>
</p:tagLst>
</file>

<file path=ppt/tags/tag18.xml><?xml version="1.0" encoding="utf-8"?>
<p:tagLst xmlns:p="http://schemas.openxmlformats.org/presentationml/2006/main">
  <p:tag name="KSO_WM_DIAGRAM_VIRTUALLY_FRAME" val="{&quot;height&quot;:244,&quot;left&quot;:66,&quot;top&quot;:214,&quot;width&quot;:828}"/>
</p:tagLst>
</file>

<file path=ppt/tags/tag19.xml><?xml version="1.0" encoding="utf-8"?>
<p:tagLst xmlns:p="http://schemas.openxmlformats.org/presentationml/2006/main">
  <p:tag name="KSO_WM_DIAGRAM_VIRTUALLY_FRAME" val="{&quot;height&quot;:244,&quot;left&quot;:66,&quot;top&quot;:214,&quot;width&quot;:828}"/>
</p:tagLst>
</file>

<file path=ppt/tags/tag20.xml><?xml version="1.0" encoding="utf-8"?>
<p:tagLst xmlns:p="http://schemas.openxmlformats.org/presentationml/2006/main">
  <p:tag name="KSO_WM_DIAGRAM_VIRTUALLY_FRAME" val="{&quot;height&quot;:244,&quot;left&quot;:66,&quot;top&quot;:214,&quot;width&quot;:828}"/>
</p:tagLst>
</file>

<file path=ppt/tags/tag21.xml><?xml version="1.0" encoding="utf-8"?>
<p:tagLst xmlns:p="http://schemas.openxmlformats.org/presentationml/2006/main">
  <p:tag name="KSO_WM_DIAGRAM_VIRTUALLY_FRAME" val="{&quot;height&quot;:244,&quot;left&quot;:66,&quot;top&quot;:214,&quot;width&quot;:828}"/>
</p:tagLst>
</file>

<file path=ppt/tags/tag22.xml><?xml version="1.0" encoding="utf-8"?>
<p:tagLst xmlns:p="http://schemas.openxmlformats.org/presentationml/2006/main">
  <p:tag name="KSO_WM_DIAGRAM_VIRTUALLY_FRAME" val="{&quot;height&quot;:244,&quot;left&quot;:66,&quot;top&quot;:214,&quot;width&quot;:828}"/>
</p:tagLst>
</file>

<file path=ppt/tags/tag23.xml><?xml version="1.0" encoding="utf-8"?>
<p:tagLst xmlns:p="http://schemas.openxmlformats.org/presentationml/2006/main">
  <p:tag name="KSO_WM_DIAGRAM_VIRTUALLY_FRAME" val="{&quot;height&quot;:244,&quot;left&quot;:66,&quot;top&quot;:214,&quot;width&quot;:828}"/>
</p:tagLst>
</file>

<file path=ppt/tags/tag24.xml><?xml version="1.0" encoding="utf-8"?>
<p:tagLst xmlns:p="http://schemas.openxmlformats.org/presentationml/2006/main">
  <p:tag name="KSO_WM_DIAGRAM_VIRTUALLY_FRAME" val="{&quot;height&quot;:244,&quot;left&quot;:66,&quot;top&quot;:214,&quot;width&quot;:828}"/>
</p:tagLst>
</file>

<file path=ppt/tags/tag25.xml><?xml version="1.0" encoding="utf-8"?>
<p:tagLst xmlns:p="http://schemas.openxmlformats.org/presentationml/2006/main">
  <p:tag name="KSO_WM_DIAGRAM_VIRTUALLY_FRAME" val="{&quot;height&quot;:244,&quot;left&quot;:66,&quot;top&quot;:214,&quot;width&quot;:828}"/>
</p:tagLst>
</file>

<file path=ppt/tags/tag26.xml><?xml version="1.0" encoding="utf-8"?>
<p:tagLst xmlns:p="http://schemas.openxmlformats.org/presentationml/2006/main">
  <p:tag name="KSO_WM_DIAGRAM_VIRTUALLY_FRAME" val="{&quot;height&quot;:196,&quot;left&quot;:527.6,&quot;top&quot;:234,&quot;width&quot;:439.7}"/>
</p:tagLst>
</file>

<file path=ppt/tags/tag27.xml><?xml version="1.0" encoding="utf-8"?>
<p:tagLst xmlns:p="http://schemas.openxmlformats.org/presentationml/2006/main">
  <p:tag name="KSO_WM_DIAGRAM_VIRTUALLY_FRAME" val="{&quot;height&quot;:196,&quot;left&quot;:527.6,&quot;top&quot;:234,&quot;width&quot;:439.7}"/>
</p:tagLst>
</file>

<file path=ppt/tags/tag28.xml><?xml version="1.0" encoding="utf-8"?>
<p:tagLst xmlns:p="http://schemas.openxmlformats.org/presentationml/2006/main">
  <p:tag name="KSO_WM_DIAGRAM_VIRTUALLY_FRAME" val="{&quot;height&quot;:196,&quot;left&quot;:527.6,&quot;top&quot;:234,&quot;width&quot;:439.7}"/>
</p:tagLst>
</file>

<file path=ppt/tags/tag29.xml><?xml version="1.0" encoding="utf-8"?>
<p:tagLst xmlns:p="http://schemas.openxmlformats.org/presentationml/2006/main">
  <p:tag name="KSO_WM_DIAGRAM_VIRTUALLY_FRAME" val="{&quot;height&quot;:196,&quot;left&quot;:527.6,&quot;top&quot;:234,&quot;width&quot;:439.7}"/>
</p:tagLst>
</file>

<file path=ppt/tags/tag30.xml><?xml version="1.0" encoding="utf-8"?>
<p:tagLst xmlns:p="http://schemas.openxmlformats.org/presentationml/2006/main">
  <p:tag name="KSO_WM_DIAGRAM_VIRTUALLY_FRAME" val="{&quot;height&quot;:196,&quot;left&quot;:527.6,&quot;top&quot;:234,&quot;width&quot;:439.7}"/>
</p:tagLst>
</file>

<file path=ppt/tags/tag31.xml><?xml version="1.0" encoding="utf-8"?>
<p:tagLst xmlns:p="http://schemas.openxmlformats.org/presentationml/2006/main">
  <p:tag name="KSO_WM_DIAGRAM_VIRTUALLY_FRAME" val="{&quot;height&quot;:196,&quot;left&quot;:527.6,&quot;top&quot;:234,&quot;width&quot;:439.7}"/>
</p:tagLst>
</file>

<file path=ppt/tags/tag32.xml><?xml version="1.0" encoding="utf-8"?>
<p:tagLst xmlns:p="http://schemas.openxmlformats.org/presentationml/2006/main">
  <p:tag name="KSO_WM_DIAGRAM_VIRTUALLY_FRAME" val="{&quot;height&quot;:196,&quot;left&quot;:527.6,&quot;top&quot;:234,&quot;width&quot;:439.7}"/>
</p:tagLst>
</file>

<file path=ppt/tags/tag33.xml><?xml version="1.0" encoding="utf-8"?>
<p:tagLst xmlns:p="http://schemas.openxmlformats.org/presentationml/2006/main">
  <p:tag name="KSO_WM_DIAGRAM_VIRTUALLY_FRAME" val="{&quot;height&quot;:196,&quot;left&quot;:527.6,&quot;top&quot;:234,&quot;width&quot;:439.7}"/>
</p:tagLst>
</file>

<file path=ppt/tags/tag34.xml><?xml version="1.0" encoding="utf-8"?>
<p:tagLst xmlns:p="http://schemas.openxmlformats.org/presentationml/2006/main">
  <p:tag name="KSO_WM_DIAGRAM_VIRTUALLY_FRAME" val="{&quot;height&quot;:196,&quot;left&quot;:527.6,&quot;top&quot;:234,&quot;width&quot;:439.7}"/>
</p:tagLst>
</file>

<file path=ppt/tags/tag35.xml><?xml version="1.0" encoding="utf-8"?>
<p:tagLst xmlns:p="http://schemas.openxmlformats.org/presentationml/2006/main">
  <p:tag name="KSO_WM_DIAGRAM_VIRTUALLY_FRAME" val="{&quot;height&quot;:196,&quot;left&quot;:527.6,&quot;top&quot;:234,&quot;width&quot;:439.7}"/>
</p:tagLst>
</file>

<file path=ppt/tags/tag36.xml><?xml version="1.0" encoding="utf-8"?>
<p:tagLst xmlns:p="http://schemas.openxmlformats.org/presentationml/2006/main">
  <p:tag name="KSO_WM_DIAGRAM_VIRTUALLY_FRAME" val="{&quot;height&quot;:196,&quot;left&quot;:527.6,&quot;top&quot;:234,&quot;width&quot;:439.7}"/>
</p:tagLst>
</file>

<file path=ppt/tags/tag37.xml><?xml version="1.0" encoding="utf-8"?>
<p:tagLst xmlns:p="http://schemas.openxmlformats.org/presentationml/2006/main">
  <p:tag name="KSO_WM_DIAGRAM_VIRTUALLY_FRAME" val="{&quot;height&quot;:196,&quot;left&quot;:527.6,&quot;top&quot;:234,&quot;width&quot;:439.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1991</Words>
  <Application>WPS 演示</Application>
  <PresentationFormat>宽屏</PresentationFormat>
  <Paragraphs>260</Paragraphs>
  <Slides>26</Slides>
  <Notes>20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26</vt:i4>
      </vt:variant>
    </vt:vector>
  </HeadingPairs>
  <TitlesOfParts>
    <vt:vector size="41" baseType="lpstr">
      <vt:lpstr>Arial</vt:lpstr>
      <vt:lpstr>宋体</vt:lpstr>
      <vt:lpstr>Wingdings</vt:lpstr>
      <vt:lpstr>MiSans</vt:lpstr>
      <vt:lpstr>MiSans Semibold</vt:lpstr>
      <vt:lpstr>MiSans</vt:lpstr>
      <vt:lpstr>MiSans</vt:lpstr>
      <vt:lpstr>Noto Sans SC</vt:lpstr>
      <vt:lpstr>Noto Sans SC</vt:lpstr>
      <vt:lpstr>微软雅黑</vt:lpstr>
      <vt:lpstr>等线</vt:lpstr>
      <vt:lpstr>Arial Unicode MS</vt:lpstr>
      <vt:lpstr>等线 Light</vt:lpstr>
      <vt:lpstr>Office 主题​​</vt:lpstr>
      <vt:lpstr>1_Office 主题​​</vt:lpstr>
      <vt:lpstr>PowerPoint 演示文稿</vt:lpstr>
      <vt:lpstr>PowerPoint 演示文稿</vt:lpstr>
      <vt:lpstr>PowerPoint 演示文稿</vt:lpstr>
      <vt:lpstr>PowerPoint 演示文稿</vt:lpstr>
      <vt:lpstr>PowerPoint 演示文稿</vt:lpstr>
      <vt:lpstr>网页展示 </vt:lpstr>
      <vt:lpstr>PowerPoint 演示文稿</vt:lpstr>
      <vt:lpstr>PowerPoint 演示文稿</vt:lpstr>
      <vt:lpstr>网页展示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思杰 张</dc:creator>
  <cp:lastModifiedBy>玦情</cp:lastModifiedBy>
  <cp:revision>12</cp:revision>
  <dcterms:created xsi:type="dcterms:W3CDTF">2025-12-15T10:34:00Z</dcterms:created>
  <dcterms:modified xsi:type="dcterms:W3CDTF">2025-12-17T14:28:20Z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C5386E4EB4AC4448A7D3F51FA765D90D_13</vt:lpwstr>
  </property>
  <property fmtid="{D5CDD505-2E9C-101B-9397-08002B2CF9AE}" pid="3" name="KSOProductBuildVer">
    <vt:lpwstr>2052-12.1.0.24034</vt:lpwstr>
  </property>
</Properties>
</file>